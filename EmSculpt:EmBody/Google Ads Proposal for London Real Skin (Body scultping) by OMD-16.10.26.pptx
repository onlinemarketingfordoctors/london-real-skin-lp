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12191675"/>
  <p:notesSz cx="6858000" cy="12191675"/>
  <p:embeddedFontLst>
    <p:embeddedFont>
      <p:font typeface="Poppi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gGIDyExfTZy8f1DJHLqk/he2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0B05DD-16F8-4F00-A4F7-33E39A4E558B}">
  <a:tblStyle styleId="{410B05DD-16F8-4F00-A4F7-33E39A4E558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oppins-bold.fntdata"/><Relationship Id="rId20" Type="http://schemas.openxmlformats.org/officeDocument/2006/relationships/slide" Target="slides/slide15.xml"/><Relationship Id="rId42" Type="http://schemas.openxmlformats.org/officeDocument/2006/relationships/font" Target="fonts/Poppins-boldItalic.fntdata"/><Relationship Id="rId41" Type="http://schemas.openxmlformats.org/officeDocument/2006/relationships/font" Target="fonts/Poppins-italic.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Poppins-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EmBody</c:v>
                </c:pt>
              </c:strCache>
            </c:strRef>
          </c:tx>
          <c:spPr>
            <a:solidFill>
              <a:srgbClr val="1A2620"/>
            </a:solidFill>
            <a:effectLst/>
          </c:spPr>
          <c:invertIfNegative val="0"/>
          <c:dLbls>
            <c:numFmt formatCode="#,##0" sourceLinked="0"/>
            <c:txPr>
              <a:bodyPr/>
              <a:lstStyle/>
              <a:p>
                <a:pPr>
                  <a:defRPr b="1" i="0" strike="noStrike" sz="900" u="none">
                    <a:solidFill>
                      <a:srgbClr val="2B2E2C"/>
                    </a:solidFill>
                    <a:latin typeface="Poppins"/>
                  </a:defRPr>
                </a:pPr>
              </a:p>
            </c:txPr>
            <c:showLegendKey val="0"/>
            <c:showVal val="1"/>
            <c:showCatName val="0"/>
            <c:showSerName val="0"/>
            <c:showPercent val="0"/>
            <c:showBubbleSize val="0"/>
            <c:showLeaderLines val="0"/>
          </c:dLbls>
          <c:cat>
            <c:strRef>
              <c:f>Sheet1!$A$2:$A$4</c:f>
              <c:strCache>
                <c:ptCount val="3"/>
                <c:pt idx="0">
                  <c:v>Mo 1</c:v>
                </c:pt>
                <c:pt idx="1">
                  <c:v>Mo 2</c:v>
                </c:pt>
                <c:pt idx="2">
                  <c:v>Mo 3</c:v>
                </c:pt>
              </c:strCache>
            </c:strRef>
          </c:cat>
          <c:val>
            <c:numRef>
              <c:f>Sheet1!$B$2:$B$4</c:f>
              <c:numCache>
                <c:formatCode>General</c:formatCode>
                <c:ptCount val="3"/>
                <c:pt idx="0">
                  <c:v>8</c:v>
                </c:pt>
                <c:pt idx="1">
                  <c:v>13</c:v>
                </c:pt>
                <c:pt idx="2">
                  <c:v>18</c:v>
                </c:pt>
              </c:numCache>
            </c:numRef>
          </c:val>
        </c:ser>
        <c:dLbls>
          <c:numFmt formatCode="#,##0" sourceLinked="0"/>
          <c:txPr>
            <a:bodyPr/>
            <a:lstStyle/>
            <a:p>
              <a:pPr>
                <a:defRPr b="1" i="0" strike="noStrike" sz="900" u="none">
                  <a:solidFill>
                    <a:srgbClr val="2B2E2C"/>
                  </a:solidFill>
                  <a:latin typeface="Poppins"/>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E7873"/>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EmFace</c:v>
                </c:pt>
              </c:strCache>
            </c:strRef>
          </c:tx>
          <c:spPr>
            <a:solidFill>
              <a:srgbClr val="3BE29F"/>
            </a:solidFill>
            <a:effectLst/>
          </c:spPr>
          <c:invertIfNegative val="0"/>
          <c:dLbls>
            <c:numFmt formatCode="#,##0" sourceLinked="0"/>
            <c:txPr>
              <a:bodyPr/>
              <a:lstStyle/>
              <a:p>
                <a:pPr>
                  <a:defRPr b="1" i="0" strike="noStrike" sz="900" u="none">
                    <a:solidFill>
                      <a:srgbClr val="2B2E2C"/>
                    </a:solidFill>
                    <a:latin typeface="Poppins"/>
                  </a:defRPr>
                </a:pPr>
              </a:p>
            </c:txPr>
            <c:showLegendKey val="0"/>
            <c:showVal val="1"/>
            <c:showCatName val="0"/>
            <c:showSerName val="0"/>
            <c:showPercent val="0"/>
            <c:showBubbleSize val="0"/>
            <c:showLeaderLines val="0"/>
          </c:dLbls>
          <c:cat>
            <c:strRef>
              <c:f>Sheet1!$A$2:$A$4</c:f>
              <c:strCache>
                <c:ptCount val="3"/>
                <c:pt idx="0">
                  <c:v>Mo 1</c:v>
                </c:pt>
                <c:pt idx="1">
                  <c:v>Mo 2</c:v>
                </c:pt>
                <c:pt idx="2">
                  <c:v>Mo 3</c:v>
                </c:pt>
              </c:strCache>
            </c:strRef>
          </c:cat>
          <c:val>
            <c:numRef>
              <c:f>Sheet1!$B$2:$B$4</c:f>
              <c:numCache>
                <c:formatCode>General</c:formatCode>
                <c:ptCount val="3"/>
                <c:pt idx="0">
                  <c:v>4</c:v>
                </c:pt>
                <c:pt idx="1">
                  <c:v>7</c:v>
                </c:pt>
                <c:pt idx="2">
                  <c:v>10</c:v>
                </c:pt>
              </c:numCache>
            </c:numRef>
          </c:val>
        </c:ser>
        <c:dLbls>
          <c:numFmt formatCode="#,##0" sourceLinked="0"/>
          <c:txPr>
            <a:bodyPr/>
            <a:lstStyle/>
            <a:p>
              <a:pPr>
                <a:defRPr b="1" i="0" strike="noStrike" sz="900" u="none">
                  <a:solidFill>
                    <a:srgbClr val="2B2E2C"/>
                  </a:solidFill>
                  <a:latin typeface="Poppins"/>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E7873"/>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 name="Google Shape;7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 name="Google Shape;35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 name="Google Shape;47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4" name="Google Shape;5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3" name="Google Shape;53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3" name="Google Shape;55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9" name="Google Shape;62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9" name="Google Shape;65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4" name="Google Shape;69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5" name="Google Shape;69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7" name="Google Shape;97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6" name="Google Shape;100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7" name="Google Shape;100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5" name="Google Shape;103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4" name="Google Shape;113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5" name="Google Shape;113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0" name="Google Shape;119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2" name="Google Shape;123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3" name="Google Shape;123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4" name="Google Shape;127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5" name="Google Shape;127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6" name="Google Shape;131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7" name="Google Shape;131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8" name="Google Shape;135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9" name="Google Shape;135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3" name="Google Shape;139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4" name="Google Shape;139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5" name="Google Shape;142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6" name="Google Shape;142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8" name="Google Shape;146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9" name="Google Shape;146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2" name="Google Shape;152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3" name="Google Shape;152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5" name="Google Shape;1545;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6" name="Google Shape;1546;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6.png"/><Relationship Id="rId11" Type="http://schemas.openxmlformats.org/officeDocument/2006/relationships/image" Target="../media/image41.png"/><Relationship Id="rId10" Type="http://schemas.openxmlformats.org/officeDocument/2006/relationships/image" Target="../media/image19.png"/><Relationship Id="rId9" Type="http://schemas.openxmlformats.org/officeDocument/2006/relationships/image" Target="../media/image13.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20.png"/><Relationship Id="rId8"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38.jpg"/><Relationship Id="rId5" Type="http://schemas.openxmlformats.org/officeDocument/2006/relationships/image" Target="../media/image43.jpg"/><Relationship Id="rId6" Type="http://schemas.openxmlformats.org/officeDocument/2006/relationships/image" Target="../media/image22.jpg"/><Relationship Id="rId7" Type="http://schemas.openxmlformats.org/officeDocument/2006/relationships/image" Target="../media/image21.png"/><Relationship Id="rId8"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26.jpg"/><Relationship Id="rId5" Type="http://schemas.openxmlformats.org/officeDocument/2006/relationships/image" Target="../media/image36.jpg"/><Relationship Id="rId6" Type="http://schemas.openxmlformats.org/officeDocument/2006/relationships/image" Target="../media/image45.jpg"/><Relationship Id="rId7" Type="http://schemas.openxmlformats.org/officeDocument/2006/relationships/image" Target="../media/image21.png"/><Relationship Id="rId8"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23.jpg"/><Relationship Id="rId5" Type="http://schemas.openxmlformats.org/officeDocument/2006/relationships/image" Target="../media/image48.jpg"/><Relationship Id="rId6" Type="http://schemas.openxmlformats.org/officeDocument/2006/relationships/image" Target="../media/image27.jpg"/><Relationship Id="rId7" Type="http://schemas.openxmlformats.org/officeDocument/2006/relationships/image" Target="../media/image21.png"/><Relationship Id="rId8"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29.jpg"/><Relationship Id="rId5" Type="http://schemas.openxmlformats.org/officeDocument/2006/relationships/image" Target="../media/image30.jpg"/><Relationship Id="rId6" Type="http://schemas.openxmlformats.org/officeDocument/2006/relationships/image" Target="../media/image31.jpg"/><Relationship Id="rId7" Type="http://schemas.openxmlformats.org/officeDocument/2006/relationships/image" Target="../media/image21.png"/><Relationship Id="rId8"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40.png"/><Relationship Id="rId6" Type="http://schemas.openxmlformats.org/officeDocument/2006/relationships/image" Target="../media/image37.png"/><Relationship Id="rId7"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34.png"/><Relationship Id="rId9" Type="http://schemas.openxmlformats.org/officeDocument/2006/relationships/image" Target="../media/image16.png"/><Relationship Id="rId5" Type="http://schemas.openxmlformats.org/officeDocument/2006/relationships/image" Target="../media/image35.png"/><Relationship Id="rId6" Type="http://schemas.openxmlformats.org/officeDocument/2006/relationships/image" Target="../media/image44.png"/><Relationship Id="rId7" Type="http://schemas.openxmlformats.org/officeDocument/2006/relationships/image" Target="../media/image3.png"/><Relationship Id="rId8" Type="http://schemas.openxmlformats.org/officeDocument/2006/relationships/image" Target="../media/image4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8.png"/><Relationship Id="rId4" Type="http://schemas.openxmlformats.org/officeDocument/2006/relationships/image" Target="../media/image24.png"/><Relationship Id="rId5" Type="http://schemas.openxmlformats.org/officeDocument/2006/relationships/image" Target="../media/image40.png"/><Relationship Id="rId6" Type="http://schemas.openxmlformats.org/officeDocument/2006/relationships/image" Target="../media/image50.png"/><Relationship Id="rId7" Type="http://schemas.openxmlformats.org/officeDocument/2006/relationships/image" Target="../media/image25.png"/><Relationship Id="rId8"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8.png"/><Relationship Id="rId4" Type="http://schemas.openxmlformats.org/officeDocument/2006/relationships/chart" Target="../charts/chart1.xml"/><Relationship Id="rId5" Type="http://schemas.openxmlformats.org/officeDocument/2006/relationships/chart" Target="../charts/char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0.png"/><Relationship Id="rId4" Type="http://schemas.openxmlformats.org/officeDocument/2006/relationships/image" Target="../media/image49.png"/><Relationship Id="rId5" Type="http://schemas.openxmlformats.org/officeDocument/2006/relationships/image" Target="../media/image47.png"/><Relationship Id="rId6"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620"/>
        </a:solidFill>
      </p:bgPr>
    </p:bg>
    <p:spTree>
      <p:nvGrpSpPr>
        <p:cNvPr id="15" name="Shape 15"/>
        <p:cNvGrpSpPr/>
        <p:nvPr/>
      </p:nvGrpSpPr>
      <p:grpSpPr>
        <a:xfrm>
          <a:off x="0" y="0"/>
          <a:ext cx="0" cy="0"/>
          <a:chOff x="0" y="0"/>
          <a:chExt cx="0" cy="0"/>
        </a:xfrm>
      </p:grpSpPr>
      <p:sp>
        <p:nvSpPr>
          <p:cNvPr id="16" name="Google Shape;16;p1"/>
          <p:cNvSpPr/>
          <p:nvPr/>
        </p:nvSpPr>
        <p:spPr>
          <a:xfrm>
            <a:off x="8869680" y="-1463040"/>
            <a:ext cx="5669280" cy="5669280"/>
          </a:xfrm>
          <a:prstGeom prst="ellipse">
            <a:avLst/>
          </a:prstGeom>
          <a:solidFill>
            <a:srgbClr val="16A879">
              <a:alpha val="2196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10058400" y="1554480"/>
            <a:ext cx="4572000" cy="4572000"/>
          </a:xfrm>
          <a:prstGeom prst="ellipse">
            <a:avLst/>
          </a:prstGeom>
          <a:solidFill>
            <a:srgbClr val="16A879">
              <a:alpha val="1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
          <p:cNvSpPr/>
          <p:nvPr/>
        </p:nvSpPr>
        <p:spPr>
          <a:xfrm>
            <a:off x="9509760" y="3566160"/>
            <a:ext cx="4206240" cy="4206240"/>
          </a:xfrm>
          <a:prstGeom prst="ellipse">
            <a:avLst/>
          </a:prstGeom>
          <a:solidFill>
            <a:srgbClr val="3BE29F">
              <a:alpha val="1215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_white.png" id="19" name="Google Shape;19;p1"/>
          <p:cNvPicPr preferRelativeResize="0"/>
          <p:nvPr/>
        </p:nvPicPr>
        <p:blipFill rotWithShape="1">
          <a:blip r:embed="rId3">
            <a:alphaModFix/>
          </a:blip>
          <a:srcRect b="0" l="0" r="0" t="0"/>
          <a:stretch/>
        </p:blipFill>
        <p:spPr>
          <a:xfrm>
            <a:off x="566928" y="603504"/>
            <a:ext cx="1755648" cy="502920"/>
          </a:xfrm>
          <a:prstGeom prst="rect">
            <a:avLst/>
          </a:prstGeom>
          <a:noFill/>
          <a:ln>
            <a:noFill/>
          </a:ln>
        </p:spPr>
      </p:pic>
      <p:sp>
        <p:nvSpPr>
          <p:cNvPr id="20" name="Google Shape;20;p1"/>
          <p:cNvSpPr/>
          <p:nvPr/>
        </p:nvSpPr>
        <p:spPr>
          <a:xfrm>
            <a:off x="566928" y="1828800"/>
            <a:ext cx="822960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BE29F"/>
              </a:buClr>
              <a:buSzPts val="1450"/>
              <a:buFont typeface="Poppins"/>
              <a:buNone/>
            </a:pPr>
            <a:r>
              <a:rPr b="1" i="0" lang="en-US" sz="1450" u="none" cap="none" strike="noStrike">
                <a:solidFill>
                  <a:srgbClr val="3BE29F"/>
                </a:solidFill>
                <a:latin typeface="Poppins"/>
                <a:ea typeface="Poppins"/>
                <a:cs typeface="Poppins"/>
                <a:sym typeface="Poppins"/>
              </a:rPr>
              <a:t>EMFACE  ·  EMBODY / EMSCULPT NEO</a:t>
            </a:r>
            <a:endParaRPr b="0" i="0" sz="1450" u="none" cap="none" strike="noStrike">
              <a:solidFill>
                <a:schemeClr val="dk1"/>
              </a:solidFill>
              <a:latin typeface="Calibri"/>
              <a:ea typeface="Calibri"/>
              <a:cs typeface="Calibri"/>
              <a:sym typeface="Calibri"/>
            </a:endParaRPr>
          </a:p>
        </p:txBody>
      </p:sp>
      <p:sp>
        <p:nvSpPr>
          <p:cNvPr id="21" name="Google Shape;21;p1"/>
          <p:cNvSpPr/>
          <p:nvPr/>
        </p:nvSpPr>
        <p:spPr>
          <a:xfrm>
            <a:off x="548640" y="2240280"/>
            <a:ext cx="8778240" cy="1737360"/>
          </a:xfrm>
          <a:prstGeom prst="rect">
            <a:avLst/>
          </a:prstGeom>
          <a:noFill/>
          <a:ln>
            <a:noFill/>
          </a:ln>
        </p:spPr>
        <p:txBody>
          <a:bodyPr anchorCtr="0" anchor="ctr" bIns="45700" lIns="91425" spcFirstLastPara="1" rIns="91425" wrap="square" tIns="45700">
            <a:noAutofit/>
          </a:bodyPr>
          <a:lstStyle/>
          <a:p>
            <a:pPr indent="0" lvl="0" marL="0" marR="0" rtl="0" algn="l">
              <a:lnSpc>
                <a:spcPct val="101818"/>
              </a:lnSpc>
              <a:spcBef>
                <a:spcPts val="0"/>
              </a:spcBef>
              <a:spcAft>
                <a:spcPts val="0"/>
              </a:spcAft>
              <a:buClr>
                <a:srgbClr val="FFFFFF"/>
              </a:buClr>
              <a:buSzPts val="5500"/>
              <a:buFont typeface="Poppins"/>
              <a:buNone/>
            </a:pPr>
            <a:r>
              <a:rPr b="1" i="0" lang="en-US" sz="5500" u="none" cap="none" strike="noStrike">
                <a:solidFill>
                  <a:srgbClr val="FFFFFF"/>
                </a:solidFill>
                <a:latin typeface="Poppins"/>
                <a:ea typeface="Poppins"/>
                <a:cs typeface="Poppins"/>
                <a:sym typeface="Poppins"/>
              </a:rPr>
              <a:t>Google Ads Setup</a:t>
            </a:r>
            <a:endParaRPr b="0" i="0" sz="5500" u="none" cap="none" strike="noStrike">
              <a:solidFill>
                <a:schemeClr val="dk1"/>
              </a:solidFill>
              <a:latin typeface="Calibri"/>
              <a:ea typeface="Calibri"/>
              <a:cs typeface="Calibri"/>
              <a:sym typeface="Calibri"/>
            </a:endParaRPr>
          </a:p>
          <a:p>
            <a:pPr indent="0" lvl="0" marL="0" marR="0" rtl="0" algn="l">
              <a:lnSpc>
                <a:spcPct val="101818"/>
              </a:lnSpc>
              <a:spcBef>
                <a:spcPts val="0"/>
              </a:spcBef>
              <a:spcAft>
                <a:spcPts val="0"/>
              </a:spcAft>
              <a:buClr>
                <a:srgbClr val="FFFFFF"/>
              </a:buClr>
              <a:buSzPts val="5500"/>
              <a:buFont typeface="Poppins"/>
              <a:buNone/>
            </a:pPr>
            <a:r>
              <a:rPr b="1" i="0" lang="en-US" sz="5500" u="none" cap="none" strike="noStrike">
                <a:solidFill>
                  <a:srgbClr val="FFFFFF"/>
                </a:solidFill>
                <a:latin typeface="Poppins"/>
                <a:ea typeface="Poppins"/>
                <a:cs typeface="Poppins"/>
                <a:sym typeface="Poppins"/>
              </a:rPr>
              <a:t>Proposal</a:t>
            </a:r>
            <a:endParaRPr b="0" i="0" sz="5500" u="none" cap="none" strike="noStrike">
              <a:solidFill>
                <a:schemeClr val="dk1"/>
              </a:solidFill>
              <a:latin typeface="Calibri"/>
              <a:ea typeface="Calibri"/>
              <a:cs typeface="Calibri"/>
              <a:sym typeface="Calibri"/>
            </a:endParaRPr>
          </a:p>
        </p:txBody>
      </p:sp>
      <p:sp>
        <p:nvSpPr>
          <p:cNvPr id="22" name="Google Shape;22;p1"/>
          <p:cNvSpPr/>
          <p:nvPr/>
        </p:nvSpPr>
        <p:spPr>
          <a:xfrm>
            <a:off x="566928" y="4370832"/>
            <a:ext cx="36576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BE29F"/>
              </a:buClr>
              <a:buSzPts val="1200"/>
              <a:buFont typeface="Poppins"/>
              <a:buNone/>
            </a:pPr>
            <a:r>
              <a:rPr b="1" i="0" lang="en-US" sz="1200" u="none" cap="none" strike="noStrike">
                <a:solidFill>
                  <a:srgbClr val="3BE29F"/>
                </a:solidFill>
                <a:latin typeface="Poppins"/>
                <a:ea typeface="Poppins"/>
                <a:cs typeface="Poppins"/>
                <a:sym typeface="Poppins"/>
              </a:rPr>
              <a:t>PREPARED FOR</a:t>
            </a:r>
            <a:endParaRPr b="0" i="0" sz="1200" u="none" cap="none" strike="noStrike">
              <a:solidFill>
                <a:schemeClr val="dk1"/>
              </a:solidFill>
              <a:latin typeface="Calibri"/>
              <a:ea typeface="Calibri"/>
              <a:cs typeface="Calibri"/>
              <a:sym typeface="Calibri"/>
            </a:endParaRPr>
          </a:p>
        </p:txBody>
      </p:sp>
      <p:sp>
        <p:nvSpPr>
          <p:cNvPr id="23" name="Google Shape;23;p1"/>
          <p:cNvSpPr/>
          <p:nvPr/>
        </p:nvSpPr>
        <p:spPr>
          <a:xfrm>
            <a:off x="566928" y="4626864"/>
            <a:ext cx="512064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Poppins"/>
              <a:buNone/>
            </a:pPr>
            <a:r>
              <a:rPr b="1" i="0" lang="en-US" sz="1800" u="none" cap="none" strike="noStrike">
                <a:solidFill>
                  <a:srgbClr val="FFFFFF"/>
                </a:solidFill>
                <a:latin typeface="Poppins"/>
                <a:ea typeface="Poppins"/>
                <a:cs typeface="Poppins"/>
                <a:sym typeface="Poppins"/>
              </a:rPr>
              <a:t>Dr Ariel Haus · London Real Skin</a:t>
            </a:r>
            <a:endParaRPr b="0" i="0" sz="1800" u="none" cap="none" strike="noStrike">
              <a:solidFill>
                <a:schemeClr val="dk1"/>
              </a:solidFill>
              <a:latin typeface="Calibri"/>
              <a:ea typeface="Calibri"/>
              <a:cs typeface="Calibri"/>
              <a:sym typeface="Calibri"/>
            </a:endParaRPr>
          </a:p>
        </p:txBody>
      </p:sp>
      <p:sp>
        <p:nvSpPr>
          <p:cNvPr id="24" name="Google Shape;24;p1"/>
          <p:cNvSpPr/>
          <p:nvPr/>
        </p:nvSpPr>
        <p:spPr>
          <a:xfrm>
            <a:off x="5943600" y="4370832"/>
            <a:ext cx="36576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BE29F"/>
              </a:buClr>
              <a:buSzPts val="1200"/>
              <a:buFont typeface="Poppins"/>
              <a:buNone/>
            </a:pPr>
            <a:r>
              <a:rPr b="1" i="0" lang="en-US" sz="1200" u="none" cap="none" strike="noStrike">
                <a:solidFill>
                  <a:srgbClr val="3BE29F"/>
                </a:solidFill>
                <a:latin typeface="Poppins"/>
                <a:ea typeface="Poppins"/>
                <a:cs typeface="Poppins"/>
                <a:sym typeface="Poppins"/>
              </a:rPr>
              <a:t>PREPARED BY</a:t>
            </a:r>
            <a:endParaRPr b="0" i="0" sz="1200" u="none" cap="none" strike="noStrike">
              <a:solidFill>
                <a:schemeClr val="dk1"/>
              </a:solidFill>
              <a:latin typeface="Calibri"/>
              <a:ea typeface="Calibri"/>
              <a:cs typeface="Calibri"/>
              <a:sym typeface="Calibri"/>
            </a:endParaRPr>
          </a:p>
        </p:txBody>
      </p:sp>
      <p:sp>
        <p:nvSpPr>
          <p:cNvPr id="25" name="Google Shape;25;p1"/>
          <p:cNvSpPr/>
          <p:nvPr/>
        </p:nvSpPr>
        <p:spPr>
          <a:xfrm>
            <a:off x="5943600" y="4626864"/>
            <a:ext cx="5486400"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Poppins"/>
              <a:buNone/>
            </a:pPr>
            <a:r>
              <a:rPr b="1" i="0" lang="en-US" sz="1800" u="none" cap="none" strike="noStrike">
                <a:solidFill>
                  <a:srgbClr val="FFFFFF"/>
                </a:solidFill>
                <a:latin typeface="Poppins"/>
                <a:ea typeface="Poppins"/>
                <a:cs typeface="Poppins"/>
                <a:sym typeface="Poppins"/>
              </a:rPr>
              <a:t>Online Marketing for Doctors</a:t>
            </a:r>
            <a:endParaRPr b="0" i="0" sz="1800" u="none" cap="none" strike="noStrike">
              <a:solidFill>
                <a:schemeClr val="dk1"/>
              </a:solidFill>
              <a:latin typeface="Calibri"/>
              <a:ea typeface="Calibri"/>
              <a:cs typeface="Calibri"/>
              <a:sym typeface="Calibri"/>
            </a:endParaRPr>
          </a:p>
        </p:txBody>
      </p:sp>
      <p:cxnSp>
        <p:nvCxnSpPr>
          <p:cNvPr id="26" name="Google Shape;26;p1"/>
          <p:cNvCxnSpPr/>
          <p:nvPr/>
        </p:nvCxnSpPr>
        <p:spPr>
          <a:xfrm>
            <a:off x="566928" y="5440680"/>
            <a:ext cx="8503920" cy="0"/>
          </a:xfrm>
          <a:prstGeom prst="straightConnector1">
            <a:avLst/>
          </a:prstGeom>
          <a:noFill/>
          <a:ln cap="flat" cmpd="sng" w="19050">
            <a:solidFill>
              <a:srgbClr val="16A879"/>
            </a:solidFill>
            <a:prstDash val="solid"/>
            <a:round/>
            <a:headEnd len="sm" w="sm" type="none"/>
            <a:tailEnd len="sm" w="sm" type="none"/>
          </a:ln>
        </p:spPr>
      </p:cxnSp>
      <p:sp>
        <p:nvSpPr>
          <p:cNvPr id="27" name="Google Shape;27;p1"/>
          <p:cNvSpPr/>
          <p:nvPr/>
        </p:nvSpPr>
        <p:spPr>
          <a:xfrm>
            <a:off x="566928" y="5596128"/>
            <a:ext cx="914400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9D2CE"/>
              </a:buClr>
              <a:buSzPts val="1400"/>
              <a:buFont typeface="Calibri"/>
              <a:buNone/>
            </a:pPr>
            <a:r>
              <a:rPr b="0" i="0" lang="en-US" sz="1400" u="none" cap="none" strike="noStrike">
                <a:solidFill>
                  <a:srgbClr val="C9D2CE"/>
                </a:solidFill>
                <a:latin typeface="Calibri"/>
                <a:ea typeface="Calibri"/>
                <a:cs typeface="Calibri"/>
                <a:sym typeface="Calibri"/>
              </a:rPr>
              <a:t>Search Advertising  ·  Central London + 5 mi  ·  October 2026</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 name="Shape 32"/>
        <p:cNvGrpSpPr/>
        <p:nvPr/>
      </p:nvGrpSpPr>
      <p:grpSpPr>
        <a:xfrm>
          <a:off x="0" y="0"/>
          <a:ext cx="0" cy="0"/>
          <a:chOff x="0" y="0"/>
          <a:chExt cx="0" cy="0"/>
        </a:xfrm>
      </p:grpSpPr>
      <p:pic>
        <p:nvPicPr>
          <p:cNvPr descr="unpacked/ppt/media/image11.png" id="33" name="Google Shape;33;p2"/>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34" name="Google Shape;34;p2"/>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Overview</a:t>
            </a:r>
            <a:endParaRPr b="0" i="0" sz="1500" u="none" cap="none" strike="noStrike">
              <a:solidFill>
                <a:schemeClr val="dk1"/>
              </a:solidFill>
              <a:latin typeface="Calibri"/>
              <a:ea typeface="Calibri"/>
              <a:cs typeface="Calibri"/>
              <a:sym typeface="Calibri"/>
            </a:endParaRPr>
          </a:p>
        </p:txBody>
      </p:sp>
      <p:sp>
        <p:nvSpPr>
          <p:cNvPr id="35" name="Google Shape;35;p2"/>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CAMPAIGN OVERVIEW</a:t>
            </a:r>
            <a:endParaRPr b="0" i="0" sz="1250" u="none" cap="none" strike="noStrike">
              <a:solidFill>
                <a:schemeClr val="dk1"/>
              </a:solidFill>
              <a:latin typeface="Calibri"/>
              <a:ea typeface="Calibri"/>
              <a:cs typeface="Calibri"/>
              <a:sym typeface="Calibri"/>
            </a:endParaRPr>
          </a:p>
        </p:txBody>
      </p:sp>
      <p:sp>
        <p:nvSpPr>
          <p:cNvPr id="36" name="Google Shape;36;p2"/>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Two Devices, Two Audiences</a:t>
            </a:r>
            <a:endParaRPr b="0" i="0" sz="3300" u="none" cap="none" strike="noStrike">
              <a:solidFill>
                <a:schemeClr val="dk1"/>
              </a:solidFill>
              <a:latin typeface="Calibri"/>
              <a:ea typeface="Calibri"/>
              <a:cs typeface="Calibri"/>
              <a:sym typeface="Calibri"/>
            </a:endParaRPr>
          </a:p>
        </p:txBody>
      </p:sp>
      <p:sp>
        <p:nvSpPr>
          <p:cNvPr id="37" name="Google Shape;37;p2"/>
          <p:cNvSpPr/>
          <p:nvPr/>
        </p:nvSpPr>
        <p:spPr>
          <a:xfrm>
            <a:off x="502920" y="1993392"/>
            <a:ext cx="1115568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Each device runs as its own focused campaign — separate keywords, copy, targeting and budget. Geo and demographics are set per campaign, not once for the account.</a:t>
            </a:r>
            <a:endParaRPr b="0" i="0" sz="1350" u="none" cap="none" strike="noStrike">
              <a:solidFill>
                <a:schemeClr val="dk1"/>
              </a:solidFill>
              <a:latin typeface="Calibri"/>
              <a:ea typeface="Calibri"/>
              <a:cs typeface="Calibri"/>
              <a:sym typeface="Calibri"/>
            </a:endParaRPr>
          </a:p>
        </p:txBody>
      </p:sp>
      <p:sp>
        <p:nvSpPr>
          <p:cNvPr id="38" name="Google Shape;38;p2"/>
          <p:cNvSpPr/>
          <p:nvPr/>
        </p:nvSpPr>
        <p:spPr>
          <a:xfrm>
            <a:off x="502920" y="2560320"/>
            <a:ext cx="5440680" cy="2743200"/>
          </a:xfrm>
          <a:prstGeom prst="roundRect">
            <a:avLst>
              <a:gd fmla="val 333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795528" y="2871216"/>
            <a:ext cx="658368" cy="658368"/>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_white.png" id="40" name="Google Shape;40;p2"/>
          <p:cNvPicPr preferRelativeResize="0"/>
          <p:nvPr/>
        </p:nvPicPr>
        <p:blipFill rotWithShape="1">
          <a:blip r:embed="rId4">
            <a:alphaModFix/>
          </a:blip>
          <a:srcRect b="0" l="0" r="0" t="0"/>
          <a:stretch/>
        </p:blipFill>
        <p:spPr>
          <a:xfrm>
            <a:off x="960120" y="3035808"/>
            <a:ext cx="329184" cy="329184"/>
          </a:xfrm>
          <a:prstGeom prst="rect">
            <a:avLst/>
          </a:prstGeom>
          <a:noFill/>
          <a:ln>
            <a:noFill/>
          </a:ln>
        </p:spPr>
      </p:pic>
      <p:sp>
        <p:nvSpPr>
          <p:cNvPr id="41" name="Google Shape;41;p2"/>
          <p:cNvSpPr/>
          <p:nvPr/>
        </p:nvSpPr>
        <p:spPr>
          <a:xfrm>
            <a:off x="1600200" y="2871216"/>
            <a:ext cx="416052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2100"/>
              <a:buFont typeface="Poppins"/>
              <a:buNone/>
            </a:pPr>
            <a:r>
              <a:rPr b="1" i="0" lang="en-US" sz="2100" u="none" cap="none" strike="noStrike">
                <a:solidFill>
                  <a:srgbClr val="2B2E2C"/>
                </a:solidFill>
                <a:latin typeface="Poppins"/>
                <a:ea typeface="Poppins"/>
                <a:cs typeface="Poppins"/>
                <a:sym typeface="Poppins"/>
              </a:rPr>
              <a:t>EmBody / EMSCULPT NEO</a:t>
            </a:r>
            <a:endParaRPr b="0" i="0" sz="2100" u="none" cap="none" strike="noStrike">
              <a:solidFill>
                <a:schemeClr val="dk1"/>
              </a:solidFill>
              <a:latin typeface="Calibri"/>
              <a:ea typeface="Calibri"/>
              <a:cs typeface="Calibri"/>
              <a:sym typeface="Calibri"/>
            </a:endParaRPr>
          </a:p>
        </p:txBody>
      </p:sp>
      <p:sp>
        <p:nvSpPr>
          <p:cNvPr id="42" name="Google Shape;42;p2"/>
          <p:cNvSpPr/>
          <p:nvPr/>
        </p:nvSpPr>
        <p:spPr>
          <a:xfrm>
            <a:off x="1600200" y="3255264"/>
            <a:ext cx="4160520" cy="31089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1150"/>
              <a:buFont typeface="Calibri"/>
              <a:buNone/>
            </a:pPr>
            <a:r>
              <a:rPr b="0" i="1" lang="en-US" sz="1150" u="none" cap="none" strike="noStrike">
                <a:solidFill>
                  <a:srgbClr val="6E7873"/>
                </a:solidFill>
                <a:latin typeface="Calibri"/>
                <a:ea typeface="Calibri"/>
                <a:cs typeface="Calibri"/>
                <a:sym typeface="Calibri"/>
              </a:rPr>
              <a:t>Body · muscle &amp; contour · men and women</a:t>
            </a:r>
            <a:endParaRPr b="0" i="0" sz="1150" u="none" cap="none" strike="noStrike">
              <a:solidFill>
                <a:schemeClr val="dk1"/>
              </a:solidFill>
              <a:latin typeface="Calibri"/>
              <a:ea typeface="Calibri"/>
              <a:cs typeface="Calibri"/>
              <a:sym typeface="Calibri"/>
            </a:endParaRPr>
          </a:p>
        </p:txBody>
      </p:sp>
      <p:sp>
        <p:nvSpPr>
          <p:cNvPr id="43" name="Google Shape;43;p2"/>
          <p:cNvSpPr/>
          <p:nvPr/>
        </p:nvSpPr>
        <p:spPr>
          <a:xfrm>
            <a:off x="813816" y="3785616"/>
            <a:ext cx="169164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Geo target</a:t>
            </a:r>
            <a:endParaRPr b="0" i="0" sz="1150" u="none" cap="none" strike="noStrike">
              <a:solidFill>
                <a:schemeClr val="dk1"/>
              </a:solidFill>
              <a:latin typeface="Calibri"/>
              <a:ea typeface="Calibri"/>
              <a:cs typeface="Calibri"/>
              <a:sym typeface="Calibri"/>
            </a:endParaRPr>
          </a:p>
        </p:txBody>
      </p:sp>
      <p:sp>
        <p:nvSpPr>
          <p:cNvPr id="44" name="Google Shape;44;p2"/>
          <p:cNvSpPr/>
          <p:nvPr/>
        </p:nvSpPr>
        <p:spPr>
          <a:xfrm>
            <a:off x="2514600" y="3785616"/>
            <a:ext cx="315468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200"/>
              <a:buFont typeface="Calibri"/>
              <a:buNone/>
            </a:pPr>
            <a:r>
              <a:rPr b="0" i="0" lang="en-US" sz="1200" u="none" cap="none" strike="noStrike">
                <a:solidFill>
                  <a:srgbClr val="2B2E2C"/>
                </a:solidFill>
                <a:latin typeface="Calibri"/>
                <a:ea typeface="Calibri"/>
                <a:cs typeface="Calibri"/>
                <a:sym typeface="Calibri"/>
              </a:rPr>
              <a:t>Central London + 5 mi</a:t>
            </a:r>
            <a:endParaRPr b="0" i="0" sz="1200" u="none" cap="none" strike="noStrike">
              <a:solidFill>
                <a:schemeClr val="dk1"/>
              </a:solidFill>
              <a:latin typeface="Calibri"/>
              <a:ea typeface="Calibri"/>
              <a:cs typeface="Calibri"/>
              <a:sym typeface="Calibri"/>
            </a:endParaRPr>
          </a:p>
        </p:txBody>
      </p:sp>
      <p:cxnSp>
        <p:nvCxnSpPr>
          <p:cNvPr id="45" name="Google Shape;45;p2"/>
          <p:cNvCxnSpPr/>
          <p:nvPr/>
        </p:nvCxnSpPr>
        <p:spPr>
          <a:xfrm>
            <a:off x="813816" y="4133088"/>
            <a:ext cx="4818888" cy="0"/>
          </a:xfrm>
          <a:prstGeom prst="straightConnector1">
            <a:avLst/>
          </a:prstGeom>
          <a:noFill/>
          <a:ln cap="flat" cmpd="sng" w="12700">
            <a:solidFill>
              <a:srgbClr val="EBEEED"/>
            </a:solidFill>
            <a:prstDash val="solid"/>
            <a:round/>
            <a:headEnd len="sm" w="sm" type="none"/>
            <a:tailEnd len="sm" w="sm" type="none"/>
          </a:ln>
        </p:spPr>
      </p:cxnSp>
      <p:sp>
        <p:nvSpPr>
          <p:cNvPr id="46" name="Google Shape;46;p2"/>
          <p:cNvSpPr/>
          <p:nvPr/>
        </p:nvSpPr>
        <p:spPr>
          <a:xfrm>
            <a:off x="813816" y="4169664"/>
            <a:ext cx="169164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Demographic</a:t>
            </a:r>
            <a:endParaRPr b="0" i="0" sz="1150" u="none" cap="none" strike="noStrike">
              <a:solidFill>
                <a:schemeClr val="dk1"/>
              </a:solidFill>
              <a:latin typeface="Calibri"/>
              <a:ea typeface="Calibri"/>
              <a:cs typeface="Calibri"/>
              <a:sym typeface="Calibri"/>
            </a:endParaRPr>
          </a:p>
        </p:txBody>
      </p:sp>
      <p:sp>
        <p:nvSpPr>
          <p:cNvPr id="47" name="Google Shape;47;p2"/>
          <p:cNvSpPr/>
          <p:nvPr/>
        </p:nvSpPr>
        <p:spPr>
          <a:xfrm>
            <a:off x="2514600" y="4169664"/>
            <a:ext cx="315468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200"/>
              <a:buFont typeface="Calibri"/>
              <a:buNone/>
            </a:pPr>
            <a:r>
              <a:rPr b="0" i="0" lang="en-US" sz="1200" u="none" cap="none" strike="noStrike">
                <a:solidFill>
                  <a:srgbClr val="2B2E2C"/>
                </a:solidFill>
                <a:latin typeface="Calibri"/>
                <a:ea typeface="Calibri"/>
                <a:cs typeface="Calibri"/>
                <a:sym typeface="Calibri"/>
              </a:rPr>
              <a:t>30–55 · all genders</a:t>
            </a:r>
            <a:endParaRPr b="0" i="0" sz="1200" u="none" cap="none" strike="noStrike">
              <a:solidFill>
                <a:schemeClr val="dk1"/>
              </a:solidFill>
              <a:latin typeface="Calibri"/>
              <a:ea typeface="Calibri"/>
              <a:cs typeface="Calibri"/>
              <a:sym typeface="Calibri"/>
            </a:endParaRPr>
          </a:p>
        </p:txBody>
      </p:sp>
      <p:cxnSp>
        <p:nvCxnSpPr>
          <p:cNvPr id="48" name="Google Shape;48;p2"/>
          <p:cNvCxnSpPr/>
          <p:nvPr/>
        </p:nvCxnSpPr>
        <p:spPr>
          <a:xfrm>
            <a:off x="813816" y="4517136"/>
            <a:ext cx="4818888" cy="0"/>
          </a:xfrm>
          <a:prstGeom prst="straightConnector1">
            <a:avLst/>
          </a:prstGeom>
          <a:noFill/>
          <a:ln cap="flat" cmpd="sng" w="12700">
            <a:solidFill>
              <a:srgbClr val="EBEEED"/>
            </a:solidFill>
            <a:prstDash val="solid"/>
            <a:round/>
            <a:headEnd len="sm" w="sm" type="none"/>
            <a:tailEnd len="sm" w="sm" type="none"/>
          </a:ln>
        </p:spPr>
      </p:cxnSp>
      <p:sp>
        <p:nvSpPr>
          <p:cNvPr id="49" name="Google Shape;49;p2"/>
          <p:cNvSpPr/>
          <p:nvPr/>
        </p:nvSpPr>
        <p:spPr>
          <a:xfrm>
            <a:off x="813816" y="4553712"/>
            <a:ext cx="169164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Daily budget</a:t>
            </a:r>
            <a:endParaRPr b="0" i="0" sz="1150" u="none" cap="none" strike="noStrike">
              <a:solidFill>
                <a:schemeClr val="dk1"/>
              </a:solidFill>
              <a:latin typeface="Calibri"/>
              <a:ea typeface="Calibri"/>
              <a:cs typeface="Calibri"/>
              <a:sym typeface="Calibri"/>
            </a:endParaRPr>
          </a:p>
        </p:txBody>
      </p:sp>
      <p:sp>
        <p:nvSpPr>
          <p:cNvPr id="50" name="Google Shape;50;p2"/>
          <p:cNvSpPr/>
          <p:nvPr/>
        </p:nvSpPr>
        <p:spPr>
          <a:xfrm>
            <a:off x="2514600" y="4553712"/>
            <a:ext cx="315468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200"/>
              <a:buFont typeface="Calibri"/>
              <a:buNone/>
            </a:pPr>
            <a:r>
              <a:rPr b="0" i="0" lang="en-US" sz="1200" u="none" cap="none" strike="noStrike">
                <a:solidFill>
                  <a:srgbClr val="2B2E2C"/>
                </a:solidFill>
                <a:latin typeface="Calibri"/>
                <a:ea typeface="Calibri"/>
                <a:cs typeface="Calibri"/>
                <a:sym typeface="Calibri"/>
              </a:rPr>
              <a:t>£40 / day  ·  ≈ £1,216 / mo</a:t>
            </a:r>
            <a:endParaRPr b="0" i="0" sz="1200" u="none" cap="none" strike="noStrike">
              <a:solidFill>
                <a:schemeClr val="dk1"/>
              </a:solidFill>
              <a:latin typeface="Calibri"/>
              <a:ea typeface="Calibri"/>
              <a:cs typeface="Calibri"/>
              <a:sym typeface="Calibri"/>
            </a:endParaRPr>
          </a:p>
        </p:txBody>
      </p:sp>
      <p:cxnSp>
        <p:nvCxnSpPr>
          <p:cNvPr id="51" name="Google Shape;51;p2"/>
          <p:cNvCxnSpPr/>
          <p:nvPr/>
        </p:nvCxnSpPr>
        <p:spPr>
          <a:xfrm>
            <a:off x="813816" y="4901184"/>
            <a:ext cx="4818888" cy="0"/>
          </a:xfrm>
          <a:prstGeom prst="straightConnector1">
            <a:avLst/>
          </a:prstGeom>
          <a:noFill/>
          <a:ln cap="flat" cmpd="sng" w="12700">
            <a:solidFill>
              <a:srgbClr val="EBEEED"/>
            </a:solidFill>
            <a:prstDash val="solid"/>
            <a:round/>
            <a:headEnd len="sm" w="sm" type="none"/>
            <a:tailEnd len="sm" w="sm" type="none"/>
          </a:ln>
        </p:spPr>
      </p:cxnSp>
      <p:sp>
        <p:nvSpPr>
          <p:cNvPr id="52" name="Google Shape;52;p2"/>
          <p:cNvSpPr/>
          <p:nvPr/>
        </p:nvSpPr>
        <p:spPr>
          <a:xfrm>
            <a:off x="813816" y="4937760"/>
            <a:ext cx="169164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Ad groups</a:t>
            </a:r>
            <a:endParaRPr b="0" i="0" sz="1150" u="none" cap="none" strike="noStrike">
              <a:solidFill>
                <a:schemeClr val="dk1"/>
              </a:solidFill>
              <a:latin typeface="Calibri"/>
              <a:ea typeface="Calibri"/>
              <a:cs typeface="Calibri"/>
              <a:sym typeface="Calibri"/>
            </a:endParaRPr>
          </a:p>
        </p:txBody>
      </p:sp>
      <p:sp>
        <p:nvSpPr>
          <p:cNvPr id="53" name="Google Shape;53;p2"/>
          <p:cNvSpPr/>
          <p:nvPr/>
        </p:nvSpPr>
        <p:spPr>
          <a:xfrm>
            <a:off x="2514600" y="4937760"/>
            <a:ext cx="315468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200"/>
              <a:buFont typeface="Calibri"/>
              <a:buNone/>
            </a:pPr>
            <a:r>
              <a:rPr b="0" i="0" lang="en-US" sz="1200" u="none" cap="none" strike="noStrike">
                <a:solidFill>
                  <a:srgbClr val="2B2E2C"/>
                </a:solidFill>
                <a:latin typeface="Calibri"/>
                <a:ea typeface="Calibri"/>
                <a:cs typeface="Calibri"/>
                <a:sym typeface="Calibri"/>
              </a:rPr>
              <a:t>7 intent-based groups</a:t>
            </a:r>
            <a:endParaRPr b="0" i="0" sz="1200" u="none" cap="none" strike="noStrike">
              <a:solidFill>
                <a:schemeClr val="dk1"/>
              </a:solidFill>
              <a:latin typeface="Calibri"/>
              <a:ea typeface="Calibri"/>
              <a:cs typeface="Calibri"/>
              <a:sym typeface="Calibri"/>
            </a:endParaRPr>
          </a:p>
        </p:txBody>
      </p:sp>
      <p:sp>
        <p:nvSpPr>
          <p:cNvPr id="54" name="Google Shape;54;p2"/>
          <p:cNvSpPr/>
          <p:nvPr/>
        </p:nvSpPr>
        <p:spPr>
          <a:xfrm>
            <a:off x="6245352" y="2560320"/>
            <a:ext cx="5440680" cy="2743200"/>
          </a:xfrm>
          <a:prstGeom prst="roundRect">
            <a:avLst>
              <a:gd fmla="val 333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
          <p:cNvSpPr/>
          <p:nvPr/>
        </p:nvSpPr>
        <p:spPr>
          <a:xfrm>
            <a:off x="6537960" y="2871216"/>
            <a:ext cx="658368" cy="658368"/>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pa_white.png" id="56" name="Google Shape;56;p2"/>
          <p:cNvPicPr preferRelativeResize="0"/>
          <p:nvPr/>
        </p:nvPicPr>
        <p:blipFill rotWithShape="1">
          <a:blip r:embed="rId5">
            <a:alphaModFix/>
          </a:blip>
          <a:srcRect b="0" l="0" r="0" t="0"/>
          <a:stretch/>
        </p:blipFill>
        <p:spPr>
          <a:xfrm>
            <a:off x="6702552" y="3035808"/>
            <a:ext cx="329184" cy="329184"/>
          </a:xfrm>
          <a:prstGeom prst="rect">
            <a:avLst/>
          </a:prstGeom>
          <a:noFill/>
          <a:ln>
            <a:noFill/>
          </a:ln>
        </p:spPr>
      </p:pic>
      <p:sp>
        <p:nvSpPr>
          <p:cNvPr id="57" name="Google Shape;57;p2"/>
          <p:cNvSpPr/>
          <p:nvPr/>
        </p:nvSpPr>
        <p:spPr>
          <a:xfrm>
            <a:off x="7342632" y="2871216"/>
            <a:ext cx="416052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2100"/>
              <a:buFont typeface="Poppins"/>
              <a:buNone/>
            </a:pPr>
            <a:r>
              <a:rPr b="1" i="0" lang="en-US" sz="2100" u="none" cap="none" strike="noStrike">
                <a:solidFill>
                  <a:srgbClr val="2B2E2C"/>
                </a:solidFill>
                <a:latin typeface="Poppins"/>
                <a:ea typeface="Poppins"/>
                <a:cs typeface="Poppins"/>
                <a:sym typeface="Poppins"/>
              </a:rPr>
              <a:t>EmFace</a:t>
            </a:r>
            <a:endParaRPr b="0" i="0" sz="2100" u="none" cap="none" strike="noStrike">
              <a:solidFill>
                <a:schemeClr val="dk1"/>
              </a:solidFill>
              <a:latin typeface="Calibri"/>
              <a:ea typeface="Calibri"/>
              <a:cs typeface="Calibri"/>
              <a:sym typeface="Calibri"/>
            </a:endParaRPr>
          </a:p>
        </p:txBody>
      </p:sp>
      <p:sp>
        <p:nvSpPr>
          <p:cNvPr id="58" name="Google Shape;58;p2"/>
          <p:cNvSpPr/>
          <p:nvPr/>
        </p:nvSpPr>
        <p:spPr>
          <a:xfrm>
            <a:off x="7342632" y="3255264"/>
            <a:ext cx="4160520" cy="31089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1150"/>
              <a:buFont typeface="Calibri"/>
              <a:buNone/>
            </a:pPr>
            <a:r>
              <a:rPr b="0" i="1" lang="en-US" sz="1150" u="none" cap="none" strike="noStrike">
                <a:solidFill>
                  <a:srgbClr val="6E7873"/>
                </a:solidFill>
                <a:latin typeface="Calibri"/>
                <a:ea typeface="Calibri"/>
                <a:cs typeface="Calibri"/>
                <a:sym typeface="Calibri"/>
              </a:rPr>
              <a:t>Face · lift &amp; tone · needle-free</a:t>
            </a:r>
            <a:endParaRPr b="0" i="0" sz="1150" u="none" cap="none" strike="noStrike">
              <a:solidFill>
                <a:schemeClr val="dk1"/>
              </a:solidFill>
              <a:latin typeface="Calibri"/>
              <a:ea typeface="Calibri"/>
              <a:cs typeface="Calibri"/>
              <a:sym typeface="Calibri"/>
            </a:endParaRPr>
          </a:p>
        </p:txBody>
      </p:sp>
      <p:sp>
        <p:nvSpPr>
          <p:cNvPr id="59" name="Google Shape;59;p2"/>
          <p:cNvSpPr/>
          <p:nvPr/>
        </p:nvSpPr>
        <p:spPr>
          <a:xfrm>
            <a:off x="6556248" y="3785616"/>
            <a:ext cx="169164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Geo target</a:t>
            </a:r>
            <a:endParaRPr b="0" i="0" sz="1150" u="none" cap="none" strike="noStrike">
              <a:solidFill>
                <a:schemeClr val="dk1"/>
              </a:solidFill>
              <a:latin typeface="Calibri"/>
              <a:ea typeface="Calibri"/>
              <a:cs typeface="Calibri"/>
              <a:sym typeface="Calibri"/>
            </a:endParaRPr>
          </a:p>
        </p:txBody>
      </p:sp>
      <p:sp>
        <p:nvSpPr>
          <p:cNvPr id="60" name="Google Shape;60;p2"/>
          <p:cNvSpPr/>
          <p:nvPr/>
        </p:nvSpPr>
        <p:spPr>
          <a:xfrm>
            <a:off x="8257032" y="3785616"/>
            <a:ext cx="315468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200"/>
              <a:buFont typeface="Calibri"/>
              <a:buNone/>
            </a:pPr>
            <a:r>
              <a:rPr b="0" i="0" lang="en-US" sz="1200" u="none" cap="none" strike="noStrike">
                <a:solidFill>
                  <a:srgbClr val="2B2E2C"/>
                </a:solidFill>
                <a:latin typeface="Calibri"/>
                <a:ea typeface="Calibri"/>
                <a:cs typeface="Calibri"/>
                <a:sym typeface="Calibri"/>
              </a:rPr>
              <a:t>Central London + 5 mi</a:t>
            </a:r>
            <a:endParaRPr b="0" i="0" sz="1200" u="none" cap="none" strike="noStrike">
              <a:solidFill>
                <a:schemeClr val="dk1"/>
              </a:solidFill>
              <a:latin typeface="Calibri"/>
              <a:ea typeface="Calibri"/>
              <a:cs typeface="Calibri"/>
              <a:sym typeface="Calibri"/>
            </a:endParaRPr>
          </a:p>
        </p:txBody>
      </p:sp>
      <p:cxnSp>
        <p:nvCxnSpPr>
          <p:cNvPr id="61" name="Google Shape;61;p2"/>
          <p:cNvCxnSpPr/>
          <p:nvPr/>
        </p:nvCxnSpPr>
        <p:spPr>
          <a:xfrm>
            <a:off x="6556248" y="4133088"/>
            <a:ext cx="4818888" cy="0"/>
          </a:xfrm>
          <a:prstGeom prst="straightConnector1">
            <a:avLst/>
          </a:prstGeom>
          <a:noFill/>
          <a:ln cap="flat" cmpd="sng" w="12700">
            <a:solidFill>
              <a:srgbClr val="EBEEED"/>
            </a:solidFill>
            <a:prstDash val="solid"/>
            <a:round/>
            <a:headEnd len="sm" w="sm" type="none"/>
            <a:tailEnd len="sm" w="sm" type="none"/>
          </a:ln>
        </p:spPr>
      </p:cxnSp>
      <p:sp>
        <p:nvSpPr>
          <p:cNvPr id="62" name="Google Shape;62;p2"/>
          <p:cNvSpPr/>
          <p:nvPr/>
        </p:nvSpPr>
        <p:spPr>
          <a:xfrm>
            <a:off x="6556248" y="4169664"/>
            <a:ext cx="169164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Demographic</a:t>
            </a:r>
            <a:endParaRPr b="0" i="0" sz="1150" u="none" cap="none" strike="noStrike">
              <a:solidFill>
                <a:schemeClr val="dk1"/>
              </a:solidFill>
              <a:latin typeface="Calibri"/>
              <a:ea typeface="Calibri"/>
              <a:cs typeface="Calibri"/>
              <a:sym typeface="Calibri"/>
            </a:endParaRPr>
          </a:p>
        </p:txBody>
      </p:sp>
      <p:sp>
        <p:nvSpPr>
          <p:cNvPr id="63" name="Google Shape;63;p2"/>
          <p:cNvSpPr/>
          <p:nvPr/>
        </p:nvSpPr>
        <p:spPr>
          <a:xfrm>
            <a:off x="8257032" y="4169664"/>
            <a:ext cx="315468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200"/>
              <a:buFont typeface="Calibri"/>
              <a:buNone/>
            </a:pPr>
            <a:r>
              <a:rPr b="0" i="0" lang="en-US" sz="1200" u="none" cap="none" strike="noStrike">
                <a:solidFill>
                  <a:srgbClr val="2B2E2C"/>
                </a:solidFill>
                <a:latin typeface="Calibri"/>
                <a:ea typeface="Calibri"/>
                <a:cs typeface="Calibri"/>
                <a:sym typeface="Calibri"/>
              </a:rPr>
              <a:t>30–55 · female-skewed</a:t>
            </a:r>
            <a:endParaRPr b="0" i="0" sz="1200" u="none" cap="none" strike="noStrike">
              <a:solidFill>
                <a:schemeClr val="dk1"/>
              </a:solidFill>
              <a:latin typeface="Calibri"/>
              <a:ea typeface="Calibri"/>
              <a:cs typeface="Calibri"/>
              <a:sym typeface="Calibri"/>
            </a:endParaRPr>
          </a:p>
        </p:txBody>
      </p:sp>
      <p:cxnSp>
        <p:nvCxnSpPr>
          <p:cNvPr id="64" name="Google Shape;64;p2"/>
          <p:cNvCxnSpPr/>
          <p:nvPr/>
        </p:nvCxnSpPr>
        <p:spPr>
          <a:xfrm>
            <a:off x="6556248" y="4517136"/>
            <a:ext cx="4818888" cy="0"/>
          </a:xfrm>
          <a:prstGeom prst="straightConnector1">
            <a:avLst/>
          </a:prstGeom>
          <a:noFill/>
          <a:ln cap="flat" cmpd="sng" w="12700">
            <a:solidFill>
              <a:srgbClr val="EBEEED"/>
            </a:solidFill>
            <a:prstDash val="solid"/>
            <a:round/>
            <a:headEnd len="sm" w="sm" type="none"/>
            <a:tailEnd len="sm" w="sm" type="none"/>
          </a:ln>
        </p:spPr>
      </p:cxnSp>
      <p:sp>
        <p:nvSpPr>
          <p:cNvPr id="65" name="Google Shape;65;p2"/>
          <p:cNvSpPr/>
          <p:nvPr/>
        </p:nvSpPr>
        <p:spPr>
          <a:xfrm>
            <a:off x="6556248" y="4553712"/>
            <a:ext cx="169164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Daily budget</a:t>
            </a:r>
            <a:endParaRPr b="0" i="0" sz="1150" u="none" cap="none" strike="noStrike">
              <a:solidFill>
                <a:schemeClr val="dk1"/>
              </a:solidFill>
              <a:latin typeface="Calibri"/>
              <a:ea typeface="Calibri"/>
              <a:cs typeface="Calibri"/>
              <a:sym typeface="Calibri"/>
            </a:endParaRPr>
          </a:p>
        </p:txBody>
      </p:sp>
      <p:sp>
        <p:nvSpPr>
          <p:cNvPr id="66" name="Google Shape;66;p2"/>
          <p:cNvSpPr/>
          <p:nvPr/>
        </p:nvSpPr>
        <p:spPr>
          <a:xfrm>
            <a:off x="8257032" y="4553712"/>
            <a:ext cx="315468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200"/>
              <a:buFont typeface="Calibri"/>
              <a:buNone/>
            </a:pPr>
            <a:r>
              <a:rPr b="0" i="0" lang="en-US" sz="1200" u="none" cap="none" strike="noStrike">
                <a:solidFill>
                  <a:srgbClr val="2B2E2C"/>
                </a:solidFill>
                <a:latin typeface="Calibri"/>
                <a:ea typeface="Calibri"/>
                <a:cs typeface="Calibri"/>
                <a:sym typeface="Calibri"/>
              </a:rPr>
              <a:t>£20 / day  ·  ≈ £608 / mo</a:t>
            </a:r>
            <a:endParaRPr b="0" i="0" sz="1200" u="none" cap="none" strike="noStrike">
              <a:solidFill>
                <a:schemeClr val="dk1"/>
              </a:solidFill>
              <a:latin typeface="Calibri"/>
              <a:ea typeface="Calibri"/>
              <a:cs typeface="Calibri"/>
              <a:sym typeface="Calibri"/>
            </a:endParaRPr>
          </a:p>
        </p:txBody>
      </p:sp>
      <p:cxnSp>
        <p:nvCxnSpPr>
          <p:cNvPr id="67" name="Google Shape;67;p2"/>
          <p:cNvCxnSpPr/>
          <p:nvPr/>
        </p:nvCxnSpPr>
        <p:spPr>
          <a:xfrm>
            <a:off x="6556248" y="4901184"/>
            <a:ext cx="4818888" cy="0"/>
          </a:xfrm>
          <a:prstGeom prst="straightConnector1">
            <a:avLst/>
          </a:prstGeom>
          <a:noFill/>
          <a:ln cap="flat" cmpd="sng" w="12700">
            <a:solidFill>
              <a:srgbClr val="EBEEED"/>
            </a:solidFill>
            <a:prstDash val="solid"/>
            <a:round/>
            <a:headEnd len="sm" w="sm" type="none"/>
            <a:tailEnd len="sm" w="sm" type="none"/>
          </a:ln>
        </p:spPr>
      </p:cxnSp>
      <p:sp>
        <p:nvSpPr>
          <p:cNvPr id="68" name="Google Shape;68;p2"/>
          <p:cNvSpPr/>
          <p:nvPr/>
        </p:nvSpPr>
        <p:spPr>
          <a:xfrm>
            <a:off x="6556248" y="4937760"/>
            <a:ext cx="169164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50"/>
              <a:buFont typeface="Poppins"/>
              <a:buNone/>
            </a:pPr>
            <a:r>
              <a:rPr b="1" i="0" lang="en-US" sz="1150" u="none" cap="none" strike="noStrike">
                <a:solidFill>
                  <a:srgbClr val="16A879"/>
                </a:solidFill>
                <a:latin typeface="Poppins"/>
                <a:ea typeface="Poppins"/>
                <a:cs typeface="Poppins"/>
                <a:sym typeface="Poppins"/>
              </a:rPr>
              <a:t>Ad groups</a:t>
            </a:r>
            <a:endParaRPr b="0" i="0" sz="1150" u="none" cap="none" strike="noStrike">
              <a:solidFill>
                <a:schemeClr val="dk1"/>
              </a:solidFill>
              <a:latin typeface="Calibri"/>
              <a:ea typeface="Calibri"/>
              <a:cs typeface="Calibri"/>
              <a:sym typeface="Calibri"/>
            </a:endParaRPr>
          </a:p>
        </p:txBody>
      </p:sp>
      <p:sp>
        <p:nvSpPr>
          <p:cNvPr id="69" name="Google Shape;69;p2"/>
          <p:cNvSpPr/>
          <p:nvPr/>
        </p:nvSpPr>
        <p:spPr>
          <a:xfrm>
            <a:off x="8257032" y="4937760"/>
            <a:ext cx="315468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200"/>
              <a:buFont typeface="Calibri"/>
              <a:buNone/>
            </a:pPr>
            <a:r>
              <a:rPr b="0" i="0" lang="en-US" sz="1200" u="none" cap="none" strike="noStrike">
                <a:solidFill>
                  <a:srgbClr val="2B2E2C"/>
                </a:solidFill>
                <a:latin typeface="Calibri"/>
                <a:ea typeface="Calibri"/>
                <a:cs typeface="Calibri"/>
                <a:sym typeface="Calibri"/>
              </a:rPr>
              <a:t>6 intent-based groups</a:t>
            </a:r>
            <a:endParaRPr b="0" i="0" sz="1200" u="none" cap="none" strike="noStrike">
              <a:solidFill>
                <a:schemeClr val="dk1"/>
              </a:solidFill>
              <a:latin typeface="Calibri"/>
              <a:ea typeface="Calibri"/>
              <a:cs typeface="Calibri"/>
              <a:sym typeface="Calibri"/>
            </a:endParaRPr>
          </a:p>
        </p:txBody>
      </p:sp>
      <p:sp>
        <p:nvSpPr>
          <p:cNvPr id="70" name="Google Shape;70;p2"/>
          <p:cNvSpPr/>
          <p:nvPr/>
        </p:nvSpPr>
        <p:spPr>
          <a:xfrm>
            <a:off x="502920" y="5486400"/>
            <a:ext cx="11183112" cy="713232"/>
          </a:xfrm>
          <a:prstGeom prst="roundRect">
            <a:avLst>
              <a:gd fmla="val 12821" name="adj"/>
            </a:avLst>
          </a:prstGeom>
          <a:solidFill>
            <a:srgbClr val="1A2620"/>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
          <p:cNvSpPr/>
          <p:nvPr/>
        </p:nvSpPr>
        <p:spPr>
          <a:xfrm>
            <a:off x="777240" y="5632704"/>
            <a:ext cx="420624" cy="420624"/>
          </a:xfrm>
          <a:prstGeom prst="ellipse">
            <a:avLst/>
          </a:prstGeom>
          <a:solidFill>
            <a:srgbClr val="3BE2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pound_dark.png" id="72" name="Google Shape;72;p2"/>
          <p:cNvPicPr preferRelativeResize="0"/>
          <p:nvPr/>
        </p:nvPicPr>
        <p:blipFill rotWithShape="1">
          <a:blip r:embed="rId6">
            <a:alphaModFix/>
          </a:blip>
          <a:srcRect b="0" l="0" r="0" t="0"/>
          <a:stretch/>
        </p:blipFill>
        <p:spPr>
          <a:xfrm>
            <a:off x="877824" y="5733288"/>
            <a:ext cx="219456" cy="219456"/>
          </a:xfrm>
          <a:prstGeom prst="rect">
            <a:avLst/>
          </a:prstGeom>
          <a:noFill/>
          <a:ln>
            <a:noFill/>
          </a:ln>
        </p:spPr>
      </p:pic>
      <p:sp>
        <p:nvSpPr>
          <p:cNvPr id="73" name="Google Shape;73;p2"/>
          <p:cNvSpPr/>
          <p:nvPr/>
        </p:nvSpPr>
        <p:spPr>
          <a:xfrm>
            <a:off x="1371600" y="5486400"/>
            <a:ext cx="1014984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BE29F"/>
              </a:buClr>
              <a:buSzPts val="1400"/>
              <a:buFont typeface="Poppins"/>
              <a:buNone/>
            </a:pPr>
            <a:r>
              <a:rPr b="1" i="0" lang="en-US" sz="1400" u="none" cap="none" strike="noStrike">
                <a:solidFill>
                  <a:srgbClr val="3BE29F"/>
                </a:solidFill>
                <a:latin typeface="Poppins"/>
                <a:ea typeface="Poppins"/>
                <a:cs typeface="Poppins"/>
                <a:sym typeface="Poppins"/>
              </a:rPr>
              <a:t>Combined media budget:  £60 / day  ≈  £1,824 / month   —   £40/day EmBody and £20/day EmFace in Phase 1.</a:t>
            </a:r>
            <a:endParaRPr b="0" i="0" sz="1400" u="none" cap="none" strike="noStrike">
              <a:solidFill>
                <a:schemeClr val="dk1"/>
              </a:solidFill>
              <a:latin typeface="Calibri"/>
              <a:ea typeface="Calibri"/>
              <a:cs typeface="Calibri"/>
              <a:sym typeface="Calibri"/>
            </a:endParaRPr>
          </a:p>
        </p:txBody>
      </p:sp>
      <p:sp>
        <p:nvSpPr>
          <p:cNvPr id="74" name="Google Shape;74;p2"/>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75" name="Google Shape;75;p2"/>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02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pic>
        <p:nvPicPr>
          <p:cNvPr descr="unpacked/ppt/media/image11.png" id="81" name="Google Shape;81;p3"/>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82" name="Google Shape;82;p3"/>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Audience</a:t>
            </a:r>
            <a:endParaRPr b="0" i="0" sz="1500" u="none" cap="none" strike="noStrike">
              <a:solidFill>
                <a:schemeClr val="dk1"/>
              </a:solidFill>
              <a:latin typeface="Calibri"/>
              <a:ea typeface="Calibri"/>
              <a:cs typeface="Calibri"/>
              <a:sym typeface="Calibri"/>
            </a:endParaRPr>
          </a:p>
        </p:txBody>
      </p:sp>
      <p:sp>
        <p:nvSpPr>
          <p:cNvPr id="83" name="Google Shape;83;p3"/>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EMBODY / EMSCULPT NEO · TARGET AUDIENCE</a:t>
            </a:r>
            <a:endParaRPr b="0" i="0" sz="1250" u="none" cap="none" strike="noStrike">
              <a:solidFill>
                <a:schemeClr val="dk1"/>
              </a:solidFill>
              <a:latin typeface="Calibri"/>
              <a:ea typeface="Calibri"/>
              <a:cs typeface="Calibri"/>
              <a:sym typeface="Calibri"/>
            </a:endParaRPr>
          </a:p>
        </p:txBody>
      </p:sp>
      <p:sp>
        <p:nvSpPr>
          <p:cNvPr id="84" name="Google Shape;84;p3"/>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Who We're Speaking To</a:t>
            </a:r>
            <a:endParaRPr b="0" i="0" sz="3300" u="none" cap="none" strike="noStrike">
              <a:solidFill>
                <a:schemeClr val="dk1"/>
              </a:solidFill>
              <a:latin typeface="Calibri"/>
              <a:ea typeface="Calibri"/>
              <a:cs typeface="Calibri"/>
              <a:sym typeface="Calibri"/>
            </a:endParaRPr>
          </a:p>
        </p:txBody>
      </p:sp>
      <p:sp>
        <p:nvSpPr>
          <p:cNvPr id="85" name="Google Shape;85;p3"/>
          <p:cNvSpPr/>
          <p:nvPr/>
        </p:nvSpPr>
        <p:spPr>
          <a:xfrm>
            <a:off x="502920" y="1993392"/>
            <a:ext cx="1115568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Two body audiences drive this campaign — both non-surgical, both motivated by muscle tone and definition rather than weight. Every ad group and message maps back to one of these personas.</a:t>
            </a:r>
            <a:endParaRPr b="0" i="0" sz="1350" u="none" cap="none" strike="noStrike">
              <a:solidFill>
                <a:schemeClr val="dk1"/>
              </a:solidFill>
              <a:latin typeface="Calibri"/>
              <a:ea typeface="Calibri"/>
              <a:cs typeface="Calibri"/>
              <a:sym typeface="Calibri"/>
            </a:endParaRPr>
          </a:p>
        </p:txBody>
      </p:sp>
      <p:sp>
        <p:nvSpPr>
          <p:cNvPr id="86" name="Google Shape;86;p3"/>
          <p:cNvSpPr/>
          <p:nvPr/>
        </p:nvSpPr>
        <p:spPr>
          <a:xfrm>
            <a:off x="502920" y="2697480"/>
            <a:ext cx="5440680" cy="3429000"/>
          </a:xfrm>
          <a:prstGeom prst="roundRect">
            <a:avLst>
              <a:gd fmla="val 2667"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
          <p:cNvSpPr/>
          <p:nvPr/>
        </p:nvSpPr>
        <p:spPr>
          <a:xfrm>
            <a:off x="813816" y="3026664"/>
            <a:ext cx="786384" cy="786384"/>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_white.png" id="88" name="Google Shape;88;p3"/>
          <p:cNvPicPr preferRelativeResize="0"/>
          <p:nvPr/>
        </p:nvPicPr>
        <p:blipFill rotWithShape="1">
          <a:blip r:embed="rId4">
            <a:alphaModFix/>
          </a:blip>
          <a:srcRect b="0" l="0" r="0" t="0"/>
          <a:stretch/>
        </p:blipFill>
        <p:spPr>
          <a:xfrm>
            <a:off x="1014984" y="3227832"/>
            <a:ext cx="384048" cy="384048"/>
          </a:xfrm>
          <a:prstGeom prst="rect">
            <a:avLst/>
          </a:prstGeom>
          <a:noFill/>
          <a:ln>
            <a:noFill/>
          </a:ln>
        </p:spPr>
      </p:pic>
      <p:sp>
        <p:nvSpPr>
          <p:cNvPr id="89" name="Google Shape;89;p3"/>
          <p:cNvSpPr/>
          <p:nvPr/>
        </p:nvSpPr>
        <p:spPr>
          <a:xfrm>
            <a:off x="1746504" y="3063240"/>
            <a:ext cx="397764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PERSONA 01</a:t>
            </a:r>
            <a:endParaRPr b="0" i="0" sz="1100" u="none" cap="none" strike="noStrike">
              <a:solidFill>
                <a:schemeClr val="dk1"/>
              </a:solidFill>
              <a:latin typeface="Calibri"/>
              <a:ea typeface="Calibri"/>
              <a:cs typeface="Calibri"/>
              <a:sym typeface="Calibri"/>
            </a:endParaRPr>
          </a:p>
        </p:txBody>
      </p:sp>
      <p:sp>
        <p:nvSpPr>
          <p:cNvPr id="90" name="Google Shape;90;p3"/>
          <p:cNvSpPr/>
          <p:nvPr/>
        </p:nvSpPr>
        <p:spPr>
          <a:xfrm>
            <a:off x="1746504" y="3300984"/>
            <a:ext cx="39776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2000"/>
              <a:buFont typeface="Poppins"/>
              <a:buNone/>
            </a:pPr>
            <a:r>
              <a:rPr b="1" i="0" lang="en-US" sz="2000" u="none" cap="none" strike="noStrike">
                <a:solidFill>
                  <a:srgbClr val="2B2E2C"/>
                </a:solidFill>
                <a:latin typeface="Poppins"/>
                <a:ea typeface="Poppins"/>
                <a:cs typeface="Poppins"/>
                <a:sym typeface="Poppins"/>
              </a:rPr>
              <a:t>The Plateaued Trainer</a:t>
            </a:r>
            <a:endParaRPr b="0" i="0" sz="2000" u="none" cap="none" strike="noStrike">
              <a:solidFill>
                <a:schemeClr val="dk1"/>
              </a:solidFill>
              <a:latin typeface="Calibri"/>
              <a:ea typeface="Calibri"/>
              <a:cs typeface="Calibri"/>
              <a:sym typeface="Calibri"/>
            </a:endParaRPr>
          </a:p>
        </p:txBody>
      </p:sp>
      <p:sp>
        <p:nvSpPr>
          <p:cNvPr id="91" name="Google Shape;91;p3"/>
          <p:cNvSpPr/>
          <p:nvPr/>
        </p:nvSpPr>
        <p:spPr>
          <a:xfrm>
            <a:off x="832104" y="4032504"/>
            <a:ext cx="4800600" cy="31089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1150"/>
              <a:buFont typeface="Calibri"/>
              <a:buNone/>
            </a:pPr>
            <a:r>
              <a:rPr b="0" i="1" lang="en-US" sz="1150" u="none" cap="none" strike="noStrike">
                <a:solidFill>
                  <a:srgbClr val="6E7873"/>
                </a:solidFill>
                <a:latin typeface="Calibri"/>
                <a:ea typeface="Calibri"/>
                <a:cs typeface="Calibri"/>
                <a:sym typeface="Calibri"/>
              </a:rPr>
              <a:t>Trains hard · wants definition · 30–50 · men &amp; women</a:t>
            </a:r>
            <a:endParaRPr b="0" i="0" sz="1150" u="none" cap="none" strike="noStrike">
              <a:solidFill>
                <a:schemeClr val="dk1"/>
              </a:solidFill>
              <a:latin typeface="Calibri"/>
              <a:ea typeface="Calibri"/>
              <a:cs typeface="Calibri"/>
              <a:sym typeface="Calibri"/>
            </a:endParaRPr>
          </a:p>
        </p:txBody>
      </p:sp>
      <p:sp>
        <p:nvSpPr>
          <p:cNvPr id="92" name="Google Shape;92;p3"/>
          <p:cNvSpPr/>
          <p:nvPr/>
        </p:nvSpPr>
        <p:spPr>
          <a:xfrm>
            <a:off x="832104" y="4398264"/>
            <a:ext cx="4782312" cy="118872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0000"/>
              </a:lnSpc>
              <a:spcBef>
                <a:spcPts val="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Trains and eats well but has stalled</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Wants visible core and limb definition</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Sceptical of gimmicks; wants evidence</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Attracted to muscle gain, not just contouring</a:t>
            </a:r>
            <a:endParaRPr b="0" i="0" sz="1200" u="none" cap="none" strike="noStrike">
              <a:solidFill>
                <a:schemeClr val="dk1"/>
              </a:solidFill>
              <a:latin typeface="Calibri"/>
              <a:ea typeface="Calibri"/>
              <a:cs typeface="Calibri"/>
              <a:sym typeface="Calibri"/>
            </a:endParaRPr>
          </a:p>
        </p:txBody>
      </p:sp>
      <p:sp>
        <p:nvSpPr>
          <p:cNvPr id="93" name="Google Shape;93;p3"/>
          <p:cNvSpPr/>
          <p:nvPr/>
        </p:nvSpPr>
        <p:spPr>
          <a:xfrm>
            <a:off x="813816" y="5522976"/>
            <a:ext cx="4818888" cy="457200"/>
          </a:xfrm>
          <a:prstGeom prst="roundRect">
            <a:avLst>
              <a:gd fmla="val 14000" name="adj"/>
            </a:avLst>
          </a:prstGeom>
          <a:solidFill>
            <a:srgbClr val="E2F5EF"/>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
          <p:cNvSpPr/>
          <p:nvPr/>
        </p:nvSpPr>
        <p:spPr>
          <a:xfrm>
            <a:off x="813816" y="5522976"/>
            <a:ext cx="481888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1250"/>
              <a:buFont typeface="Poppins"/>
              <a:buNone/>
            </a:pPr>
            <a:r>
              <a:rPr b="1" i="1" lang="en-US" sz="1250" u="none" cap="none" strike="noStrike">
                <a:solidFill>
                  <a:srgbClr val="2B2E2C"/>
                </a:solidFill>
                <a:latin typeface="Poppins"/>
                <a:ea typeface="Poppins"/>
                <a:cs typeface="Poppins"/>
                <a:sym typeface="Poppins"/>
              </a:rPr>
              <a:t>“Past the point training reaches.”</a:t>
            </a:r>
            <a:endParaRPr b="0" i="0" sz="1250" u="none" cap="none" strike="noStrike">
              <a:solidFill>
                <a:schemeClr val="dk1"/>
              </a:solidFill>
              <a:latin typeface="Calibri"/>
              <a:ea typeface="Calibri"/>
              <a:cs typeface="Calibri"/>
              <a:sym typeface="Calibri"/>
            </a:endParaRPr>
          </a:p>
        </p:txBody>
      </p:sp>
      <p:sp>
        <p:nvSpPr>
          <p:cNvPr id="95" name="Google Shape;95;p3"/>
          <p:cNvSpPr/>
          <p:nvPr/>
        </p:nvSpPr>
        <p:spPr>
          <a:xfrm>
            <a:off x="6245352" y="2697480"/>
            <a:ext cx="5440680" cy="3429000"/>
          </a:xfrm>
          <a:prstGeom prst="roundRect">
            <a:avLst>
              <a:gd fmla="val 2667"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3"/>
          <p:cNvSpPr/>
          <p:nvPr/>
        </p:nvSpPr>
        <p:spPr>
          <a:xfrm>
            <a:off x="6556248" y="3026664"/>
            <a:ext cx="786384" cy="786384"/>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award_white.png" id="97" name="Google Shape;97;p3"/>
          <p:cNvPicPr preferRelativeResize="0"/>
          <p:nvPr/>
        </p:nvPicPr>
        <p:blipFill rotWithShape="1">
          <a:blip r:embed="rId5">
            <a:alphaModFix/>
          </a:blip>
          <a:srcRect b="0" l="0" r="0" t="0"/>
          <a:stretch/>
        </p:blipFill>
        <p:spPr>
          <a:xfrm>
            <a:off x="6757416" y="3227832"/>
            <a:ext cx="384048" cy="384048"/>
          </a:xfrm>
          <a:prstGeom prst="rect">
            <a:avLst/>
          </a:prstGeom>
          <a:noFill/>
          <a:ln>
            <a:noFill/>
          </a:ln>
        </p:spPr>
      </p:pic>
      <p:sp>
        <p:nvSpPr>
          <p:cNvPr id="98" name="Google Shape;98;p3"/>
          <p:cNvSpPr/>
          <p:nvPr/>
        </p:nvSpPr>
        <p:spPr>
          <a:xfrm>
            <a:off x="7488936" y="3063240"/>
            <a:ext cx="397764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PERSONA 02</a:t>
            </a:r>
            <a:endParaRPr b="0" i="0" sz="1100" u="none" cap="none" strike="noStrike">
              <a:solidFill>
                <a:schemeClr val="dk1"/>
              </a:solidFill>
              <a:latin typeface="Calibri"/>
              <a:ea typeface="Calibri"/>
              <a:cs typeface="Calibri"/>
              <a:sym typeface="Calibri"/>
            </a:endParaRPr>
          </a:p>
        </p:txBody>
      </p:sp>
      <p:sp>
        <p:nvSpPr>
          <p:cNvPr id="99" name="Google Shape;99;p3"/>
          <p:cNvSpPr/>
          <p:nvPr/>
        </p:nvSpPr>
        <p:spPr>
          <a:xfrm>
            <a:off x="7488936" y="3300984"/>
            <a:ext cx="39776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2000"/>
              <a:buFont typeface="Poppins"/>
              <a:buNone/>
            </a:pPr>
            <a:r>
              <a:rPr b="1" i="0" lang="en-US" sz="2000" u="none" cap="none" strike="noStrike">
                <a:solidFill>
                  <a:srgbClr val="2B2E2C"/>
                </a:solidFill>
                <a:latin typeface="Poppins"/>
                <a:ea typeface="Poppins"/>
                <a:cs typeface="Poppins"/>
                <a:sym typeface="Poppins"/>
              </a:rPr>
              <a:t>The Time-Poor Professional</a:t>
            </a:r>
            <a:endParaRPr b="0" i="0" sz="2000" u="none" cap="none" strike="noStrike">
              <a:solidFill>
                <a:schemeClr val="dk1"/>
              </a:solidFill>
              <a:latin typeface="Calibri"/>
              <a:ea typeface="Calibri"/>
              <a:cs typeface="Calibri"/>
              <a:sym typeface="Calibri"/>
            </a:endParaRPr>
          </a:p>
        </p:txBody>
      </p:sp>
      <p:sp>
        <p:nvSpPr>
          <p:cNvPr id="100" name="Google Shape;100;p3"/>
          <p:cNvSpPr/>
          <p:nvPr/>
        </p:nvSpPr>
        <p:spPr>
          <a:xfrm>
            <a:off x="6574536" y="4032504"/>
            <a:ext cx="4800600" cy="31089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1150"/>
              <a:buFont typeface="Calibri"/>
              <a:buNone/>
            </a:pPr>
            <a:r>
              <a:rPr b="0" i="1" lang="en-US" sz="1150" u="none" cap="none" strike="noStrike">
                <a:solidFill>
                  <a:srgbClr val="6E7873"/>
                </a:solidFill>
                <a:latin typeface="Calibri"/>
                <a:ea typeface="Calibri"/>
                <a:cs typeface="Calibri"/>
                <a:sym typeface="Calibri"/>
              </a:rPr>
              <a:t>No downtime · 30-minute sessions · 35–55 · city-based</a:t>
            </a:r>
            <a:endParaRPr b="0" i="0" sz="1150" u="none" cap="none" strike="noStrike">
              <a:solidFill>
                <a:schemeClr val="dk1"/>
              </a:solidFill>
              <a:latin typeface="Calibri"/>
              <a:ea typeface="Calibri"/>
              <a:cs typeface="Calibri"/>
              <a:sym typeface="Calibri"/>
            </a:endParaRPr>
          </a:p>
        </p:txBody>
      </p:sp>
      <p:sp>
        <p:nvSpPr>
          <p:cNvPr id="101" name="Google Shape;101;p3"/>
          <p:cNvSpPr/>
          <p:nvPr/>
        </p:nvSpPr>
        <p:spPr>
          <a:xfrm>
            <a:off x="6574536" y="4398264"/>
            <a:ext cx="4782312" cy="118872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0000"/>
              </a:lnSpc>
              <a:spcBef>
                <a:spcPts val="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Works in or near the City and Midtown</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Will not take recovery time off work</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Books around lunch breaks and commutes</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Values a clinic, not a high-street salon</a:t>
            </a:r>
            <a:endParaRPr b="0" i="0" sz="1200" u="none" cap="none" strike="noStrike">
              <a:solidFill>
                <a:schemeClr val="dk1"/>
              </a:solidFill>
              <a:latin typeface="Calibri"/>
              <a:ea typeface="Calibri"/>
              <a:cs typeface="Calibri"/>
              <a:sym typeface="Calibri"/>
            </a:endParaRPr>
          </a:p>
        </p:txBody>
      </p:sp>
      <p:sp>
        <p:nvSpPr>
          <p:cNvPr id="102" name="Google Shape;102;p3"/>
          <p:cNvSpPr/>
          <p:nvPr/>
        </p:nvSpPr>
        <p:spPr>
          <a:xfrm>
            <a:off x="6556248" y="5522976"/>
            <a:ext cx="4818888" cy="457200"/>
          </a:xfrm>
          <a:prstGeom prst="roundRect">
            <a:avLst>
              <a:gd fmla="val 14000" name="adj"/>
            </a:avLst>
          </a:prstGeom>
          <a:solidFill>
            <a:srgbClr val="E2F5EF"/>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3"/>
          <p:cNvSpPr/>
          <p:nvPr/>
        </p:nvSpPr>
        <p:spPr>
          <a:xfrm>
            <a:off x="6556248" y="5522976"/>
            <a:ext cx="481888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1250"/>
              <a:buFont typeface="Poppins"/>
              <a:buNone/>
            </a:pPr>
            <a:r>
              <a:rPr b="1" i="1" lang="en-US" sz="1250" u="none" cap="none" strike="noStrike">
                <a:solidFill>
                  <a:srgbClr val="2B2E2C"/>
                </a:solidFill>
                <a:latin typeface="Poppins"/>
                <a:ea typeface="Poppins"/>
                <a:cs typeface="Poppins"/>
                <a:sym typeface="Poppins"/>
              </a:rPr>
              <a:t>“Thirty minutes. No downtime.”</a:t>
            </a:r>
            <a:endParaRPr b="0" i="0" sz="1250" u="none" cap="none" strike="noStrike">
              <a:solidFill>
                <a:schemeClr val="dk1"/>
              </a:solidFill>
              <a:latin typeface="Calibri"/>
              <a:ea typeface="Calibri"/>
              <a:cs typeface="Calibri"/>
              <a:sym typeface="Calibri"/>
            </a:endParaRPr>
          </a:p>
        </p:txBody>
      </p:sp>
      <p:sp>
        <p:nvSpPr>
          <p:cNvPr id="104" name="Google Shape;104;p3"/>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05" name="Google Shape;105;p3"/>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03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pic>
        <p:nvPicPr>
          <p:cNvPr descr="unpacked/ppt/media/image11.png" id="111" name="Google Shape;111;p4"/>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12" name="Google Shape;112;p4"/>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Persona</a:t>
            </a:r>
            <a:endParaRPr b="0" i="0" sz="1500" u="none" cap="none" strike="noStrike">
              <a:solidFill>
                <a:schemeClr val="dk1"/>
              </a:solidFill>
              <a:latin typeface="Calibri"/>
              <a:ea typeface="Calibri"/>
              <a:cs typeface="Calibri"/>
              <a:sym typeface="Calibri"/>
            </a:endParaRPr>
          </a:p>
        </p:txBody>
      </p:sp>
      <p:sp>
        <p:nvSpPr>
          <p:cNvPr id="113" name="Google Shape;113;p4"/>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PERSONA 01 · EMBODY / EMSCULPT NEO</a:t>
            </a:r>
            <a:endParaRPr b="0" i="0" sz="1250" u="none" cap="none" strike="noStrike">
              <a:solidFill>
                <a:schemeClr val="dk1"/>
              </a:solidFill>
              <a:latin typeface="Calibri"/>
              <a:ea typeface="Calibri"/>
              <a:cs typeface="Calibri"/>
              <a:sym typeface="Calibri"/>
            </a:endParaRPr>
          </a:p>
        </p:txBody>
      </p:sp>
      <p:sp>
        <p:nvSpPr>
          <p:cNvPr id="114" name="Google Shape;114;p4"/>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The Plateaued Trainer</a:t>
            </a:r>
            <a:endParaRPr b="0" i="0" sz="3300" u="none" cap="none" strike="noStrike">
              <a:solidFill>
                <a:schemeClr val="dk1"/>
              </a:solidFill>
              <a:latin typeface="Calibri"/>
              <a:ea typeface="Calibri"/>
              <a:cs typeface="Calibri"/>
              <a:sym typeface="Calibri"/>
            </a:endParaRPr>
          </a:p>
        </p:txBody>
      </p:sp>
      <p:sp>
        <p:nvSpPr>
          <p:cNvPr id="115" name="Google Shape;115;p4"/>
          <p:cNvSpPr/>
          <p:nvPr/>
        </p:nvSpPr>
        <p:spPr>
          <a:xfrm>
            <a:off x="502920" y="2011680"/>
            <a:ext cx="11183112" cy="658368"/>
          </a:xfrm>
          <a:prstGeom prst="roundRect">
            <a:avLst>
              <a:gd fmla="val 13889" name="adj"/>
            </a:avLst>
          </a:prstGeom>
          <a:solidFill>
            <a:srgbClr val="1A2620"/>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4"/>
          <p:cNvSpPr/>
          <p:nvPr/>
        </p:nvSpPr>
        <p:spPr>
          <a:xfrm>
            <a:off x="713232" y="2130552"/>
            <a:ext cx="420624" cy="420624"/>
          </a:xfrm>
          <a:prstGeom prst="ellipse">
            <a:avLst/>
          </a:prstGeom>
          <a:solidFill>
            <a:srgbClr val="3BE2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_dark.png" id="117" name="Google Shape;117;p4"/>
          <p:cNvPicPr preferRelativeResize="0"/>
          <p:nvPr/>
        </p:nvPicPr>
        <p:blipFill rotWithShape="1">
          <a:blip r:embed="rId4">
            <a:alphaModFix/>
          </a:blip>
          <a:srcRect b="0" l="0" r="0" t="0"/>
          <a:stretch/>
        </p:blipFill>
        <p:spPr>
          <a:xfrm>
            <a:off x="813816" y="2231136"/>
            <a:ext cx="219456" cy="219456"/>
          </a:xfrm>
          <a:prstGeom prst="rect">
            <a:avLst/>
          </a:prstGeom>
          <a:noFill/>
          <a:ln>
            <a:noFill/>
          </a:ln>
        </p:spPr>
      </p:pic>
      <p:sp>
        <p:nvSpPr>
          <p:cNvPr id="118" name="Google Shape;118;p4"/>
          <p:cNvSpPr/>
          <p:nvPr/>
        </p:nvSpPr>
        <p:spPr>
          <a:xfrm>
            <a:off x="1325880" y="2011680"/>
            <a:ext cx="78638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Poppins"/>
              <a:buNone/>
            </a:pPr>
            <a:r>
              <a:rPr b="1" i="1" lang="en-US" sz="1600" u="none" cap="none" strike="noStrike">
                <a:solidFill>
                  <a:srgbClr val="FFFFFF"/>
                </a:solidFill>
                <a:latin typeface="Poppins"/>
                <a:ea typeface="Poppins"/>
                <a:cs typeface="Poppins"/>
                <a:sym typeface="Poppins"/>
              </a:rPr>
              <a:t>“Past the point training reaches.”</a:t>
            </a:r>
            <a:endParaRPr b="0" i="0" sz="1600" u="none" cap="none" strike="noStrike">
              <a:solidFill>
                <a:schemeClr val="dk1"/>
              </a:solidFill>
              <a:latin typeface="Calibri"/>
              <a:ea typeface="Calibri"/>
              <a:cs typeface="Calibri"/>
              <a:sym typeface="Calibri"/>
            </a:endParaRPr>
          </a:p>
        </p:txBody>
      </p:sp>
      <p:sp>
        <p:nvSpPr>
          <p:cNvPr id="119" name="Google Shape;119;p4"/>
          <p:cNvSpPr/>
          <p:nvPr/>
        </p:nvSpPr>
        <p:spPr>
          <a:xfrm>
            <a:off x="9052560" y="2011680"/>
            <a:ext cx="2423160" cy="65836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Age 30–50</a:t>
            </a:r>
            <a:endParaRPr b="0" i="0" sz="1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Men &amp; women</a:t>
            </a:r>
            <a:endParaRPr b="0" i="0" sz="1200" u="none" cap="none" strike="noStrike">
              <a:solidFill>
                <a:schemeClr val="dk1"/>
              </a:solidFill>
              <a:latin typeface="Calibri"/>
              <a:ea typeface="Calibri"/>
              <a:cs typeface="Calibri"/>
              <a:sym typeface="Calibri"/>
            </a:endParaRPr>
          </a:p>
        </p:txBody>
      </p:sp>
      <p:sp>
        <p:nvSpPr>
          <p:cNvPr id="120" name="Google Shape;120;p4"/>
          <p:cNvSpPr/>
          <p:nvPr/>
        </p:nvSpPr>
        <p:spPr>
          <a:xfrm>
            <a:off x="502920"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4"/>
          <p:cNvSpPr/>
          <p:nvPr/>
        </p:nvSpPr>
        <p:spPr>
          <a:xfrm>
            <a:off x="777240" y="3127248"/>
            <a:ext cx="548640" cy="548640"/>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list_white.png" id="122" name="Google Shape;122;p4"/>
          <p:cNvPicPr preferRelativeResize="0"/>
          <p:nvPr/>
        </p:nvPicPr>
        <p:blipFill rotWithShape="1">
          <a:blip r:embed="rId5">
            <a:alphaModFix/>
          </a:blip>
          <a:srcRect b="0" l="0" r="0" t="0"/>
          <a:stretch/>
        </p:blipFill>
        <p:spPr>
          <a:xfrm>
            <a:off x="914400" y="3264408"/>
            <a:ext cx="274320" cy="274320"/>
          </a:xfrm>
          <a:prstGeom prst="rect">
            <a:avLst/>
          </a:prstGeom>
          <a:noFill/>
          <a:ln>
            <a:noFill/>
          </a:ln>
        </p:spPr>
      </p:pic>
      <p:sp>
        <p:nvSpPr>
          <p:cNvPr id="123" name="Google Shape;123;p4"/>
          <p:cNvSpPr/>
          <p:nvPr/>
        </p:nvSpPr>
        <p:spPr>
          <a:xfrm>
            <a:off x="1453896" y="3127248"/>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Lifestyle Traits</a:t>
            </a:r>
            <a:endParaRPr b="0" i="0" sz="1500" u="none" cap="none" strike="noStrike">
              <a:solidFill>
                <a:schemeClr val="dk1"/>
              </a:solidFill>
              <a:latin typeface="Calibri"/>
              <a:ea typeface="Calibri"/>
              <a:cs typeface="Calibri"/>
              <a:sym typeface="Calibri"/>
            </a:endParaRPr>
          </a:p>
        </p:txBody>
      </p:sp>
      <p:sp>
        <p:nvSpPr>
          <p:cNvPr id="124" name="Google Shape;124;p4"/>
          <p:cNvSpPr/>
          <p:nvPr/>
        </p:nvSpPr>
        <p:spPr>
          <a:xfrm>
            <a:off x="813816" y="3730752"/>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Gym or studio 3–5 times a week</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Tracks progress and reads the science</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Short on time for longer protocols</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Already spends on health and training</a:t>
            </a:r>
            <a:endParaRPr b="0" i="0" sz="1100" u="none" cap="none" strike="noStrike">
              <a:solidFill>
                <a:schemeClr val="dk1"/>
              </a:solidFill>
              <a:latin typeface="Calibri"/>
              <a:ea typeface="Calibri"/>
              <a:cs typeface="Calibri"/>
              <a:sym typeface="Calibri"/>
            </a:endParaRPr>
          </a:p>
        </p:txBody>
      </p:sp>
      <p:sp>
        <p:nvSpPr>
          <p:cNvPr id="125" name="Google Shape;125;p4"/>
          <p:cNvSpPr/>
          <p:nvPr/>
        </p:nvSpPr>
        <p:spPr>
          <a:xfrm>
            <a:off x="6245352"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4"/>
          <p:cNvSpPr/>
          <p:nvPr/>
        </p:nvSpPr>
        <p:spPr>
          <a:xfrm>
            <a:off x="6519672" y="3127248"/>
            <a:ext cx="548640" cy="54864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target_white.png" id="127" name="Google Shape;127;p4"/>
          <p:cNvPicPr preferRelativeResize="0"/>
          <p:nvPr/>
        </p:nvPicPr>
        <p:blipFill rotWithShape="1">
          <a:blip r:embed="rId6">
            <a:alphaModFix/>
          </a:blip>
          <a:srcRect b="0" l="0" r="0" t="0"/>
          <a:stretch/>
        </p:blipFill>
        <p:spPr>
          <a:xfrm>
            <a:off x="6656832" y="3264408"/>
            <a:ext cx="274320" cy="274320"/>
          </a:xfrm>
          <a:prstGeom prst="rect">
            <a:avLst/>
          </a:prstGeom>
          <a:noFill/>
          <a:ln>
            <a:noFill/>
          </a:ln>
        </p:spPr>
      </p:pic>
      <p:sp>
        <p:nvSpPr>
          <p:cNvPr id="128" name="Google Shape;128;p4"/>
          <p:cNvSpPr/>
          <p:nvPr/>
        </p:nvSpPr>
        <p:spPr>
          <a:xfrm>
            <a:off x="7196328" y="3127248"/>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Goals</a:t>
            </a:r>
            <a:endParaRPr b="0" i="0" sz="1500" u="none" cap="none" strike="noStrike">
              <a:solidFill>
                <a:schemeClr val="dk1"/>
              </a:solidFill>
              <a:latin typeface="Calibri"/>
              <a:ea typeface="Calibri"/>
              <a:cs typeface="Calibri"/>
              <a:sym typeface="Calibri"/>
            </a:endParaRPr>
          </a:p>
        </p:txBody>
      </p:sp>
      <p:sp>
        <p:nvSpPr>
          <p:cNvPr id="129" name="Google Shape;129;p4"/>
          <p:cNvSpPr/>
          <p:nvPr/>
        </p:nvSpPr>
        <p:spPr>
          <a:xfrm>
            <a:off x="6556248" y="3730752"/>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Visible abdominal and limb definition</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Break through a training plateau</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Strengthen the core measurably</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Results that complement training</a:t>
            </a:r>
            <a:endParaRPr b="0" i="0" sz="1100" u="none" cap="none" strike="noStrike">
              <a:solidFill>
                <a:schemeClr val="dk1"/>
              </a:solidFill>
              <a:latin typeface="Calibri"/>
              <a:ea typeface="Calibri"/>
              <a:cs typeface="Calibri"/>
              <a:sym typeface="Calibri"/>
            </a:endParaRPr>
          </a:p>
        </p:txBody>
      </p:sp>
      <p:sp>
        <p:nvSpPr>
          <p:cNvPr id="130" name="Google Shape;130;p4"/>
          <p:cNvSpPr/>
          <p:nvPr/>
        </p:nvSpPr>
        <p:spPr>
          <a:xfrm>
            <a:off x="502920"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4"/>
          <p:cNvSpPr/>
          <p:nvPr/>
        </p:nvSpPr>
        <p:spPr>
          <a:xfrm>
            <a:off x="777240" y="4974336"/>
            <a:ext cx="548640" cy="548640"/>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warning_white.png" id="132" name="Google Shape;132;p4"/>
          <p:cNvPicPr preferRelativeResize="0"/>
          <p:nvPr/>
        </p:nvPicPr>
        <p:blipFill rotWithShape="1">
          <a:blip r:embed="rId7">
            <a:alphaModFix/>
          </a:blip>
          <a:srcRect b="0" l="0" r="0" t="0"/>
          <a:stretch/>
        </p:blipFill>
        <p:spPr>
          <a:xfrm>
            <a:off x="914400" y="5111496"/>
            <a:ext cx="274320" cy="274320"/>
          </a:xfrm>
          <a:prstGeom prst="rect">
            <a:avLst/>
          </a:prstGeom>
          <a:noFill/>
          <a:ln>
            <a:noFill/>
          </a:ln>
        </p:spPr>
      </p:pic>
      <p:sp>
        <p:nvSpPr>
          <p:cNvPr id="133" name="Google Shape;133;p4"/>
          <p:cNvSpPr/>
          <p:nvPr/>
        </p:nvSpPr>
        <p:spPr>
          <a:xfrm>
            <a:off x="1453896" y="4974336"/>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Pain Points</a:t>
            </a:r>
            <a:endParaRPr b="0" i="0" sz="1500" u="none" cap="none" strike="noStrike">
              <a:solidFill>
                <a:schemeClr val="dk1"/>
              </a:solidFill>
              <a:latin typeface="Calibri"/>
              <a:ea typeface="Calibri"/>
              <a:cs typeface="Calibri"/>
              <a:sym typeface="Calibri"/>
            </a:endParaRPr>
          </a:p>
        </p:txBody>
      </p:sp>
      <p:sp>
        <p:nvSpPr>
          <p:cNvPr id="134" name="Google Shape;134;p4"/>
          <p:cNvSpPr/>
          <p:nvPr/>
        </p:nvSpPr>
        <p:spPr>
          <a:xfrm>
            <a:off x="813816" y="5577840"/>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Effort no longer changes the mirror</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Distrust of over-claimed devices</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Unsure how many sessions are needed</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Worried it is a short-lived result</a:t>
            </a:r>
            <a:endParaRPr b="0" i="0" sz="1100" u="none" cap="none" strike="noStrike">
              <a:solidFill>
                <a:schemeClr val="dk1"/>
              </a:solidFill>
              <a:latin typeface="Calibri"/>
              <a:ea typeface="Calibri"/>
              <a:cs typeface="Calibri"/>
              <a:sym typeface="Calibri"/>
            </a:endParaRPr>
          </a:p>
        </p:txBody>
      </p:sp>
      <p:sp>
        <p:nvSpPr>
          <p:cNvPr id="135" name="Google Shape;135;p4"/>
          <p:cNvSpPr/>
          <p:nvPr/>
        </p:nvSpPr>
        <p:spPr>
          <a:xfrm>
            <a:off x="6245352"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4"/>
          <p:cNvSpPr/>
          <p:nvPr/>
        </p:nvSpPr>
        <p:spPr>
          <a:xfrm>
            <a:off x="6519672" y="4974336"/>
            <a:ext cx="548640" cy="54864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olt_white.png" id="137" name="Google Shape;137;p4"/>
          <p:cNvPicPr preferRelativeResize="0"/>
          <p:nvPr/>
        </p:nvPicPr>
        <p:blipFill rotWithShape="1">
          <a:blip r:embed="rId8">
            <a:alphaModFix/>
          </a:blip>
          <a:srcRect b="0" l="0" r="0" t="0"/>
          <a:stretch/>
        </p:blipFill>
        <p:spPr>
          <a:xfrm>
            <a:off x="6656832" y="5111496"/>
            <a:ext cx="274320" cy="274320"/>
          </a:xfrm>
          <a:prstGeom prst="rect">
            <a:avLst/>
          </a:prstGeom>
          <a:noFill/>
          <a:ln>
            <a:noFill/>
          </a:ln>
        </p:spPr>
      </p:pic>
      <p:sp>
        <p:nvSpPr>
          <p:cNvPr id="138" name="Google Shape;138;p4"/>
          <p:cNvSpPr/>
          <p:nvPr/>
        </p:nvSpPr>
        <p:spPr>
          <a:xfrm>
            <a:off x="7196328" y="4974336"/>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Motivators</a:t>
            </a:r>
            <a:endParaRPr b="0" i="0" sz="1500" u="none" cap="none" strike="noStrike">
              <a:solidFill>
                <a:schemeClr val="dk1"/>
              </a:solidFill>
              <a:latin typeface="Calibri"/>
              <a:ea typeface="Calibri"/>
              <a:cs typeface="Calibri"/>
              <a:sym typeface="Calibri"/>
            </a:endParaRPr>
          </a:p>
        </p:txBody>
      </p:sp>
      <p:sp>
        <p:nvSpPr>
          <p:cNvPr id="139" name="Google Shape;139;p4"/>
          <p:cNvSpPr/>
          <p:nvPr/>
        </p:nvSpPr>
        <p:spPr>
          <a:xfrm>
            <a:off x="6556248" y="5577840"/>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HIFEM + RF in one 30-minute session</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Course of four, 5–10 days apart</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Dermatology-led, CQC-regulated clinic</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Measured, medically supervised plan</a:t>
            </a:r>
            <a:endParaRPr b="0" i="0" sz="1100" u="none" cap="none" strike="noStrike">
              <a:solidFill>
                <a:schemeClr val="dk1"/>
              </a:solidFill>
              <a:latin typeface="Calibri"/>
              <a:ea typeface="Calibri"/>
              <a:cs typeface="Calibri"/>
              <a:sym typeface="Calibri"/>
            </a:endParaRPr>
          </a:p>
        </p:txBody>
      </p:sp>
      <p:sp>
        <p:nvSpPr>
          <p:cNvPr id="140" name="Google Shape;140;p4"/>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41" name="Google Shape;141;p4"/>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04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pic>
        <p:nvPicPr>
          <p:cNvPr descr="unpacked/ppt/media/image11.png" id="147" name="Google Shape;147;p5"/>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48" name="Google Shape;148;p5"/>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Persona</a:t>
            </a:r>
            <a:endParaRPr b="0" i="0" sz="1500" u="none" cap="none" strike="noStrike">
              <a:solidFill>
                <a:schemeClr val="dk1"/>
              </a:solidFill>
              <a:latin typeface="Calibri"/>
              <a:ea typeface="Calibri"/>
              <a:cs typeface="Calibri"/>
              <a:sym typeface="Calibri"/>
            </a:endParaRPr>
          </a:p>
        </p:txBody>
      </p:sp>
      <p:sp>
        <p:nvSpPr>
          <p:cNvPr id="149" name="Google Shape;149;p5"/>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PERSONA 02 · EMBODY / EMSCULPT NEO</a:t>
            </a:r>
            <a:endParaRPr b="0" i="0" sz="1250" u="none" cap="none" strike="noStrike">
              <a:solidFill>
                <a:schemeClr val="dk1"/>
              </a:solidFill>
              <a:latin typeface="Calibri"/>
              <a:ea typeface="Calibri"/>
              <a:cs typeface="Calibri"/>
              <a:sym typeface="Calibri"/>
            </a:endParaRPr>
          </a:p>
        </p:txBody>
      </p:sp>
      <p:sp>
        <p:nvSpPr>
          <p:cNvPr id="150" name="Google Shape;150;p5"/>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The Time-Poor Professional</a:t>
            </a:r>
            <a:endParaRPr b="0" i="0" sz="3300" u="none" cap="none" strike="noStrike">
              <a:solidFill>
                <a:schemeClr val="dk1"/>
              </a:solidFill>
              <a:latin typeface="Calibri"/>
              <a:ea typeface="Calibri"/>
              <a:cs typeface="Calibri"/>
              <a:sym typeface="Calibri"/>
            </a:endParaRPr>
          </a:p>
        </p:txBody>
      </p:sp>
      <p:sp>
        <p:nvSpPr>
          <p:cNvPr id="151" name="Google Shape;151;p5"/>
          <p:cNvSpPr/>
          <p:nvPr/>
        </p:nvSpPr>
        <p:spPr>
          <a:xfrm>
            <a:off x="502920" y="2011680"/>
            <a:ext cx="11183112" cy="658368"/>
          </a:xfrm>
          <a:prstGeom prst="roundRect">
            <a:avLst>
              <a:gd fmla="val 13889" name="adj"/>
            </a:avLst>
          </a:prstGeom>
          <a:solidFill>
            <a:srgbClr val="16A879"/>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5"/>
          <p:cNvSpPr/>
          <p:nvPr/>
        </p:nvSpPr>
        <p:spPr>
          <a:xfrm>
            <a:off x="713232" y="2130552"/>
            <a:ext cx="420624" cy="420624"/>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award_green.png" id="153" name="Google Shape;153;p5"/>
          <p:cNvPicPr preferRelativeResize="0"/>
          <p:nvPr/>
        </p:nvPicPr>
        <p:blipFill rotWithShape="1">
          <a:blip r:embed="rId4">
            <a:alphaModFix/>
          </a:blip>
          <a:srcRect b="0" l="0" r="0" t="0"/>
          <a:stretch/>
        </p:blipFill>
        <p:spPr>
          <a:xfrm>
            <a:off x="813816" y="2231136"/>
            <a:ext cx="219456" cy="219456"/>
          </a:xfrm>
          <a:prstGeom prst="rect">
            <a:avLst/>
          </a:prstGeom>
          <a:noFill/>
          <a:ln>
            <a:noFill/>
          </a:ln>
        </p:spPr>
      </p:pic>
      <p:sp>
        <p:nvSpPr>
          <p:cNvPr id="154" name="Google Shape;154;p5"/>
          <p:cNvSpPr/>
          <p:nvPr/>
        </p:nvSpPr>
        <p:spPr>
          <a:xfrm>
            <a:off x="1325880" y="2011680"/>
            <a:ext cx="78638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620"/>
              </a:buClr>
              <a:buSzPts val="1600"/>
              <a:buFont typeface="Poppins"/>
              <a:buNone/>
            </a:pPr>
            <a:r>
              <a:rPr b="1" i="1" lang="en-US" sz="1600" u="none" cap="none" strike="noStrike">
                <a:solidFill>
                  <a:srgbClr val="1A2620"/>
                </a:solidFill>
                <a:latin typeface="Poppins"/>
                <a:ea typeface="Poppins"/>
                <a:cs typeface="Poppins"/>
                <a:sym typeface="Poppins"/>
              </a:rPr>
              <a:t>“Thirty minutes. No downtime.”</a:t>
            </a:r>
            <a:endParaRPr b="0" i="0" sz="1600" u="none" cap="none" strike="noStrike">
              <a:solidFill>
                <a:schemeClr val="dk1"/>
              </a:solidFill>
              <a:latin typeface="Calibri"/>
              <a:ea typeface="Calibri"/>
              <a:cs typeface="Calibri"/>
              <a:sym typeface="Calibri"/>
            </a:endParaRPr>
          </a:p>
        </p:txBody>
      </p:sp>
      <p:sp>
        <p:nvSpPr>
          <p:cNvPr id="155" name="Google Shape;155;p5"/>
          <p:cNvSpPr/>
          <p:nvPr/>
        </p:nvSpPr>
        <p:spPr>
          <a:xfrm>
            <a:off x="9052560" y="2011680"/>
            <a:ext cx="2423160" cy="65836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A2620"/>
              </a:buClr>
              <a:buSzPts val="1200"/>
              <a:buFont typeface="Poppins"/>
              <a:buNone/>
            </a:pPr>
            <a:r>
              <a:rPr b="1" i="0" lang="en-US" sz="1200" u="none" cap="none" strike="noStrike">
                <a:solidFill>
                  <a:srgbClr val="1A2620"/>
                </a:solidFill>
                <a:latin typeface="Poppins"/>
                <a:ea typeface="Poppins"/>
                <a:cs typeface="Poppins"/>
                <a:sym typeface="Poppins"/>
              </a:rPr>
              <a:t>Age 35–55</a:t>
            </a:r>
            <a:endParaRPr b="0" i="0" sz="1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1A2620"/>
              </a:buClr>
              <a:buSzPts val="1200"/>
              <a:buFont typeface="Poppins"/>
              <a:buNone/>
            </a:pPr>
            <a:r>
              <a:rPr b="1" i="0" lang="en-US" sz="1200" u="none" cap="none" strike="noStrike">
                <a:solidFill>
                  <a:srgbClr val="1A2620"/>
                </a:solidFill>
                <a:latin typeface="Poppins"/>
                <a:ea typeface="Poppins"/>
                <a:cs typeface="Poppins"/>
                <a:sym typeface="Poppins"/>
              </a:rPr>
              <a:t>City professional</a:t>
            </a:r>
            <a:endParaRPr b="0" i="0" sz="1200" u="none" cap="none" strike="noStrike">
              <a:solidFill>
                <a:schemeClr val="dk1"/>
              </a:solidFill>
              <a:latin typeface="Calibri"/>
              <a:ea typeface="Calibri"/>
              <a:cs typeface="Calibri"/>
              <a:sym typeface="Calibri"/>
            </a:endParaRPr>
          </a:p>
        </p:txBody>
      </p:sp>
      <p:sp>
        <p:nvSpPr>
          <p:cNvPr id="156" name="Google Shape;156;p5"/>
          <p:cNvSpPr/>
          <p:nvPr/>
        </p:nvSpPr>
        <p:spPr>
          <a:xfrm>
            <a:off x="502920"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5"/>
          <p:cNvSpPr/>
          <p:nvPr/>
        </p:nvSpPr>
        <p:spPr>
          <a:xfrm>
            <a:off x="777240" y="3127248"/>
            <a:ext cx="548640" cy="548640"/>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list_white.png" id="158" name="Google Shape;158;p5"/>
          <p:cNvPicPr preferRelativeResize="0"/>
          <p:nvPr/>
        </p:nvPicPr>
        <p:blipFill rotWithShape="1">
          <a:blip r:embed="rId5">
            <a:alphaModFix/>
          </a:blip>
          <a:srcRect b="0" l="0" r="0" t="0"/>
          <a:stretch/>
        </p:blipFill>
        <p:spPr>
          <a:xfrm>
            <a:off x="914400" y="3264408"/>
            <a:ext cx="274320" cy="274320"/>
          </a:xfrm>
          <a:prstGeom prst="rect">
            <a:avLst/>
          </a:prstGeom>
          <a:noFill/>
          <a:ln>
            <a:noFill/>
          </a:ln>
        </p:spPr>
      </p:pic>
      <p:sp>
        <p:nvSpPr>
          <p:cNvPr id="159" name="Google Shape;159;p5"/>
          <p:cNvSpPr/>
          <p:nvPr/>
        </p:nvSpPr>
        <p:spPr>
          <a:xfrm>
            <a:off x="1453896" y="3127248"/>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Lifestyle Traits</a:t>
            </a:r>
            <a:endParaRPr b="0" i="0" sz="1500" u="none" cap="none" strike="noStrike">
              <a:solidFill>
                <a:schemeClr val="dk1"/>
              </a:solidFill>
              <a:latin typeface="Calibri"/>
              <a:ea typeface="Calibri"/>
              <a:cs typeface="Calibri"/>
              <a:sym typeface="Calibri"/>
            </a:endParaRPr>
          </a:p>
        </p:txBody>
      </p:sp>
      <p:sp>
        <p:nvSpPr>
          <p:cNvPr id="160" name="Google Shape;160;p5"/>
          <p:cNvSpPr/>
          <p:nvPr/>
        </p:nvSpPr>
        <p:spPr>
          <a:xfrm>
            <a:off x="813816" y="3730752"/>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Long hours; travels for work</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Books treatments near the office</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Pays for convenience and discretion</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Wants one clear plan, not a hard sell</a:t>
            </a:r>
            <a:endParaRPr b="0" i="0" sz="1100" u="none" cap="none" strike="noStrike">
              <a:solidFill>
                <a:schemeClr val="dk1"/>
              </a:solidFill>
              <a:latin typeface="Calibri"/>
              <a:ea typeface="Calibri"/>
              <a:cs typeface="Calibri"/>
              <a:sym typeface="Calibri"/>
            </a:endParaRPr>
          </a:p>
        </p:txBody>
      </p:sp>
      <p:sp>
        <p:nvSpPr>
          <p:cNvPr id="161" name="Google Shape;161;p5"/>
          <p:cNvSpPr/>
          <p:nvPr/>
        </p:nvSpPr>
        <p:spPr>
          <a:xfrm>
            <a:off x="6245352"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5"/>
          <p:cNvSpPr/>
          <p:nvPr/>
        </p:nvSpPr>
        <p:spPr>
          <a:xfrm>
            <a:off x="6519672" y="3127248"/>
            <a:ext cx="548640" cy="54864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target_white.png" id="163" name="Google Shape;163;p5"/>
          <p:cNvPicPr preferRelativeResize="0"/>
          <p:nvPr/>
        </p:nvPicPr>
        <p:blipFill rotWithShape="1">
          <a:blip r:embed="rId6">
            <a:alphaModFix/>
          </a:blip>
          <a:srcRect b="0" l="0" r="0" t="0"/>
          <a:stretch/>
        </p:blipFill>
        <p:spPr>
          <a:xfrm>
            <a:off x="6656832" y="3264408"/>
            <a:ext cx="274320" cy="274320"/>
          </a:xfrm>
          <a:prstGeom prst="rect">
            <a:avLst/>
          </a:prstGeom>
          <a:noFill/>
          <a:ln>
            <a:noFill/>
          </a:ln>
        </p:spPr>
      </p:pic>
      <p:sp>
        <p:nvSpPr>
          <p:cNvPr id="164" name="Google Shape;164;p5"/>
          <p:cNvSpPr/>
          <p:nvPr/>
        </p:nvSpPr>
        <p:spPr>
          <a:xfrm>
            <a:off x="7196328" y="3127248"/>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Goals</a:t>
            </a:r>
            <a:endParaRPr b="0" i="0" sz="1500" u="none" cap="none" strike="noStrike">
              <a:solidFill>
                <a:schemeClr val="dk1"/>
              </a:solidFill>
              <a:latin typeface="Calibri"/>
              <a:ea typeface="Calibri"/>
              <a:cs typeface="Calibri"/>
              <a:sym typeface="Calibri"/>
            </a:endParaRPr>
          </a:p>
        </p:txBody>
      </p:sp>
      <p:sp>
        <p:nvSpPr>
          <p:cNvPr id="165" name="Google Shape;165;p5"/>
          <p:cNvSpPr/>
          <p:nvPr/>
        </p:nvSpPr>
        <p:spPr>
          <a:xfrm>
            <a:off x="6556248" y="3730752"/>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Visible change without taking leave</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Appointments that fit a working day</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predictable course with set dates</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clinic they can trust and return to</a:t>
            </a:r>
            <a:endParaRPr b="0" i="0" sz="1100" u="none" cap="none" strike="noStrike">
              <a:solidFill>
                <a:schemeClr val="dk1"/>
              </a:solidFill>
              <a:latin typeface="Calibri"/>
              <a:ea typeface="Calibri"/>
              <a:cs typeface="Calibri"/>
              <a:sym typeface="Calibri"/>
            </a:endParaRPr>
          </a:p>
        </p:txBody>
      </p:sp>
      <p:sp>
        <p:nvSpPr>
          <p:cNvPr id="166" name="Google Shape;166;p5"/>
          <p:cNvSpPr/>
          <p:nvPr/>
        </p:nvSpPr>
        <p:spPr>
          <a:xfrm>
            <a:off x="502920"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5"/>
          <p:cNvSpPr/>
          <p:nvPr/>
        </p:nvSpPr>
        <p:spPr>
          <a:xfrm>
            <a:off x="777240" y="4974336"/>
            <a:ext cx="548640" cy="548640"/>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warning_white.png" id="168" name="Google Shape;168;p5"/>
          <p:cNvPicPr preferRelativeResize="0"/>
          <p:nvPr/>
        </p:nvPicPr>
        <p:blipFill rotWithShape="1">
          <a:blip r:embed="rId7">
            <a:alphaModFix/>
          </a:blip>
          <a:srcRect b="0" l="0" r="0" t="0"/>
          <a:stretch/>
        </p:blipFill>
        <p:spPr>
          <a:xfrm>
            <a:off x="914400" y="5111496"/>
            <a:ext cx="274320" cy="274320"/>
          </a:xfrm>
          <a:prstGeom prst="rect">
            <a:avLst/>
          </a:prstGeom>
          <a:noFill/>
          <a:ln>
            <a:noFill/>
          </a:ln>
        </p:spPr>
      </p:pic>
      <p:sp>
        <p:nvSpPr>
          <p:cNvPr id="169" name="Google Shape;169;p5"/>
          <p:cNvSpPr/>
          <p:nvPr/>
        </p:nvSpPr>
        <p:spPr>
          <a:xfrm>
            <a:off x="1453896" y="4974336"/>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Pain Points</a:t>
            </a:r>
            <a:endParaRPr b="0" i="0" sz="1500" u="none" cap="none" strike="noStrike">
              <a:solidFill>
                <a:schemeClr val="dk1"/>
              </a:solidFill>
              <a:latin typeface="Calibri"/>
              <a:ea typeface="Calibri"/>
              <a:cs typeface="Calibri"/>
              <a:sym typeface="Calibri"/>
            </a:endParaRPr>
          </a:p>
        </p:txBody>
      </p:sp>
      <p:sp>
        <p:nvSpPr>
          <p:cNvPr id="170" name="Google Shape;170;p5"/>
          <p:cNvSpPr/>
          <p:nvPr/>
        </p:nvSpPr>
        <p:spPr>
          <a:xfrm>
            <a:off x="813816" y="5577840"/>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No time for surgical recovery</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Nervous about clinics that oversell</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Hard to compare non-surgical options</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Needs evening or early appointments</a:t>
            </a:r>
            <a:endParaRPr b="0" i="0" sz="1100" u="none" cap="none" strike="noStrike">
              <a:solidFill>
                <a:schemeClr val="dk1"/>
              </a:solidFill>
              <a:latin typeface="Calibri"/>
              <a:ea typeface="Calibri"/>
              <a:cs typeface="Calibri"/>
              <a:sym typeface="Calibri"/>
            </a:endParaRPr>
          </a:p>
        </p:txBody>
      </p:sp>
      <p:sp>
        <p:nvSpPr>
          <p:cNvPr id="171" name="Google Shape;171;p5"/>
          <p:cNvSpPr/>
          <p:nvPr/>
        </p:nvSpPr>
        <p:spPr>
          <a:xfrm>
            <a:off x="6245352"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5"/>
          <p:cNvSpPr/>
          <p:nvPr/>
        </p:nvSpPr>
        <p:spPr>
          <a:xfrm>
            <a:off x="6519672" y="4974336"/>
            <a:ext cx="548640" cy="54864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olt_white.png" id="173" name="Google Shape;173;p5"/>
          <p:cNvPicPr preferRelativeResize="0"/>
          <p:nvPr/>
        </p:nvPicPr>
        <p:blipFill rotWithShape="1">
          <a:blip r:embed="rId8">
            <a:alphaModFix/>
          </a:blip>
          <a:srcRect b="0" l="0" r="0" t="0"/>
          <a:stretch/>
        </p:blipFill>
        <p:spPr>
          <a:xfrm>
            <a:off x="6656832" y="5111496"/>
            <a:ext cx="274320" cy="274320"/>
          </a:xfrm>
          <a:prstGeom prst="rect">
            <a:avLst/>
          </a:prstGeom>
          <a:noFill/>
          <a:ln>
            <a:noFill/>
          </a:ln>
        </p:spPr>
      </p:pic>
      <p:sp>
        <p:nvSpPr>
          <p:cNvPr id="174" name="Google Shape;174;p5"/>
          <p:cNvSpPr/>
          <p:nvPr/>
        </p:nvSpPr>
        <p:spPr>
          <a:xfrm>
            <a:off x="7196328" y="4974336"/>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Motivators</a:t>
            </a:r>
            <a:endParaRPr b="0" i="0" sz="1500" u="none" cap="none" strike="noStrike">
              <a:solidFill>
                <a:schemeClr val="dk1"/>
              </a:solidFill>
              <a:latin typeface="Calibri"/>
              <a:ea typeface="Calibri"/>
              <a:cs typeface="Calibri"/>
              <a:sym typeface="Calibri"/>
            </a:endParaRPr>
          </a:p>
        </p:txBody>
      </p:sp>
      <p:sp>
        <p:nvSpPr>
          <p:cNvPr id="175" name="Google Shape;175;p5"/>
          <p:cNvSpPr/>
          <p:nvPr/>
        </p:nvSpPr>
        <p:spPr>
          <a:xfrm>
            <a:off x="6556248" y="5577840"/>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30-minute sessions, no downtime</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233 High Holborn — walkable from the City</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Dermatology-led and CQC-regulated</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Monthly payment options available</a:t>
            </a:r>
            <a:endParaRPr b="0" i="0" sz="1100" u="none" cap="none" strike="noStrike">
              <a:solidFill>
                <a:schemeClr val="dk1"/>
              </a:solidFill>
              <a:latin typeface="Calibri"/>
              <a:ea typeface="Calibri"/>
              <a:cs typeface="Calibri"/>
              <a:sym typeface="Calibri"/>
            </a:endParaRPr>
          </a:p>
        </p:txBody>
      </p:sp>
      <p:sp>
        <p:nvSpPr>
          <p:cNvPr id="176" name="Google Shape;176;p5"/>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77" name="Google Shape;177;p5"/>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05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pic>
        <p:nvPicPr>
          <p:cNvPr descr="unpacked/ppt/media/image11.png" id="183" name="Google Shape;183;p6"/>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84" name="Google Shape;184;p6"/>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Keywords</a:t>
            </a:r>
            <a:endParaRPr b="0" i="0" sz="1500" u="none" cap="none" strike="noStrike">
              <a:solidFill>
                <a:schemeClr val="dk1"/>
              </a:solidFill>
              <a:latin typeface="Calibri"/>
              <a:ea typeface="Calibri"/>
              <a:cs typeface="Calibri"/>
              <a:sym typeface="Calibri"/>
            </a:endParaRPr>
          </a:p>
        </p:txBody>
      </p:sp>
      <p:sp>
        <p:nvSpPr>
          <p:cNvPr id="185" name="Google Shape;185;p6"/>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EMBODY / EMSCULPT NEO · KEYWORDS &amp; AD GROUPS</a:t>
            </a:r>
            <a:endParaRPr b="0" i="0" sz="1250" u="none" cap="none" strike="noStrike">
              <a:solidFill>
                <a:schemeClr val="dk1"/>
              </a:solidFill>
              <a:latin typeface="Calibri"/>
              <a:ea typeface="Calibri"/>
              <a:cs typeface="Calibri"/>
              <a:sym typeface="Calibri"/>
            </a:endParaRPr>
          </a:p>
        </p:txBody>
      </p:sp>
      <p:sp>
        <p:nvSpPr>
          <p:cNvPr id="186" name="Google Shape;186;p6"/>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Seven Intent-Based Ad Groups</a:t>
            </a:r>
            <a:endParaRPr b="0" i="0" sz="3300" u="none" cap="none" strike="noStrike">
              <a:solidFill>
                <a:schemeClr val="dk1"/>
              </a:solidFill>
              <a:latin typeface="Calibri"/>
              <a:ea typeface="Calibri"/>
              <a:cs typeface="Calibri"/>
              <a:sym typeface="Calibri"/>
            </a:endParaRPr>
          </a:p>
        </p:txBody>
      </p:sp>
      <p:sp>
        <p:nvSpPr>
          <p:cNvPr id="187" name="Google Shape;187;p6"/>
          <p:cNvSpPr/>
          <p:nvPr/>
        </p:nvSpPr>
        <p:spPr>
          <a:xfrm>
            <a:off x="502920" y="1993392"/>
            <a:ext cx="1115568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Keywords are grouped by search intent for tighter relevance, higher Quality Scores and lower CPCs. Every keyword runs on Phrase and Exact match only — no broad match in either campaign.</a:t>
            </a:r>
            <a:endParaRPr b="0" i="0" sz="1350" u="none" cap="none" strike="noStrike">
              <a:solidFill>
                <a:schemeClr val="dk1"/>
              </a:solidFill>
              <a:latin typeface="Calibri"/>
              <a:ea typeface="Calibri"/>
              <a:cs typeface="Calibri"/>
              <a:sym typeface="Calibri"/>
            </a:endParaRPr>
          </a:p>
        </p:txBody>
      </p:sp>
      <p:graphicFrame>
        <p:nvGraphicFramePr>
          <p:cNvPr id="188" name="Google Shape;188;p6"/>
          <p:cNvGraphicFramePr/>
          <p:nvPr/>
        </p:nvGraphicFramePr>
        <p:xfrm>
          <a:off x="502920" y="2542032"/>
          <a:ext cx="3000000" cy="3000000"/>
        </p:xfrm>
        <a:graphic>
          <a:graphicData uri="http://schemas.openxmlformats.org/drawingml/2006/table">
            <a:tbl>
              <a:tblPr>
                <a:noFill/>
                <a:tableStyleId>{410B05DD-16F8-4F00-A4F7-33E39A4E558B}</a:tableStyleId>
              </a:tblPr>
              <a:tblGrid>
                <a:gridCol w="640075"/>
                <a:gridCol w="3200400"/>
                <a:gridCol w="3200400"/>
                <a:gridCol w="914400"/>
                <a:gridCol w="1581900"/>
                <a:gridCol w="1645925"/>
              </a:tblGrid>
              <a:tr h="420625">
                <a:tc>
                  <a:txBody>
                    <a:bodyPr/>
                    <a:lstStyle/>
                    <a:p>
                      <a:pPr indent="0" lvl="0" marL="0" marR="0" rtl="0" algn="ctr">
                        <a:lnSpc>
                          <a:spcPct val="100000"/>
                        </a:lnSpc>
                        <a:spcBef>
                          <a:spcPts val="0"/>
                        </a:spcBef>
                        <a:spcAft>
                          <a:spcPts val="0"/>
                        </a:spcAft>
                        <a:buClr>
                          <a:srgbClr val="FFFFFF"/>
                        </a:buClr>
                        <a:buSzPts val="1250"/>
                        <a:buFont typeface="Poppins"/>
                        <a:buNone/>
                      </a:pPr>
                      <a:r>
                        <a:rPr b="1" lang="en-US" sz="1250" u="none" cap="none" strike="noStrike">
                          <a:solidFill>
                            <a:srgbClr val="FFFFFF"/>
                          </a:solidFill>
                          <a:latin typeface="Poppins"/>
                          <a:ea typeface="Poppins"/>
                          <a:cs typeface="Poppins"/>
                          <a:sym typeface="Poppins"/>
                        </a:rPr>
                        <a:t>#</a:t>
                      </a:r>
                      <a:endParaRPr sz="12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l">
                        <a:lnSpc>
                          <a:spcPct val="100000"/>
                        </a:lnSpc>
                        <a:spcBef>
                          <a:spcPts val="0"/>
                        </a:spcBef>
                        <a:spcAft>
                          <a:spcPts val="0"/>
                        </a:spcAft>
                        <a:buClr>
                          <a:srgbClr val="FFFFFF"/>
                        </a:buClr>
                        <a:buSzPts val="1250"/>
                        <a:buFont typeface="Poppins"/>
                        <a:buNone/>
                      </a:pPr>
                      <a:r>
                        <a:rPr b="1" lang="en-US" sz="1250" u="none" cap="none" strike="noStrike">
                          <a:solidFill>
                            <a:srgbClr val="FFFFFF"/>
                          </a:solidFill>
                          <a:latin typeface="Poppins"/>
                          <a:ea typeface="Poppins"/>
                          <a:cs typeface="Poppins"/>
                          <a:sym typeface="Poppins"/>
                        </a:rPr>
                        <a:t>Ad Group</a:t>
                      </a:r>
                      <a:endParaRPr sz="12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l">
                        <a:lnSpc>
                          <a:spcPct val="100000"/>
                        </a:lnSpc>
                        <a:spcBef>
                          <a:spcPts val="0"/>
                        </a:spcBef>
                        <a:spcAft>
                          <a:spcPts val="0"/>
                        </a:spcAft>
                        <a:buClr>
                          <a:srgbClr val="FFFFFF"/>
                        </a:buClr>
                        <a:buSzPts val="1250"/>
                        <a:buFont typeface="Poppins"/>
                        <a:buNone/>
                      </a:pPr>
                      <a:r>
                        <a:rPr b="1" lang="en-US" sz="1250" u="none" cap="none" strike="noStrike">
                          <a:solidFill>
                            <a:srgbClr val="FFFFFF"/>
                          </a:solidFill>
                          <a:latin typeface="Poppins"/>
                          <a:ea typeface="Poppins"/>
                          <a:cs typeface="Poppins"/>
                          <a:sym typeface="Poppins"/>
                        </a:rPr>
                        <a:t>Search Intent</a:t>
                      </a:r>
                      <a:endParaRPr sz="12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ctr">
                        <a:lnSpc>
                          <a:spcPct val="100000"/>
                        </a:lnSpc>
                        <a:spcBef>
                          <a:spcPts val="0"/>
                        </a:spcBef>
                        <a:spcAft>
                          <a:spcPts val="0"/>
                        </a:spcAft>
                        <a:buClr>
                          <a:srgbClr val="FFFFFF"/>
                        </a:buClr>
                        <a:buSzPts val="1250"/>
                        <a:buFont typeface="Poppins"/>
                        <a:buNone/>
                      </a:pPr>
                      <a:r>
                        <a:rPr b="1" lang="en-US" sz="1250" u="none" cap="none" strike="noStrike">
                          <a:solidFill>
                            <a:srgbClr val="FFFFFF"/>
                          </a:solidFill>
                          <a:latin typeface="Poppins"/>
                          <a:ea typeface="Poppins"/>
                          <a:cs typeface="Poppins"/>
                          <a:sym typeface="Poppins"/>
                        </a:rPr>
                        <a:t>KWs</a:t>
                      </a:r>
                      <a:endParaRPr sz="12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l">
                        <a:lnSpc>
                          <a:spcPct val="100000"/>
                        </a:lnSpc>
                        <a:spcBef>
                          <a:spcPts val="0"/>
                        </a:spcBef>
                        <a:spcAft>
                          <a:spcPts val="0"/>
                        </a:spcAft>
                        <a:buClr>
                          <a:srgbClr val="FFFFFF"/>
                        </a:buClr>
                        <a:buSzPts val="1250"/>
                        <a:buFont typeface="Poppins"/>
                        <a:buNone/>
                      </a:pPr>
                      <a:r>
                        <a:rPr b="1" lang="en-US" sz="1250" u="none" cap="none" strike="noStrike">
                          <a:solidFill>
                            <a:srgbClr val="FFFFFF"/>
                          </a:solidFill>
                          <a:latin typeface="Poppins"/>
                          <a:ea typeface="Poppins"/>
                          <a:cs typeface="Poppins"/>
                          <a:sym typeface="Poppins"/>
                        </a:rPr>
                        <a:t>Est. Vol.*</a:t>
                      </a:r>
                      <a:endParaRPr sz="12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l">
                        <a:lnSpc>
                          <a:spcPct val="100000"/>
                        </a:lnSpc>
                        <a:spcBef>
                          <a:spcPts val="0"/>
                        </a:spcBef>
                        <a:spcAft>
                          <a:spcPts val="0"/>
                        </a:spcAft>
                        <a:buClr>
                          <a:srgbClr val="FFFFFF"/>
                        </a:buClr>
                        <a:buSzPts val="1250"/>
                        <a:buFont typeface="Poppins"/>
                        <a:buNone/>
                      </a:pPr>
                      <a:r>
                        <a:rPr b="1" lang="en-US" sz="1250" u="none" cap="none" strike="noStrike">
                          <a:solidFill>
                            <a:srgbClr val="FFFFFF"/>
                          </a:solidFill>
                          <a:latin typeface="Poppins"/>
                          <a:ea typeface="Poppins"/>
                          <a:cs typeface="Poppins"/>
                          <a:sym typeface="Poppins"/>
                        </a:rPr>
                        <a:t>Bid Range</a:t>
                      </a:r>
                      <a:endParaRPr sz="12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r>
              <a:tr h="420625">
                <a:tc>
                  <a:txBody>
                    <a:bodyPr/>
                    <a:lstStyle/>
                    <a:p>
                      <a:pPr indent="0" lvl="0" marL="0" marR="0" rtl="0" algn="ctr">
                        <a:lnSpc>
                          <a:spcPct val="100000"/>
                        </a:lnSpc>
                        <a:spcBef>
                          <a:spcPts val="0"/>
                        </a:spcBef>
                        <a:spcAft>
                          <a:spcPts val="0"/>
                        </a:spcAft>
                        <a:buClr>
                          <a:srgbClr val="16A879"/>
                        </a:buClr>
                        <a:buSzPts val="1200"/>
                        <a:buFont typeface="Poppins"/>
                        <a:buNone/>
                      </a:pPr>
                      <a:r>
                        <a:rPr b="1" lang="en-US" sz="1200" u="none" cap="none" strike="noStrike">
                          <a:solidFill>
                            <a:srgbClr val="16A879"/>
                          </a:solidFill>
                          <a:latin typeface="Poppins"/>
                          <a:ea typeface="Poppins"/>
                          <a:cs typeface="Poppins"/>
                          <a:sym typeface="Poppins"/>
                        </a:rPr>
                        <a:t>1</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2B2E2C"/>
                        </a:buClr>
                        <a:buSzPts val="1200"/>
                        <a:buFont typeface="Poppins"/>
                        <a:buNone/>
                      </a:pPr>
                      <a:r>
                        <a:rPr b="1" lang="en-US" sz="1200" u="none" cap="none" strike="noStrike">
                          <a:solidFill>
                            <a:srgbClr val="2B2E2C"/>
                          </a:solidFill>
                          <a:latin typeface="Poppins"/>
                          <a:ea typeface="Poppins"/>
                          <a:cs typeface="Poppins"/>
                          <a:sym typeface="Poppins"/>
                        </a:rPr>
                        <a:t>EmSculpt NEO</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873"/>
                        </a:buClr>
                        <a:buSzPts val="1200"/>
                        <a:buFont typeface="Calibri"/>
                        <a:buNone/>
                      </a:pPr>
                      <a:r>
                        <a:rPr lang="en-US" sz="1200" u="none" cap="none" strike="noStrike">
                          <a:solidFill>
                            <a:srgbClr val="6E7873"/>
                          </a:solidFill>
                          <a:latin typeface="Calibri"/>
                          <a:ea typeface="Calibri"/>
                          <a:cs typeface="Calibri"/>
                          <a:sym typeface="Calibri"/>
                        </a:rPr>
                        <a:t>Branded device terms</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5</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320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£1.46–£13.77</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r>
              <a:tr h="420625">
                <a:tc>
                  <a:txBody>
                    <a:bodyPr/>
                    <a:lstStyle/>
                    <a:p>
                      <a:pPr indent="0" lvl="0" marL="0" marR="0" rtl="0" algn="ctr">
                        <a:lnSpc>
                          <a:spcPct val="100000"/>
                        </a:lnSpc>
                        <a:spcBef>
                          <a:spcPts val="0"/>
                        </a:spcBef>
                        <a:spcAft>
                          <a:spcPts val="0"/>
                        </a:spcAft>
                        <a:buClr>
                          <a:srgbClr val="16A879"/>
                        </a:buClr>
                        <a:buSzPts val="1200"/>
                        <a:buFont typeface="Poppins"/>
                        <a:buNone/>
                      </a:pPr>
                      <a:r>
                        <a:rPr b="1" lang="en-US" sz="1200" u="none" cap="none" strike="noStrike">
                          <a:solidFill>
                            <a:srgbClr val="16A879"/>
                          </a:solidFill>
                          <a:latin typeface="Poppins"/>
                          <a:ea typeface="Poppins"/>
                          <a:cs typeface="Poppins"/>
                          <a:sym typeface="Poppins"/>
                        </a:rPr>
                        <a:t>2</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l">
                        <a:lnSpc>
                          <a:spcPct val="100000"/>
                        </a:lnSpc>
                        <a:spcBef>
                          <a:spcPts val="0"/>
                        </a:spcBef>
                        <a:spcAft>
                          <a:spcPts val="0"/>
                        </a:spcAft>
                        <a:buClr>
                          <a:srgbClr val="2B2E2C"/>
                        </a:buClr>
                        <a:buSzPts val="1200"/>
                        <a:buFont typeface="Poppins"/>
                        <a:buNone/>
                      </a:pPr>
                      <a:r>
                        <a:rPr b="1" lang="en-US" sz="1200" u="none" cap="none" strike="noStrike">
                          <a:solidFill>
                            <a:srgbClr val="2B2E2C"/>
                          </a:solidFill>
                          <a:latin typeface="Poppins"/>
                          <a:ea typeface="Poppins"/>
                          <a:cs typeface="Poppins"/>
                          <a:sym typeface="Poppins"/>
                        </a:rPr>
                        <a:t>Body Sculpting</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l">
                        <a:lnSpc>
                          <a:spcPct val="100000"/>
                        </a:lnSpc>
                        <a:spcBef>
                          <a:spcPts val="0"/>
                        </a:spcBef>
                        <a:spcAft>
                          <a:spcPts val="0"/>
                        </a:spcAft>
                        <a:buClr>
                          <a:srgbClr val="6E7873"/>
                        </a:buClr>
                        <a:buSzPts val="1200"/>
                        <a:buFont typeface="Calibri"/>
                        <a:buNone/>
                      </a:pPr>
                      <a:r>
                        <a:rPr lang="en-US" sz="1200" u="none" cap="none" strike="noStrike">
                          <a:solidFill>
                            <a:srgbClr val="6E7873"/>
                          </a:solidFill>
                          <a:latin typeface="Calibri"/>
                          <a:ea typeface="Calibri"/>
                          <a:cs typeface="Calibri"/>
                          <a:sym typeface="Calibri"/>
                        </a:rPr>
                        <a:t>Core sculpting terms</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7</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350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£0.70–£3.08</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r>
              <a:tr h="420625">
                <a:tc>
                  <a:txBody>
                    <a:bodyPr/>
                    <a:lstStyle/>
                    <a:p>
                      <a:pPr indent="0" lvl="0" marL="0" marR="0" rtl="0" algn="ctr">
                        <a:lnSpc>
                          <a:spcPct val="100000"/>
                        </a:lnSpc>
                        <a:spcBef>
                          <a:spcPts val="0"/>
                        </a:spcBef>
                        <a:spcAft>
                          <a:spcPts val="0"/>
                        </a:spcAft>
                        <a:buClr>
                          <a:srgbClr val="16A879"/>
                        </a:buClr>
                        <a:buSzPts val="1200"/>
                        <a:buFont typeface="Poppins"/>
                        <a:buNone/>
                      </a:pPr>
                      <a:r>
                        <a:rPr b="1" lang="en-US" sz="1200" u="none" cap="none" strike="noStrike">
                          <a:solidFill>
                            <a:srgbClr val="16A879"/>
                          </a:solidFill>
                          <a:latin typeface="Poppins"/>
                          <a:ea typeface="Poppins"/>
                          <a:cs typeface="Poppins"/>
                          <a:sym typeface="Poppins"/>
                        </a:rPr>
                        <a:t>3</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2B2E2C"/>
                        </a:buClr>
                        <a:buSzPts val="1200"/>
                        <a:buFont typeface="Poppins"/>
                        <a:buNone/>
                      </a:pPr>
                      <a:r>
                        <a:rPr b="1" lang="en-US" sz="1200" u="none" cap="none" strike="noStrike">
                          <a:solidFill>
                            <a:srgbClr val="2B2E2C"/>
                          </a:solidFill>
                          <a:latin typeface="Poppins"/>
                          <a:ea typeface="Poppins"/>
                          <a:cs typeface="Poppins"/>
                          <a:sym typeface="Poppins"/>
                        </a:rPr>
                        <a:t>Body Contouring</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873"/>
                        </a:buClr>
                        <a:buSzPts val="1200"/>
                        <a:buFont typeface="Calibri"/>
                        <a:buNone/>
                      </a:pPr>
                      <a:r>
                        <a:rPr lang="en-US" sz="1200" u="none" cap="none" strike="noStrike">
                          <a:solidFill>
                            <a:srgbClr val="6E7873"/>
                          </a:solidFill>
                          <a:latin typeface="Calibri"/>
                          <a:ea typeface="Calibri"/>
                          <a:cs typeface="Calibri"/>
                          <a:sym typeface="Calibri"/>
                        </a:rPr>
                        <a:t>Contouring intent</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8</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140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£0.80–£2.66</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r>
              <a:tr h="420625">
                <a:tc>
                  <a:txBody>
                    <a:bodyPr/>
                    <a:lstStyle/>
                    <a:p>
                      <a:pPr indent="0" lvl="0" marL="0" marR="0" rtl="0" algn="ctr">
                        <a:lnSpc>
                          <a:spcPct val="100000"/>
                        </a:lnSpc>
                        <a:spcBef>
                          <a:spcPts val="0"/>
                        </a:spcBef>
                        <a:spcAft>
                          <a:spcPts val="0"/>
                        </a:spcAft>
                        <a:buClr>
                          <a:srgbClr val="16A879"/>
                        </a:buClr>
                        <a:buSzPts val="1200"/>
                        <a:buFont typeface="Poppins"/>
                        <a:buNone/>
                      </a:pPr>
                      <a:r>
                        <a:rPr b="1" lang="en-US" sz="1200" u="none" cap="none" strike="noStrike">
                          <a:solidFill>
                            <a:srgbClr val="16A879"/>
                          </a:solidFill>
                          <a:latin typeface="Poppins"/>
                          <a:ea typeface="Poppins"/>
                          <a:cs typeface="Poppins"/>
                          <a:sym typeface="Poppins"/>
                        </a:rPr>
                        <a:t>4</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l">
                        <a:lnSpc>
                          <a:spcPct val="100000"/>
                        </a:lnSpc>
                        <a:spcBef>
                          <a:spcPts val="0"/>
                        </a:spcBef>
                        <a:spcAft>
                          <a:spcPts val="0"/>
                        </a:spcAft>
                        <a:buClr>
                          <a:srgbClr val="2B2E2C"/>
                        </a:buClr>
                        <a:buSzPts val="1200"/>
                        <a:buFont typeface="Poppins"/>
                        <a:buNone/>
                      </a:pPr>
                      <a:r>
                        <a:rPr b="1" lang="en-US" sz="1200" u="none" cap="none" strike="noStrike">
                          <a:solidFill>
                            <a:srgbClr val="2B2E2C"/>
                          </a:solidFill>
                          <a:latin typeface="Poppins"/>
                          <a:ea typeface="Poppins"/>
                          <a:cs typeface="Poppins"/>
                          <a:sym typeface="Poppins"/>
                        </a:rPr>
                        <a:t>Non-Surgical Body Treatment</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l">
                        <a:lnSpc>
                          <a:spcPct val="100000"/>
                        </a:lnSpc>
                        <a:spcBef>
                          <a:spcPts val="0"/>
                        </a:spcBef>
                        <a:spcAft>
                          <a:spcPts val="0"/>
                        </a:spcAft>
                        <a:buClr>
                          <a:srgbClr val="6E7873"/>
                        </a:buClr>
                        <a:buSzPts val="1200"/>
                        <a:buFont typeface="Calibri"/>
                        <a:buNone/>
                      </a:pPr>
                      <a:r>
                        <a:rPr lang="en-US" sz="1200" u="none" cap="none" strike="noStrike">
                          <a:solidFill>
                            <a:srgbClr val="6E7873"/>
                          </a:solidFill>
                          <a:latin typeface="Calibri"/>
                          <a:ea typeface="Calibri"/>
                          <a:cs typeface="Calibri"/>
                          <a:sym typeface="Calibri"/>
                        </a:rPr>
                        <a:t>Non-surgical intent</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8</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110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£0.90–£2.79</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r>
              <a:tr h="420625">
                <a:tc>
                  <a:txBody>
                    <a:bodyPr/>
                    <a:lstStyle/>
                    <a:p>
                      <a:pPr indent="0" lvl="0" marL="0" marR="0" rtl="0" algn="ctr">
                        <a:lnSpc>
                          <a:spcPct val="100000"/>
                        </a:lnSpc>
                        <a:spcBef>
                          <a:spcPts val="0"/>
                        </a:spcBef>
                        <a:spcAft>
                          <a:spcPts val="0"/>
                        </a:spcAft>
                        <a:buClr>
                          <a:srgbClr val="16A879"/>
                        </a:buClr>
                        <a:buSzPts val="1200"/>
                        <a:buFont typeface="Poppins"/>
                        <a:buNone/>
                      </a:pPr>
                      <a:r>
                        <a:rPr b="1" lang="en-US" sz="1200" u="none" cap="none" strike="noStrike">
                          <a:solidFill>
                            <a:srgbClr val="16A879"/>
                          </a:solidFill>
                          <a:latin typeface="Poppins"/>
                          <a:ea typeface="Poppins"/>
                          <a:cs typeface="Poppins"/>
                          <a:sym typeface="Poppins"/>
                        </a:rPr>
                        <a:t>5</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2B2E2C"/>
                        </a:buClr>
                        <a:buSzPts val="1200"/>
                        <a:buFont typeface="Poppins"/>
                        <a:buNone/>
                      </a:pPr>
                      <a:r>
                        <a:rPr b="1" lang="en-US" sz="1200" u="none" cap="none" strike="noStrike">
                          <a:solidFill>
                            <a:srgbClr val="2B2E2C"/>
                          </a:solidFill>
                          <a:latin typeface="Poppins"/>
                          <a:ea typeface="Poppins"/>
                          <a:cs typeface="Poppins"/>
                          <a:sym typeface="Poppins"/>
                        </a:rPr>
                        <a:t>Muscle Toning &amp; HIFEM</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873"/>
                        </a:buClr>
                        <a:buSzPts val="1200"/>
                        <a:buFont typeface="Calibri"/>
                        <a:buNone/>
                      </a:pPr>
                      <a:r>
                        <a:rPr lang="en-US" sz="1200" u="none" cap="none" strike="noStrike">
                          <a:solidFill>
                            <a:srgbClr val="6E7873"/>
                          </a:solidFill>
                          <a:latin typeface="Calibri"/>
                          <a:ea typeface="Calibri"/>
                          <a:cs typeface="Calibri"/>
                          <a:sym typeface="Calibri"/>
                        </a:rPr>
                        <a:t>Muscle-building intent</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4</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40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£1.03–£3.52</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r>
              <a:tr h="420625">
                <a:tc>
                  <a:txBody>
                    <a:bodyPr/>
                    <a:lstStyle/>
                    <a:p>
                      <a:pPr indent="0" lvl="0" marL="0" marR="0" rtl="0" algn="ctr">
                        <a:lnSpc>
                          <a:spcPct val="100000"/>
                        </a:lnSpc>
                        <a:spcBef>
                          <a:spcPts val="0"/>
                        </a:spcBef>
                        <a:spcAft>
                          <a:spcPts val="0"/>
                        </a:spcAft>
                        <a:buClr>
                          <a:srgbClr val="16A879"/>
                        </a:buClr>
                        <a:buSzPts val="1200"/>
                        <a:buFont typeface="Poppins"/>
                        <a:buNone/>
                      </a:pPr>
                      <a:r>
                        <a:rPr b="1" lang="en-US" sz="1200" u="none" cap="none" strike="noStrike">
                          <a:solidFill>
                            <a:srgbClr val="16A879"/>
                          </a:solidFill>
                          <a:latin typeface="Poppins"/>
                          <a:ea typeface="Poppins"/>
                          <a:cs typeface="Poppins"/>
                          <a:sym typeface="Poppins"/>
                        </a:rPr>
                        <a:t>6</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l">
                        <a:lnSpc>
                          <a:spcPct val="100000"/>
                        </a:lnSpc>
                        <a:spcBef>
                          <a:spcPts val="0"/>
                        </a:spcBef>
                        <a:spcAft>
                          <a:spcPts val="0"/>
                        </a:spcAft>
                        <a:buClr>
                          <a:srgbClr val="2B2E2C"/>
                        </a:buClr>
                        <a:buSzPts val="1200"/>
                        <a:buFont typeface="Poppins"/>
                        <a:buNone/>
                      </a:pPr>
                      <a:r>
                        <a:rPr b="1" lang="en-US" sz="1200" u="none" cap="none" strike="noStrike">
                          <a:solidFill>
                            <a:srgbClr val="2B2E2C"/>
                          </a:solidFill>
                          <a:latin typeface="Poppins"/>
                          <a:ea typeface="Poppins"/>
                          <a:cs typeface="Poppins"/>
                          <a:sym typeface="Poppins"/>
                        </a:rPr>
                        <a:t>Treatment Areas</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l">
                        <a:lnSpc>
                          <a:spcPct val="100000"/>
                        </a:lnSpc>
                        <a:spcBef>
                          <a:spcPts val="0"/>
                        </a:spcBef>
                        <a:spcAft>
                          <a:spcPts val="0"/>
                        </a:spcAft>
                        <a:buClr>
                          <a:srgbClr val="6E7873"/>
                        </a:buClr>
                        <a:buSzPts val="1200"/>
                        <a:buFont typeface="Calibri"/>
                        <a:buNone/>
                      </a:pPr>
                      <a:r>
                        <a:rPr lang="en-US" sz="1200" u="none" cap="none" strike="noStrike">
                          <a:solidFill>
                            <a:srgbClr val="6E7873"/>
                          </a:solidFill>
                          <a:latin typeface="Calibri"/>
                          <a:ea typeface="Calibri"/>
                          <a:cs typeface="Calibri"/>
                          <a:sym typeface="Calibri"/>
                        </a:rPr>
                        <a:t>Area-specific intent</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5</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60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£0.95–£3.42</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r>
              <a:tr h="420625">
                <a:tc>
                  <a:txBody>
                    <a:bodyPr/>
                    <a:lstStyle/>
                    <a:p>
                      <a:pPr indent="0" lvl="0" marL="0" marR="0" rtl="0" algn="ctr">
                        <a:lnSpc>
                          <a:spcPct val="100000"/>
                        </a:lnSpc>
                        <a:spcBef>
                          <a:spcPts val="0"/>
                        </a:spcBef>
                        <a:spcAft>
                          <a:spcPts val="0"/>
                        </a:spcAft>
                        <a:buClr>
                          <a:srgbClr val="16A879"/>
                        </a:buClr>
                        <a:buSzPts val="1200"/>
                        <a:buFont typeface="Poppins"/>
                        <a:buNone/>
                      </a:pPr>
                      <a:r>
                        <a:rPr b="1" lang="en-US" sz="1200" u="none" cap="none" strike="noStrike">
                          <a:solidFill>
                            <a:srgbClr val="16A879"/>
                          </a:solidFill>
                          <a:latin typeface="Poppins"/>
                          <a:ea typeface="Poppins"/>
                          <a:cs typeface="Poppins"/>
                          <a:sym typeface="Poppins"/>
                        </a:rPr>
                        <a:t>7</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2B2E2C"/>
                        </a:buClr>
                        <a:buSzPts val="1200"/>
                        <a:buFont typeface="Poppins"/>
                        <a:buNone/>
                      </a:pPr>
                      <a:r>
                        <a:rPr b="1" lang="en-US" sz="1200" u="none" cap="none" strike="noStrike">
                          <a:solidFill>
                            <a:srgbClr val="2B2E2C"/>
                          </a:solidFill>
                          <a:latin typeface="Poppins"/>
                          <a:ea typeface="Poppins"/>
                          <a:cs typeface="Poppins"/>
                          <a:sym typeface="Poppins"/>
                        </a:rPr>
                        <a:t>Local (Central London)</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873"/>
                        </a:buClr>
                        <a:buSzPts val="1200"/>
                        <a:buFont typeface="Calibri"/>
                        <a:buNone/>
                      </a:pPr>
                      <a:r>
                        <a:rPr lang="en-US" sz="1200" u="none" cap="none" strike="noStrike">
                          <a:solidFill>
                            <a:srgbClr val="6E7873"/>
                          </a:solidFill>
                          <a:latin typeface="Calibri"/>
                          <a:ea typeface="Calibri"/>
                          <a:cs typeface="Calibri"/>
                          <a:sym typeface="Calibri"/>
                        </a:rPr>
                        <a:t>Local intent</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6</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60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est. £1.00–£3.50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r>
            </a:tbl>
          </a:graphicData>
        </a:graphic>
      </p:graphicFrame>
      <p:sp>
        <p:nvSpPr>
          <p:cNvPr id="189" name="Google Shape;189;p6"/>
          <p:cNvSpPr/>
          <p:nvPr/>
        </p:nvSpPr>
        <p:spPr>
          <a:xfrm>
            <a:off x="502920" y="6053328"/>
            <a:ext cx="10972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50"/>
              <a:buFont typeface="Calibri"/>
              <a:buNone/>
            </a:pPr>
            <a:r>
              <a:rPr b="0" i="1" lang="en-US" sz="950" u="none" cap="none" strike="noStrike">
                <a:solidFill>
                  <a:srgbClr val="6E7873"/>
                </a:solidFill>
                <a:latin typeface="Calibri"/>
                <a:ea typeface="Calibri"/>
                <a:cs typeface="Calibri"/>
                <a:sym typeface="Calibri"/>
              </a:rPr>
              <a:t>* Monthly search estimates from the July 2026 Keyword Planner pull, for relative sizing only. Live Central London volume is a fraction of these.</a:t>
            </a:r>
            <a:endParaRPr b="0" i="0" sz="950" u="none" cap="none" strike="noStrike">
              <a:solidFill>
                <a:schemeClr val="dk1"/>
              </a:solidFill>
              <a:latin typeface="Calibri"/>
              <a:ea typeface="Calibri"/>
              <a:cs typeface="Calibri"/>
              <a:sym typeface="Calibri"/>
            </a:endParaRPr>
          </a:p>
        </p:txBody>
      </p:sp>
      <p:sp>
        <p:nvSpPr>
          <p:cNvPr id="190" name="Google Shape;190;p6"/>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91" name="Google Shape;191;p6"/>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06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pic>
        <p:nvPicPr>
          <p:cNvPr descr="unpacked/ppt/media/image11.png" id="197" name="Google Shape;197;p7"/>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98" name="Google Shape;198;p7"/>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Keywords</a:t>
            </a:r>
            <a:endParaRPr b="0" i="0" sz="1500" u="none" cap="none" strike="noStrike">
              <a:solidFill>
                <a:schemeClr val="dk1"/>
              </a:solidFill>
              <a:latin typeface="Calibri"/>
              <a:ea typeface="Calibri"/>
              <a:cs typeface="Calibri"/>
              <a:sym typeface="Calibri"/>
            </a:endParaRPr>
          </a:p>
        </p:txBody>
      </p:sp>
      <p:sp>
        <p:nvSpPr>
          <p:cNvPr id="199" name="Google Shape;199;p7"/>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EMBODY / EMSCULPT NEO · KEYWORDS &amp; AD GROUPS</a:t>
            </a:r>
            <a:endParaRPr b="0" i="0" sz="1250" u="none" cap="none" strike="noStrike">
              <a:solidFill>
                <a:schemeClr val="dk1"/>
              </a:solidFill>
              <a:latin typeface="Calibri"/>
              <a:ea typeface="Calibri"/>
              <a:cs typeface="Calibri"/>
              <a:sym typeface="Calibri"/>
            </a:endParaRPr>
          </a:p>
        </p:txBody>
      </p:sp>
      <p:sp>
        <p:nvSpPr>
          <p:cNvPr id="200" name="Google Shape;200;p7"/>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2700" u="none" cap="none" strike="noStrike">
                <a:solidFill>
                  <a:srgbClr val="2B2E2C"/>
                </a:solidFill>
                <a:latin typeface="Poppins"/>
                <a:ea typeface="Poppins"/>
                <a:cs typeface="Poppins"/>
                <a:sym typeface="Poppins"/>
              </a:rPr>
              <a:t>Full Keyword List &amp; Bids  (1 of 2)</a:t>
            </a:r>
            <a:endParaRPr b="0" i="0" sz="3300" u="none" cap="none" strike="noStrike">
              <a:solidFill>
                <a:schemeClr val="dk1"/>
              </a:solidFill>
              <a:latin typeface="Calibri"/>
              <a:ea typeface="Calibri"/>
              <a:cs typeface="Calibri"/>
              <a:sym typeface="Calibri"/>
            </a:endParaRPr>
          </a:p>
        </p:txBody>
      </p:sp>
      <p:sp>
        <p:nvSpPr>
          <p:cNvPr id="201" name="Google Shape;201;p7"/>
          <p:cNvSpPr/>
          <p:nvPr/>
        </p:nvSpPr>
        <p:spPr>
          <a:xfrm>
            <a:off x="502920" y="1810512"/>
            <a:ext cx="3584448" cy="283464"/>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7"/>
          <p:cNvSpPr/>
          <p:nvPr/>
        </p:nvSpPr>
        <p:spPr>
          <a:xfrm>
            <a:off x="612648" y="1810512"/>
            <a:ext cx="3401568" cy="2834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Poppins"/>
              <a:buNone/>
            </a:pPr>
            <a:r>
              <a:rPr b="1" i="0" lang="en-US" sz="1050" u="none" cap="none" strike="noStrike">
                <a:solidFill>
                  <a:srgbClr val="FFFFFF"/>
                </a:solidFill>
                <a:latin typeface="Poppins"/>
                <a:ea typeface="Poppins"/>
                <a:cs typeface="Poppins"/>
                <a:sym typeface="Poppins"/>
              </a:rPr>
              <a:t>1  EmSculpt NEO</a:t>
            </a:r>
            <a:endParaRPr b="0" i="0" sz="1050" u="none" cap="none" strike="noStrike">
              <a:solidFill>
                <a:schemeClr val="dk1"/>
              </a:solidFill>
              <a:latin typeface="Calibri"/>
              <a:ea typeface="Calibri"/>
              <a:cs typeface="Calibri"/>
              <a:sym typeface="Calibri"/>
            </a:endParaRPr>
          </a:p>
        </p:txBody>
      </p:sp>
      <p:sp>
        <p:nvSpPr>
          <p:cNvPr id="203" name="Google Shape;203;p7"/>
          <p:cNvSpPr/>
          <p:nvPr/>
        </p:nvSpPr>
        <p:spPr>
          <a:xfrm>
            <a:off x="502920" y="2093976"/>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7"/>
          <p:cNvSpPr/>
          <p:nvPr/>
        </p:nvSpPr>
        <p:spPr>
          <a:xfrm>
            <a:off x="594360" y="2093976"/>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emsculpt neo london</a:t>
            </a:r>
            <a:endParaRPr b="0" i="0" sz="880" u="none" cap="none" strike="noStrike">
              <a:solidFill>
                <a:schemeClr val="dk1"/>
              </a:solidFill>
              <a:latin typeface="Calibri"/>
              <a:ea typeface="Calibri"/>
              <a:cs typeface="Calibri"/>
              <a:sym typeface="Calibri"/>
            </a:endParaRPr>
          </a:p>
        </p:txBody>
      </p:sp>
      <p:sp>
        <p:nvSpPr>
          <p:cNvPr id="205" name="Google Shape;205;p7"/>
          <p:cNvSpPr/>
          <p:nvPr/>
        </p:nvSpPr>
        <p:spPr>
          <a:xfrm>
            <a:off x="2258568" y="2093976"/>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170</a:t>
            </a:r>
            <a:endParaRPr b="0" i="0" sz="820" u="none" cap="none" strike="noStrike">
              <a:solidFill>
                <a:schemeClr val="dk1"/>
              </a:solidFill>
              <a:latin typeface="Calibri"/>
              <a:ea typeface="Calibri"/>
              <a:cs typeface="Calibri"/>
              <a:sym typeface="Calibri"/>
            </a:endParaRPr>
          </a:p>
        </p:txBody>
      </p:sp>
      <p:sp>
        <p:nvSpPr>
          <p:cNvPr id="206" name="Google Shape;206;p7"/>
          <p:cNvSpPr/>
          <p:nvPr/>
        </p:nvSpPr>
        <p:spPr>
          <a:xfrm>
            <a:off x="2788920" y="2093976"/>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207" name="Google Shape;207;p7"/>
          <p:cNvSpPr/>
          <p:nvPr/>
        </p:nvSpPr>
        <p:spPr>
          <a:xfrm>
            <a:off x="2990088" y="2093976"/>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£1.89–£13.77</a:t>
            </a:r>
            <a:endParaRPr b="0" i="0" sz="760" u="none" cap="none" strike="noStrike">
              <a:solidFill>
                <a:schemeClr val="dk1"/>
              </a:solidFill>
              <a:latin typeface="Calibri"/>
              <a:ea typeface="Calibri"/>
              <a:cs typeface="Calibri"/>
              <a:sym typeface="Calibri"/>
            </a:endParaRPr>
          </a:p>
        </p:txBody>
      </p:sp>
      <p:sp>
        <p:nvSpPr>
          <p:cNvPr id="208" name="Google Shape;208;p7"/>
          <p:cNvSpPr/>
          <p:nvPr/>
        </p:nvSpPr>
        <p:spPr>
          <a:xfrm>
            <a:off x="502920" y="2333549"/>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7"/>
          <p:cNvSpPr/>
          <p:nvPr/>
        </p:nvSpPr>
        <p:spPr>
          <a:xfrm>
            <a:off x="594360" y="2333549"/>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emsculpt neo near me</a:t>
            </a:r>
            <a:endParaRPr b="0" i="0" sz="880" u="none" cap="none" strike="noStrike">
              <a:solidFill>
                <a:schemeClr val="dk1"/>
              </a:solidFill>
              <a:latin typeface="Calibri"/>
              <a:ea typeface="Calibri"/>
              <a:cs typeface="Calibri"/>
              <a:sym typeface="Calibri"/>
            </a:endParaRPr>
          </a:p>
        </p:txBody>
      </p:sp>
      <p:sp>
        <p:nvSpPr>
          <p:cNvPr id="210" name="Google Shape;210;p7"/>
          <p:cNvSpPr/>
          <p:nvPr/>
        </p:nvSpPr>
        <p:spPr>
          <a:xfrm>
            <a:off x="2258568" y="2333549"/>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110</a:t>
            </a:r>
            <a:endParaRPr b="0" i="0" sz="820" u="none" cap="none" strike="noStrike">
              <a:solidFill>
                <a:schemeClr val="dk1"/>
              </a:solidFill>
              <a:latin typeface="Calibri"/>
              <a:ea typeface="Calibri"/>
              <a:cs typeface="Calibri"/>
              <a:sym typeface="Calibri"/>
            </a:endParaRPr>
          </a:p>
        </p:txBody>
      </p:sp>
      <p:sp>
        <p:nvSpPr>
          <p:cNvPr id="211" name="Google Shape;211;p7"/>
          <p:cNvSpPr/>
          <p:nvPr/>
        </p:nvSpPr>
        <p:spPr>
          <a:xfrm>
            <a:off x="2788920" y="2333549"/>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212" name="Google Shape;212;p7"/>
          <p:cNvSpPr/>
          <p:nvPr/>
        </p:nvSpPr>
        <p:spPr>
          <a:xfrm>
            <a:off x="2990088" y="2333549"/>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£1.46–£13.75</a:t>
            </a:r>
            <a:endParaRPr b="0" i="0" sz="760" u="none" cap="none" strike="noStrike">
              <a:solidFill>
                <a:schemeClr val="dk1"/>
              </a:solidFill>
              <a:latin typeface="Calibri"/>
              <a:ea typeface="Calibri"/>
              <a:cs typeface="Calibri"/>
              <a:sym typeface="Calibri"/>
            </a:endParaRPr>
          </a:p>
        </p:txBody>
      </p:sp>
      <p:sp>
        <p:nvSpPr>
          <p:cNvPr id="213" name="Google Shape;213;p7"/>
          <p:cNvSpPr/>
          <p:nvPr/>
        </p:nvSpPr>
        <p:spPr>
          <a:xfrm>
            <a:off x="502920" y="2573122"/>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7"/>
          <p:cNvSpPr/>
          <p:nvPr/>
        </p:nvSpPr>
        <p:spPr>
          <a:xfrm>
            <a:off x="594360" y="2573122"/>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neo emsculpt</a:t>
            </a:r>
            <a:endParaRPr b="0" i="0" sz="880" u="none" cap="none" strike="noStrike">
              <a:solidFill>
                <a:schemeClr val="dk1"/>
              </a:solidFill>
              <a:latin typeface="Calibri"/>
              <a:ea typeface="Calibri"/>
              <a:cs typeface="Calibri"/>
              <a:sym typeface="Calibri"/>
            </a:endParaRPr>
          </a:p>
        </p:txBody>
      </p:sp>
      <p:sp>
        <p:nvSpPr>
          <p:cNvPr id="215" name="Google Shape;215;p7"/>
          <p:cNvSpPr/>
          <p:nvPr/>
        </p:nvSpPr>
        <p:spPr>
          <a:xfrm>
            <a:off x="2258568" y="2573122"/>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20</a:t>
            </a:r>
            <a:endParaRPr b="0" i="0" sz="820" u="none" cap="none" strike="noStrike">
              <a:solidFill>
                <a:schemeClr val="dk1"/>
              </a:solidFill>
              <a:latin typeface="Calibri"/>
              <a:ea typeface="Calibri"/>
              <a:cs typeface="Calibri"/>
              <a:sym typeface="Calibri"/>
            </a:endParaRPr>
          </a:p>
        </p:txBody>
      </p:sp>
      <p:sp>
        <p:nvSpPr>
          <p:cNvPr id="216" name="Google Shape;216;p7"/>
          <p:cNvSpPr/>
          <p:nvPr/>
        </p:nvSpPr>
        <p:spPr>
          <a:xfrm>
            <a:off x="2788920" y="2573122"/>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217" name="Google Shape;217;p7"/>
          <p:cNvSpPr/>
          <p:nvPr/>
        </p:nvSpPr>
        <p:spPr>
          <a:xfrm>
            <a:off x="2990088" y="2573122"/>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£1.78–£10.88</a:t>
            </a:r>
            <a:endParaRPr b="0" i="0" sz="760" u="none" cap="none" strike="noStrike">
              <a:solidFill>
                <a:schemeClr val="dk1"/>
              </a:solidFill>
              <a:latin typeface="Calibri"/>
              <a:ea typeface="Calibri"/>
              <a:cs typeface="Calibri"/>
              <a:sym typeface="Calibri"/>
            </a:endParaRPr>
          </a:p>
        </p:txBody>
      </p:sp>
      <p:sp>
        <p:nvSpPr>
          <p:cNvPr id="218" name="Google Shape;218;p7"/>
          <p:cNvSpPr/>
          <p:nvPr/>
        </p:nvSpPr>
        <p:spPr>
          <a:xfrm>
            <a:off x="502920" y="2812694"/>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7"/>
          <p:cNvSpPr/>
          <p:nvPr/>
        </p:nvSpPr>
        <p:spPr>
          <a:xfrm>
            <a:off x="594360" y="2812694"/>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emsculpt neo treatment</a:t>
            </a:r>
            <a:endParaRPr b="0" i="0" sz="880" u="none" cap="none" strike="noStrike">
              <a:solidFill>
                <a:schemeClr val="dk1"/>
              </a:solidFill>
              <a:latin typeface="Calibri"/>
              <a:ea typeface="Calibri"/>
              <a:cs typeface="Calibri"/>
              <a:sym typeface="Calibri"/>
            </a:endParaRPr>
          </a:p>
        </p:txBody>
      </p:sp>
      <p:sp>
        <p:nvSpPr>
          <p:cNvPr id="220" name="Google Shape;220;p7"/>
          <p:cNvSpPr/>
          <p:nvPr/>
        </p:nvSpPr>
        <p:spPr>
          <a:xfrm>
            <a:off x="2258568" y="2812694"/>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221" name="Google Shape;221;p7"/>
          <p:cNvSpPr/>
          <p:nvPr/>
        </p:nvSpPr>
        <p:spPr>
          <a:xfrm>
            <a:off x="2788920" y="2812694"/>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222" name="Google Shape;222;p7"/>
          <p:cNvSpPr/>
          <p:nvPr/>
        </p:nvSpPr>
        <p:spPr>
          <a:xfrm>
            <a:off x="2990088" y="2812694"/>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223" name="Google Shape;223;p7"/>
          <p:cNvSpPr/>
          <p:nvPr/>
        </p:nvSpPr>
        <p:spPr>
          <a:xfrm>
            <a:off x="502920" y="3052267"/>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7"/>
          <p:cNvSpPr/>
          <p:nvPr/>
        </p:nvSpPr>
        <p:spPr>
          <a:xfrm>
            <a:off x="594360" y="3052267"/>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emsculpt in london</a:t>
            </a:r>
            <a:endParaRPr b="0" i="0" sz="880" u="none" cap="none" strike="noStrike">
              <a:solidFill>
                <a:schemeClr val="dk1"/>
              </a:solidFill>
              <a:latin typeface="Calibri"/>
              <a:ea typeface="Calibri"/>
              <a:cs typeface="Calibri"/>
              <a:sym typeface="Calibri"/>
            </a:endParaRPr>
          </a:p>
        </p:txBody>
      </p:sp>
      <p:sp>
        <p:nvSpPr>
          <p:cNvPr id="225" name="Google Shape;225;p7"/>
          <p:cNvSpPr/>
          <p:nvPr/>
        </p:nvSpPr>
        <p:spPr>
          <a:xfrm>
            <a:off x="2258568" y="3052267"/>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226" name="Google Shape;226;p7"/>
          <p:cNvSpPr/>
          <p:nvPr/>
        </p:nvSpPr>
        <p:spPr>
          <a:xfrm>
            <a:off x="2788920" y="3052267"/>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a:t>
            </a:r>
            <a:endParaRPr b="0" i="0" sz="760" u="none" cap="none" strike="noStrike">
              <a:solidFill>
                <a:schemeClr val="dk1"/>
              </a:solidFill>
              <a:latin typeface="Calibri"/>
              <a:ea typeface="Calibri"/>
              <a:cs typeface="Calibri"/>
              <a:sym typeface="Calibri"/>
            </a:endParaRPr>
          </a:p>
        </p:txBody>
      </p:sp>
      <p:sp>
        <p:nvSpPr>
          <p:cNvPr id="227" name="Google Shape;227;p7"/>
          <p:cNvSpPr/>
          <p:nvPr/>
        </p:nvSpPr>
        <p:spPr>
          <a:xfrm>
            <a:off x="2990088" y="3052267"/>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228" name="Google Shape;228;p7"/>
          <p:cNvSpPr/>
          <p:nvPr/>
        </p:nvSpPr>
        <p:spPr>
          <a:xfrm>
            <a:off x="502920" y="3419856"/>
            <a:ext cx="3584448" cy="283464"/>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7"/>
          <p:cNvSpPr/>
          <p:nvPr/>
        </p:nvSpPr>
        <p:spPr>
          <a:xfrm>
            <a:off x="612648" y="3419856"/>
            <a:ext cx="3401568" cy="2834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Poppins"/>
              <a:buNone/>
            </a:pPr>
            <a:r>
              <a:rPr b="1" i="0" lang="en-US" sz="1050" u="none" cap="none" strike="noStrike">
                <a:solidFill>
                  <a:srgbClr val="FFFFFF"/>
                </a:solidFill>
                <a:latin typeface="Poppins"/>
                <a:ea typeface="Poppins"/>
                <a:cs typeface="Poppins"/>
                <a:sym typeface="Poppins"/>
              </a:rPr>
              <a:t>2  Body Sculpting</a:t>
            </a:r>
            <a:endParaRPr b="0" i="0" sz="1050" u="none" cap="none" strike="noStrike">
              <a:solidFill>
                <a:schemeClr val="dk1"/>
              </a:solidFill>
              <a:latin typeface="Calibri"/>
              <a:ea typeface="Calibri"/>
              <a:cs typeface="Calibri"/>
              <a:sym typeface="Calibri"/>
            </a:endParaRPr>
          </a:p>
        </p:txBody>
      </p:sp>
      <p:sp>
        <p:nvSpPr>
          <p:cNvPr id="230" name="Google Shape;230;p7"/>
          <p:cNvSpPr/>
          <p:nvPr/>
        </p:nvSpPr>
        <p:spPr>
          <a:xfrm>
            <a:off x="502920" y="3703320"/>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7"/>
          <p:cNvSpPr/>
          <p:nvPr/>
        </p:nvSpPr>
        <p:spPr>
          <a:xfrm>
            <a:off x="594360" y="3703320"/>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body sculpting london</a:t>
            </a:r>
            <a:endParaRPr b="0" i="0" sz="880" u="none" cap="none" strike="noStrike">
              <a:solidFill>
                <a:schemeClr val="dk1"/>
              </a:solidFill>
              <a:latin typeface="Calibri"/>
              <a:ea typeface="Calibri"/>
              <a:cs typeface="Calibri"/>
              <a:sym typeface="Calibri"/>
            </a:endParaRPr>
          </a:p>
        </p:txBody>
      </p:sp>
      <p:sp>
        <p:nvSpPr>
          <p:cNvPr id="232" name="Google Shape;232;p7"/>
          <p:cNvSpPr/>
          <p:nvPr/>
        </p:nvSpPr>
        <p:spPr>
          <a:xfrm>
            <a:off x="2258568" y="3703320"/>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140</a:t>
            </a:r>
            <a:endParaRPr b="0" i="0" sz="820" u="none" cap="none" strike="noStrike">
              <a:solidFill>
                <a:schemeClr val="dk1"/>
              </a:solidFill>
              <a:latin typeface="Calibri"/>
              <a:ea typeface="Calibri"/>
              <a:cs typeface="Calibri"/>
              <a:sym typeface="Calibri"/>
            </a:endParaRPr>
          </a:p>
        </p:txBody>
      </p:sp>
      <p:sp>
        <p:nvSpPr>
          <p:cNvPr id="233" name="Google Shape;233;p7"/>
          <p:cNvSpPr/>
          <p:nvPr/>
        </p:nvSpPr>
        <p:spPr>
          <a:xfrm>
            <a:off x="2788920" y="3703320"/>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234" name="Google Shape;234;p7"/>
          <p:cNvSpPr/>
          <p:nvPr/>
        </p:nvSpPr>
        <p:spPr>
          <a:xfrm>
            <a:off x="2990088" y="3703320"/>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£0.89–£2.36</a:t>
            </a:r>
            <a:endParaRPr b="0" i="0" sz="760" u="none" cap="none" strike="noStrike">
              <a:solidFill>
                <a:schemeClr val="dk1"/>
              </a:solidFill>
              <a:latin typeface="Calibri"/>
              <a:ea typeface="Calibri"/>
              <a:cs typeface="Calibri"/>
              <a:sym typeface="Calibri"/>
            </a:endParaRPr>
          </a:p>
        </p:txBody>
      </p:sp>
      <p:sp>
        <p:nvSpPr>
          <p:cNvPr id="235" name="Google Shape;235;p7"/>
          <p:cNvSpPr/>
          <p:nvPr/>
        </p:nvSpPr>
        <p:spPr>
          <a:xfrm>
            <a:off x="502920" y="3942893"/>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7"/>
          <p:cNvSpPr/>
          <p:nvPr/>
        </p:nvSpPr>
        <p:spPr>
          <a:xfrm>
            <a:off x="594360" y="3942893"/>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sculpting london</a:t>
            </a:r>
            <a:endParaRPr b="0" i="0" sz="880" u="none" cap="none" strike="noStrike">
              <a:solidFill>
                <a:schemeClr val="dk1"/>
              </a:solidFill>
              <a:latin typeface="Calibri"/>
              <a:ea typeface="Calibri"/>
              <a:cs typeface="Calibri"/>
              <a:sym typeface="Calibri"/>
            </a:endParaRPr>
          </a:p>
        </p:txBody>
      </p:sp>
      <p:sp>
        <p:nvSpPr>
          <p:cNvPr id="237" name="Google Shape;237;p7"/>
          <p:cNvSpPr/>
          <p:nvPr/>
        </p:nvSpPr>
        <p:spPr>
          <a:xfrm>
            <a:off x="2258568" y="3942893"/>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140</a:t>
            </a:r>
            <a:endParaRPr b="0" i="0" sz="820" u="none" cap="none" strike="noStrike">
              <a:solidFill>
                <a:schemeClr val="dk1"/>
              </a:solidFill>
              <a:latin typeface="Calibri"/>
              <a:ea typeface="Calibri"/>
              <a:cs typeface="Calibri"/>
              <a:sym typeface="Calibri"/>
            </a:endParaRPr>
          </a:p>
        </p:txBody>
      </p:sp>
      <p:sp>
        <p:nvSpPr>
          <p:cNvPr id="238" name="Google Shape;238;p7"/>
          <p:cNvSpPr/>
          <p:nvPr/>
        </p:nvSpPr>
        <p:spPr>
          <a:xfrm>
            <a:off x="2788920" y="3942893"/>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L</a:t>
            </a:r>
            <a:endParaRPr b="0" i="0" sz="760" u="none" cap="none" strike="noStrike">
              <a:solidFill>
                <a:schemeClr val="dk1"/>
              </a:solidFill>
              <a:latin typeface="Calibri"/>
              <a:ea typeface="Calibri"/>
              <a:cs typeface="Calibri"/>
              <a:sym typeface="Calibri"/>
            </a:endParaRPr>
          </a:p>
        </p:txBody>
      </p:sp>
      <p:sp>
        <p:nvSpPr>
          <p:cNvPr id="239" name="Google Shape;239;p7"/>
          <p:cNvSpPr/>
          <p:nvPr/>
        </p:nvSpPr>
        <p:spPr>
          <a:xfrm>
            <a:off x="2990088" y="3942893"/>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£0.70–£3.08</a:t>
            </a:r>
            <a:endParaRPr b="0" i="0" sz="760" u="none" cap="none" strike="noStrike">
              <a:solidFill>
                <a:schemeClr val="dk1"/>
              </a:solidFill>
              <a:latin typeface="Calibri"/>
              <a:ea typeface="Calibri"/>
              <a:cs typeface="Calibri"/>
              <a:sym typeface="Calibri"/>
            </a:endParaRPr>
          </a:p>
        </p:txBody>
      </p:sp>
      <p:sp>
        <p:nvSpPr>
          <p:cNvPr id="240" name="Google Shape;240;p7"/>
          <p:cNvSpPr/>
          <p:nvPr/>
        </p:nvSpPr>
        <p:spPr>
          <a:xfrm>
            <a:off x="502920" y="4182466"/>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7"/>
          <p:cNvSpPr/>
          <p:nvPr/>
        </p:nvSpPr>
        <p:spPr>
          <a:xfrm>
            <a:off x="594360" y="4182466"/>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sculpting treatment</a:t>
            </a:r>
            <a:endParaRPr b="0" i="0" sz="880" u="none" cap="none" strike="noStrike">
              <a:solidFill>
                <a:schemeClr val="dk1"/>
              </a:solidFill>
              <a:latin typeface="Calibri"/>
              <a:ea typeface="Calibri"/>
              <a:cs typeface="Calibri"/>
              <a:sym typeface="Calibri"/>
            </a:endParaRPr>
          </a:p>
        </p:txBody>
      </p:sp>
      <p:sp>
        <p:nvSpPr>
          <p:cNvPr id="242" name="Google Shape;242;p7"/>
          <p:cNvSpPr/>
          <p:nvPr/>
        </p:nvSpPr>
        <p:spPr>
          <a:xfrm>
            <a:off x="2258568" y="4182466"/>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20</a:t>
            </a:r>
            <a:endParaRPr b="0" i="0" sz="820" u="none" cap="none" strike="noStrike">
              <a:solidFill>
                <a:schemeClr val="dk1"/>
              </a:solidFill>
              <a:latin typeface="Calibri"/>
              <a:ea typeface="Calibri"/>
              <a:cs typeface="Calibri"/>
              <a:sym typeface="Calibri"/>
            </a:endParaRPr>
          </a:p>
        </p:txBody>
      </p:sp>
      <p:sp>
        <p:nvSpPr>
          <p:cNvPr id="243" name="Google Shape;243;p7"/>
          <p:cNvSpPr/>
          <p:nvPr/>
        </p:nvSpPr>
        <p:spPr>
          <a:xfrm>
            <a:off x="2788920" y="4182466"/>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244" name="Google Shape;244;p7"/>
          <p:cNvSpPr/>
          <p:nvPr/>
        </p:nvSpPr>
        <p:spPr>
          <a:xfrm>
            <a:off x="2990088" y="4182466"/>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£1.03–£1.78</a:t>
            </a:r>
            <a:endParaRPr b="0" i="0" sz="760" u="none" cap="none" strike="noStrike">
              <a:solidFill>
                <a:schemeClr val="dk1"/>
              </a:solidFill>
              <a:latin typeface="Calibri"/>
              <a:ea typeface="Calibri"/>
              <a:cs typeface="Calibri"/>
              <a:sym typeface="Calibri"/>
            </a:endParaRPr>
          </a:p>
        </p:txBody>
      </p:sp>
      <p:sp>
        <p:nvSpPr>
          <p:cNvPr id="245" name="Google Shape;245;p7"/>
          <p:cNvSpPr/>
          <p:nvPr/>
        </p:nvSpPr>
        <p:spPr>
          <a:xfrm>
            <a:off x="502920" y="4422038"/>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7"/>
          <p:cNvSpPr/>
          <p:nvPr/>
        </p:nvSpPr>
        <p:spPr>
          <a:xfrm>
            <a:off x="594360" y="4422038"/>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the body sculpting</a:t>
            </a:r>
            <a:endParaRPr b="0" i="0" sz="880" u="none" cap="none" strike="noStrike">
              <a:solidFill>
                <a:schemeClr val="dk1"/>
              </a:solidFill>
              <a:latin typeface="Calibri"/>
              <a:ea typeface="Calibri"/>
              <a:cs typeface="Calibri"/>
              <a:sym typeface="Calibri"/>
            </a:endParaRPr>
          </a:p>
        </p:txBody>
      </p:sp>
      <p:sp>
        <p:nvSpPr>
          <p:cNvPr id="247" name="Google Shape;247;p7"/>
          <p:cNvSpPr/>
          <p:nvPr/>
        </p:nvSpPr>
        <p:spPr>
          <a:xfrm>
            <a:off x="2258568" y="4422038"/>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20</a:t>
            </a:r>
            <a:endParaRPr b="0" i="0" sz="820" u="none" cap="none" strike="noStrike">
              <a:solidFill>
                <a:schemeClr val="dk1"/>
              </a:solidFill>
              <a:latin typeface="Calibri"/>
              <a:ea typeface="Calibri"/>
              <a:cs typeface="Calibri"/>
              <a:sym typeface="Calibri"/>
            </a:endParaRPr>
          </a:p>
        </p:txBody>
      </p:sp>
      <p:sp>
        <p:nvSpPr>
          <p:cNvPr id="248" name="Google Shape;248;p7"/>
          <p:cNvSpPr/>
          <p:nvPr/>
        </p:nvSpPr>
        <p:spPr>
          <a:xfrm>
            <a:off x="2788920" y="4422038"/>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L</a:t>
            </a:r>
            <a:endParaRPr b="0" i="0" sz="760" u="none" cap="none" strike="noStrike">
              <a:solidFill>
                <a:schemeClr val="dk1"/>
              </a:solidFill>
              <a:latin typeface="Calibri"/>
              <a:ea typeface="Calibri"/>
              <a:cs typeface="Calibri"/>
              <a:sym typeface="Calibri"/>
            </a:endParaRPr>
          </a:p>
        </p:txBody>
      </p:sp>
      <p:sp>
        <p:nvSpPr>
          <p:cNvPr id="249" name="Google Shape;249;p7"/>
          <p:cNvSpPr/>
          <p:nvPr/>
        </p:nvSpPr>
        <p:spPr>
          <a:xfrm>
            <a:off x="2990088" y="4422038"/>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250" name="Google Shape;250;p7"/>
          <p:cNvSpPr/>
          <p:nvPr/>
        </p:nvSpPr>
        <p:spPr>
          <a:xfrm>
            <a:off x="502920" y="4661611"/>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7"/>
          <p:cNvSpPr/>
          <p:nvPr/>
        </p:nvSpPr>
        <p:spPr>
          <a:xfrm>
            <a:off x="594360" y="4661611"/>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body sculpting treatments near me</a:t>
            </a:r>
            <a:endParaRPr b="0" i="0" sz="880" u="none" cap="none" strike="noStrike">
              <a:solidFill>
                <a:schemeClr val="dk1"/>
              </a:solidFill>
              <a:latin typeface="Calibri"/>
              <a:ea typeface="Calibri"/>
              <a:cs typeface="Calibri"/>
              <a:sym typeface="Calibri"/>
            </a:endParaRPr>
          </a:p>
        </p:txBody>
      </p:sp>
      <p:sp>
        <p:nvSpPr>
          <p:cNvPr id="252" name="Google Shape;252;p7"/>
          <p:cNvSpPr/>
          <p:nvPr/>
        </p:nvSpPr>
        <p:spPr>
          <a:xfrm>
            <a:off x="2258568" y="4661611"/>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253" name="Google Shape;253;p7"/>
          <p:cNvSpPr/>
          <p:nvPr/>
        </p:nvSpPr>
        <p:spPr>
          <a:xfrm>
            <a:off x="2788920" y="4661611"/>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a:t>
            </a:r>
            <a:endParaRPr b="0" i="0" sz="760" u="none" cap="none" strike="noStrike">
              <a:solidFill>
                <a:schemeClr val="dk1"/>
              </a:solidFill>
              <a:latin typeface="Calibri"/>
              <a:ea typeface="Calibri"/>
              <a:cs typeface="Calibri"/>
              <a:sym typeface="Calibri"/>
            </a:endParaRPr>
          </a:p>
        </p:txBody>
      </p:sp>
      <p:sp>
        <p:nvSpPr>
          <p:cNvPr id="254" name="Google Shape;254;p7"/>
          <p:cNvSpPr/>
          <p:nvPr/>
        </p:nvSpPr>
        <p:spPr>
          <a:xfrm>
            <a:off x="2990088" y="4661611"/>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255" name="Google Shape;255;p7"/>
          <p:cNvSpPr/>
          <p:nvPr/>
        </p:nvSpPr>
        <p:spPr>
          <a:xfrm>
            <a:off x="502920" y="4901184"/>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7"/>
          <p:cNvSpPr/>
          <p:nvPr/>
        </p:nvSpPr>
        <p:spPr>
          <a:xfrm>
            <a:off x="594360" y="4901184"/>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body sculpting clinic near me</a:t>
            </a:r>
            <a:endParaRPr b="0" i="0" sz="880" u="none" cap="none" strike="noStrike">
              <a:solidFill>
                <a:schemeClr val="dk1"/>
              </a:solidFill>
              <a:latin typeface="Calibri"/>
              <a:ea typeface="Calibri"/>
              <a:cs typeface="Calibri"/>
              <a:sym typeface="Calibri"/>
            </a:endParaRPr>
          </a:p>
        </p:txBody>
      </p:sp>
      <p:sp>
        <p:nvSpPr>
          <p:cNvPr id="257" name="Google Shape;257;p7"/>
          <p:cNvSpPr/>
          <p:nvPr/>
        </p:nvSpPr>
        <p:spPr>
          <a:xfrm>
            <a:off x="2258568" y="4901184"/>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258" name="Google Shape;258;p7"/>
          <p:cNvSpPr/>
          <p:nvPr/>
        </p:nvSpPr>
        <p:spPr>
          <a:xfrm>
            <a:off x="2788920" y="4901184"/>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a:t>
            </a:r>
            <a:endParaRPr b="0" i="0" sz="760" u="none" cap="none" strike="noStrike">
              <a:solidFill>
                <a:schemeClr val="dk1"/>
              </a:solidFill>
              <a:latin typeface="Calibri"/>
              <a:ea typeface="Calibri"/>
              <a:cs typeface="Calibri"/>
              <a:sym typeface="Calibri"/>
            </a:endParaRPr>
          </a:p>
        </p:txBody>
      </p:sp>
      <p:sp>
        <p:nvSpPr>
          <p:cNvPr id="259" name="Google Shape;259;p7"/>
          <p:cNvSpPr/>
          <p:nvPr/>
        </p:nvSpPr>
        <p:spPr>
          <a:xfrm>
            <a:off x="2990088" y="4901184"/>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260" name="Google Shape;260;p7"/>
          <p:cNvSpPr/>
          <p:nvPr/>
        </p:nvSpPr>
        <p:spPr>
          <a:xfrm>
            <a:off x="502920" y="5140757"/>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7"/>
          <p:cNvSpPr/>
          <p:nvPr/>
        </p:nvSpPr>
        <p:spPr>
          <a:xfrm>
            <a:off x="594360" y="5140757"/>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london body sculpting</a:t>
            </a:r>
            <a:endParaRPr b="0" i="0" sz="880" u="none" cap="none" strike="noStrike">
              <a:solidFill>
                <a:schemeClr val="dk1"/>
              </a:solidFill>
              <a:latin typeface="Calibri"/>
              <a:ea typeface="Calibri"/>
              <a:cs typeface="Calibri"/>
              <a:sym typeface="Calibri"/>
            </a:endParaRPr>
          </a:p>
        </p:txBody>
      </p:sp>
      <p:sp>
        <p:nvSpPr>
          <p:cNvPr id="262" name="Google Shape;262;p7"/>
          <p:cNvSpPr/>
          <p:nvPr/>
        </p:nvSpPr>
        <p:spPr>
          <a:xfrm>
            <a:off x="2258568" y="5140757"/>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263" name="Google Shape;263;p7"/>
          <p:cNvSpPr/>
          <p:nvPr/>
        </p:nvSpPr>
        <p:spPr>
          <a:xfrm>
            <a:off x="2788920" y="5140757"/>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264" name="Google Shape;264;p7"/>
          <p:cNvSpPr/>
          <p:nvPr/>
        </p:nvSpPr>
        <p:spPr>
          <a:xfrm>
            <a:off x="2990088" y="5140757"/>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265" name="Google Shape;265;p7"/>
          <p:cNvSpPr/>
          <p:nvPr/>
        </p:nvSpPr>
        <p:spPr>
          <a:xfrm>
            <a:off x="4224528" y="1810512"/>
            <a:ext cx="3584448" cy="283464"/>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7"/>
          <p:cNvSpPr/>
          <p:nvPr/>
        </p:nvSpPr>
        <p:spPr>
          <a:xfrm>
            <a:off x="4334256" y="1810512"/>
            <a:ext cx="3401568" cy="2834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Poppins"/>
              <a:buNone/>
            </a:pPr>
            <a:r>
              <a:rPr b="1" i="0" lang="en-US" sz="1050" u="none" cap="none" strike="noStrike">
                <a:solidFill>
                  <a:srgbClr val="FFFFFF"/>
                </a:solidFill>
                <a:latin typeface="Poppins"/>
                <a:ea typeface="Poppins"/>
                <a:cs typeface="Poppins"/>
                <a:sym typeface="Poppins"/>
              </a:rPr>
              <a:t>3  Body Contouring</a:t>
            </a:r>
            <a:endParaRPr b="0" i="0" sz="1050" u="none" cap="none" strike="noStrike">
              <a:solidFill>
                <a:schemeClr val="dk1"/>
              </a:solidFill>
              <a:latin typeface="Calibri"/>
              <a:ea typeface="Calibri"/>
              <a:cs typeface="Calibri"/>
              <a:sym typeface="Calibri"/>
            </a:endParaRPr>
          </a:p>
        </p:txBody>
      </p:sp>
      <p:sp>
        <p:nvSpPr>
          <p:cNvPr id="267" name="Google Shape;267;p7"/>
          <p:cNvSpPr/>
          <p:nvPr/>
        </p:nvSpPr>
        <p:spPr>
          <a:xfrm>
            <a:off x="4224528" y="2093976"/>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7"/>
          <p:cNvSpPr/>
          <p:nvPr/>
        </p:nvSpPr>
        <p:spPr>
          <a:xfrm>
            <a:off x="4315968" y="2093976"/>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body contouring london</a:t>
            </a:r>
            <a:endParaRPr b="0" i="0" sz="880" u="none" cap="none" strike="noStrike">
              <a:solidFill>
                <a:schemeClr val="dk1"/>
              </a:solidFill>
              <a:latin typeface="Calibri"/>
              <a:ea typeface="Calibri"/>
              <a:cs typeface="Calibri"/>
              <a:sym typeface="Calibri"/>
            </a:endParaRPr>
          </a:p>
        </p:txBody>
      </p:sp>
      <p:sp>
        <p:nvSpPr>
          <p:cNvPr id="269" name="Google Shape;269;p7"/>
          <p:cNvSpPr/>
          <p:nvPr/>
        </p:nvSpPr>
        <p:spPr>
          <a:xfrm>
            <a:off x="5980176" y="2093976"/>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70</a:t>
            </a:r>
            <a:endParaRPr b="0" i="0" sz="820" u="none" cap="none" strike="noStrike">
              <a:solidFill>
                <a:schemeClr val="dk1"/>
              </a:solidFill>
              <a:latin typeface="Calibri"/>
              <a:ea typeface="Calibri"/>
              <a:cs typeface="Calibri"/>
              <a:sym typeface="Calibri"/>
            </a:endParaRPr>
          </a:p>
        </p:txBody>
      </p:sp>
      <p:sp>
        <p:nvSpPr>
          <p:cNvPr id="270" name="Google Shape;270;p7"/>
          <p:cNvSpPr/>
          <p:nvPr/>
        </p:nvSpPr>
        <p:spPr>
          <a:xfrm>
            <a:off x="6510528" y="2093976"/>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271" name="Google Shape;271;p7"/>
          <p:cNvSpPr/>
          <p:nvPr/>
        </p:nvSpPr>
        <p:spPr>
          <a:xfrm>
            <a:off x="6711696" y="2093976"/>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£0.99–£2.38</a:t>
            </a:r>
            <a:endParaRPr b="0" i="0" sz="760" u="none" cap="none" strike="noStrike">
              <a:solidFill>
                <a:schemeClr val="dk1"/>
              </a:solidFill>
              <a:latin typeface="Calibri"/>
              <a:ea typeface="Calibri"/>
              <a:cs typeface="Calibri"/>
              <a:sym typeface="Calibri"/>
            </a:endParaRPr>
          </a:p>
        </p:txBody>
      </p:sp>
      <p:sp>
        <p:nvSpPr>
          <p:cNvPr id="272" name="Google Shape;272;p7"/>
          <p:cNvSpPr/>
          <p:nvPr/>
        </p:nvSpPr>
        <p:spPr>
          <a:xfrm>
            <a:off x="4224528" y="2333549"/>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7"/>
          <p:cNvSpPr/>
          <p:nvPr/>
        </p:nvSpPr>
        <p:spPr>
          <a:xfrm>
            <a:off x="4315968" y="2333549"/>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body contouring treatment</a:t>
            </a:r>
            <a:endParaRPr b="0" i="0" sz="880" u="none" cap="none" strike="noStrike">
              <a:solidFill>
                <a:schemeClr val="dk1"/>
              </a:solidFill>
              <a:latin typeface="Calibri"/>
              <a:ea typeface="Calibri"/>
              <a:cs typeface="Calibri"/>
              <a:sym typeface="Calibri"/>
            </a:endParaRPr>
          </a:p>
        </p:txBody>
      </p:sp>
      <p:sp>
        <p:nvSpPr>
          <p:cNvPr id="274" name="Google Shape;274;p7"/>
          <p:cNvSpPr/>
          <p:nvPr/>
        </p:nvSpPr>
        <p:spPr>
          <a:xfrm>
            <a:off x="5980176" y="2333549"/>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275" name="Google Shape;275;p7"/>
          <p:cNvSpPr/>
          <p:nvPr/>
        </p:nvSpPr>
        <p:spPr>
          <a:xfrm>
            <a:off x="6510528" y="2333549"/>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276" name="Google Shape;276;p7"/>
          <p:cNvSpPr/>
          <p:nvPr/>
        </p:nvSpPr>
        <p:spPr>
          <a:xfrm>
            <a:off x="6711696" y="2333549"/>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£0.87–£2.54</a:t>
            </a:r>
            <a:endParaRPr b="0" i="0" sz="760" u="none" cap="none" strike="noStrike">
              <a:solidFill>
                <a:schemeClr val="dk1"/>
              </a:solidFill>
              <a:latin typeface="Calibri"/>
              <a:ea typeface="Calibri"/>
              <a:cs typeface="Calibri"/>
              <a:sym typeface="Calibri"/>
            </a:endParaRPr>
          </a:p>
        </p:txBody>
      </p:sp>
      <p:sp>
        <p:nvSpPr>
          <p:cNvPr id="277" name="Google Shape;277;p7"/>
          <p:cNvSpPr/>
          <p:nvPr/>
        </p:nvSpPr>
        <p:spPr>
          <a:xfrm>
            <a:off x="4224528" y="2573122"/>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7"/>
          <p:cNvSpPr/>
          <p:nvPr/>
        </p:nvSpPr>
        <p:spPr>
          <a:xfrm>
            <a:off x="4315968" y="2573122"/>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body contouring treatment near me</a:t>
            </a:r>
            <a:endParaRPr b="0" i="0" sz="880" u="none" cap="none" strike="noStrike">
              <a:solidFill>
                <a:schemeClr val="dk1"/>
              </a:solidFill>
              <a:latin typeface="Calibri"/>
              <a:ea typeface="Calibri"/>
              <a:cs typeface="Calibri"/>
              <a:sym typeface="Calibri"/>
            </a:endParaRPr>
          </a:p>
        </p:txBody>
      </p:sp>
      <p:sp>
        <p:nvSpPr>
          <p:cNvPr id="279" name="Google Shape;279;p7"/>
          <p:cNvSpPr/>
          <p:nvPr/>
        </p:nvSpPr>
        <p:spPr>
          <a:xfrm>
            <a:off x="5980176" y="2573122"/>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280" name="Google Shape;280;p7"/>
          <p:cNvSpPr/>
          <p:nvPr/>
        </p:nvSpPr>
        <p:spPr>
          <a:xfrm>
            <a:off x="6510528" y="2573122"/>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281" name="Google Shape;281;p7"/>
          <p:cNvSpPr/>
          <p:nvPr/>
        </p:nvSpPr>
        <p:spPr>
          <a:xfrm>
            <a:off x="6711696" y="2573122"/>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282" name="Google Shape;282;p7"/>
          <p:cNvSpPr/>
          <p:nvPr/>
        </p:nvSpPr>
        <p:spPr>
          <a:xfrm>
            <a:off x="4224528" y="2812694"/>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7"/>
          <p:cNvSpPr/>
          <p:nvPr/>
        </p:nvSpPr>
        <p:spPr>
          <a:xfrm>
            <a:off x="4315968" y="2812694"/>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body contouring clinic near me</a:t>
            </a:r>
            <a:endParaRPr b="0" i="0" sz="880" u="none" cap="none" strike="noStrike">
              <a:solidFill>
                <a:schemeClr val="dk1"/>
              </a:solidFill>
              <a:latin typeface="Calibri"/>
              <a:ea typeface="Calibri"/>
              <a:cs typeface="Calibri"/>
              <a:sym typeface="Calibri"/>
            </a:endParaRPr>
          </a:p>
        </p:txBody>
      </p:sp>
      <p:sp>
        <p:nvSpPr>
          <p:cNvPr id="284" name="Google Shape;284;p7"/>
          <p:cNvSpPr/>
          <p:nvPr/>
        </p:nvSpPr>
        <p:spPr>
          <a:xfrm>
            <a:off x="5980176" y="2812694"/>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285" name="Google Shape;285;p7"/>
          <p:cNvSpPr/>
          <p:nvPr/>
        </p:nvSpPr>
        <p:spPr>
          <a:xfrm>
            <a:off x="6510528" y="2812694"/>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a:t>
            </a:r>
            <a:endParaRPr b="0" i="0" sz="760" u="none" cap="none" strike="noStrike">
              <a:solidFill>
                <a:schemeClr val="dk1"/>
              </a:solidFill>
              <a:latin typeface="Calibri"/>
              <a:ea typeface="Calibri"/>
              <a:cs typeface="Calibri"/>
              <a:sym typeface="Calibri"/>
            </a:endParaRPr>
          </a:p>
        </p:txBody>
      </p:sp>
      <p:sp>
        <p:nvSpPr>
          <p:cNvPr id="286" name="Google Shape;286;p7"/>
          <p:cNvSpPr/>
          <p:nvPr/>
        </p:nvSpPr>
        <p:spPr>
          <a:xfrm>
            <a:off x="6711696" y="2812694"/>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287" name="Google Shape;287;p7"/>
          <p:cNvSpPr/>
          <p:nvPr/>
        </p:nvSpPr>
        <p:spPr>
          <a:xfrm>
            <a:off x="4224528" y="3052267"/>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7"/>
          <p:cNvSpPr/>
          <p:nvPr/>
        </p:nvSpPr>
        <p:spPr>
          <a:xfrm>
            <a:off x="4315968" y="3052267"/>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body sculpting skin tightening</a:t>
            </a:r>
            <a:endParaRPr b="0" i="0" sz="880" u="none" cap="none" strike="noStrike">
              <a:solidFill>
                <a:schemeClr val="dk1"/>
              </a:solidFill>
              <a:latin typeface="Calibri"/>
              <a:ea typeface="Calibri"/>
              <a:cs typeface="Calibri"/>
              <a:sym typeface="Calibri"/>
            </a:endParaRPr>
          </a:p>
        </p:txBody>
      </p:sp>
      <p:sp>
        <p:nvSpPr>
          <p:cNvPr id="289" name="Google Shape;289;p7"/>
          <p:cNvSpPr/>
          <p:nvPr/>
        </p:nvSpPr>
        <p:spPr>
          <a:xfrm>
            <a:off x="5980176" y="3052267"/>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290" name="Google Shape;290;p7"/>
          <p:cNvSpPr/>
          <p:nvPr/>
        </p:nvSpPr>
        <p:spPr>
          <a:xfrm>
            <a:off x="6510528" y="3052267"/>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a:t>
            </a:r>
            <a:endParaRPr b="0" i="0" sz="760" u="none" cap="none" strike="noStrike">
              <a:solidFill>
                <a:schemeClr val="dk1"/>
              </a:solidFill>
              <a:latin typeface="Calibri"/>
              <a:ea typeface="Calibri"/>
              <a:cs typeface="Calibri"/>
              <a:sym typeface="Calibri"/>
            </a:endParaRPr>
          </a:p>
        </p:txBody>
      </p:sp>
      <p:sp>
        <p:nvSpPr>
          <p:cNvPr id="291" name="Google Shape;291;p7"/>
          <p:cNvSpPr/>
          <p:nvPr/>
        </p:nvSpPr>
        <p:spPr>
          <a:xfrm>
            <a:off x="6711696" y="3052267"/>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292" name="Google Shape;292;p7"/>
          <p:cNvSpPr/>
          <p:nvPr/>
        </p:nvSpPr>
        <p:spPr>
          <a:xfrm>
            <a:off x="4224528" y="3291840"/>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7"/>
          <p:cNvSpPr/>
          <p:nvPr/>
        </p:nvSpPr>
        <p:spPr>
          <a:xfrm>
            <a:off x="4315968" y="3291840"/>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body contouring non invasive</a:t>
            </a:r>
            <a:endParaRPr b="0" i="0" sz="880" u="none" cap="none" strike="noStrike">
              <a:solidFill>
                <a:schemeClr val="dk1"/>
              </a:solidFill>
              <a:latin typeface="Calibri"/>
              <a:ea typeface="Calibri"/>
              <a:cs typeface="Calibri"/>
              <a:sym typeface="Calibri"/>
            </a:endParaRPr>
          </a:p>
        </p:txBody>
      </p:sp>
      <p:sp>
        <p:nvSpPr>
          <p:cNvPr id="294" name="Google Shape;294;p7"/>
          <p:cNvSpPr/>
          <p:nvPr/>
        </p:nvSpPr>
        <p:spPr>
          <a:xfrm>
            <a:off x="5980176" y="3291840"/>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295" name="Google Shape;295;p7"/>
          <p:cNvSpPr/>
          <p:nvPr/>
        </p:nvSpPr>
        <p:spPr>
          <a:xfrm>
            <a:off x="6510528" y="3291840"/>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L</a:t>
            </a:r>
            <a:endParaRPr b="0" i="0" sz="760" u="none" cap="none" strike="noStrike">
              <a:solidFill>
                <a:schemeClr val="dk1"/>
              </a:solidFill>
              <a:latin typeface="Calibri"/>
              <a:ea typeface="Calibri"/>
              <a:cs typeface="Calibri"/>
              <a:sym typeface="Calibri"/>
            </a:endParaRPr>
          </a:p>
        </p:txBody>
      </p:sp>
      <p:sp>
        <p:nvSpPr>
          <p:cNvPr id="296" name="Google Shape;296;p7"/>
          <p:cNvSpPr/>
          <p:nvPr/>
        </p:nvSpPr>
        <p:spPr>
          <a:xfrm>
            <a:off x="6711696" y="3291840"/>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297" name="Google Shape;297;p7"/>
          <p:cNvSpPr/>
          <p:nvPr/>
        </p:nvSpPr>
        <p:spPr>
          <a:xfrm>
            <a:off x="4224528" y="3531413"/>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7"/>
          <p:cNvSpPr/>
          <p:nvPr/>
        </p:nvSpPr>
        <p:spPr>
          <a:xfrm>
            <a:off x="4315968" y="3531413"/>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rf body contouring</a:t>
            </a:r>
            <a:endParaRPr b="0" i="0" sz="880" u="none" cap="none" strike="noStrike">
              <a:solidFill>
                <a:schemeClr val="dk1"/>
              </a:solidFill>
              <a:latin typeface="Calibri"/>
              <a:ea typeface="Calibri"/>
              <a:cs typeface="Calibri"/>
              <a:sym typeface="Calibri"/>
            </a:endParaRPr>
          </a:p>
        </p:txBody>
      </p:sp>
      <p:sp>
        <p:nvSpPr>
          <p:cNvPr id="299" name="Google Shape;299;p7"/>
          <p:cNvSpPr/>
          <p:nvPr/>
        </p:nvSpPr>
        <p:spPr>
          <a:xfrm>
            <a:off x="5980176" y="3531413"/>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00" name="Google Shape;300;p7"/>
          <p:cNvSpPr/>
          <p:nvPr/>
        </p:nvSpPr>
        <p:spPr>
          <a:xfrm>
            <a:off x="6510528" y="3531413"/>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301" name="Google Shape;301;p7"/>
          <p:cNvSpPr/>
          <p:nvPr/>
        </p:nvSpPr>
        <p:spPr>
          <a:xfrm>
            <a:off x="6711696" y="3531413"/>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£0.80–£2.66</a:t>
            </a:r>
            <a:endParaRPr b="0" i="0" sz="760" u="none" cap="none" strike="noStrike">
              <a:solidFill>
                <a:schemeClr val="dk1"/>
              </a:solidFill>
              <a:latin typeface="Calibri"/>
              <a:ea typeface="Calibri"/>
              <a:cs typeface="Calibri"/>
              <a:sym typeface="Calibri"/>
            </a:endParaRPr>
          </a:p>
        </p:txBody>
      </p:sp>
      <p:sp>
        <p:nvSpPr>
          <p:cNvPr id="302" name="Google Shape;302;p7"/>
          <p:cNvSpPr/>
          <p:nvPr/>
        </p:nvSpPr>
        <p:spPr>
          <a:xfrm>
            <a:off x="4224528" y="3770986"/>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7"/>
          <p:cNvSpPr/>
          <p:nvPr/>
        </p:nvSpPr>
        <p:spPr>
          <a:xfrm>
            <a:off x="4315968" y="3770986"/>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body contouring packages</a:t>
            </a:r>
            <a:endParaRPr b="0" i="0" sz="880" u="none" cap="none" strike="noStrike">
              <a:solidFill>
                <a:schemeClr val="dk1"/>
              </a:solidFill>
              <a:latin typeface="Calibri"/>
              <a:ea typeface="Calibri"/>
              <a:cs typeface="Calibri"/>
              <a:sym typeface="Calibri"/>
            </a:endParaRPr>
          </a:p>
        </p:txBody>
      </p:sp>
      <p:sp>
        <p:nvSpPr>
          <p:cNvPr id="304" name="Google Shape;304;p7"/>
          <p:cNvSpPr/>
          <p:nvPr/>
        </p:nvSpPr>
        <p:spPr>
          <a:xfrm>
            <a:off x="5980176" y="3770986"/>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05" name="Google Shape;305;p7"/>
          <p:cNvSpPr/>
          <p:nvPr/>
        </p:nvSpPr>
        <p:spPr>
          <a:xfrm>
            <a:off x="6510528" y="3770986"/>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306" name="Google Shape;306;p7"/>
          <p:cNvSpPr/>
          <p:nvPr/>
        </p:nvSpPr>
        <p:spPr>
          <a:xfrm>
            <a:off x="6711696" y="3770986"/>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307" name="Google Shape;307;p7"/>
          <p:cNvSpPr/>
          <p:nvPr/>
        </p:nvSpPr>
        <p:spPr>
          <a:xfrm>
            <a:off x="7946136" y="1810512"/>
            <a:ext cx="3584448" cy="283464"/>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7"/>
          <p:cNvSpPr/>
          <p:nvPr/>
        </p:nvSpPr>
        <p:spPr>
          <a:xfrm>
            <a:off x="8055864" y="1810512"/>
            <a:ext cx="3401568" cy="2834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Poppins"/>
              <a:buNone/>
            </a:pPr>
            <a:r>
              <a:rPr b="1" i="0" lang="en-US" sz="1050" u="none" cap="none" strike="noStrike">
                <a:solidFill>
                  <a:srgbClr val="FFFFFF"/>
                </a:solidFill>
                <a:latin typeface="Poppins"/>
                <a:ea typeface="Poppins"/>
                <a:cs typeface="Poppins"/>
                <a:sym typeface="Poppins"/>
              </a:rPr>
              <a:t>4  Non-Surgical Body Treatment</a:t>
            </a:r>
            <a:endParaRPr b="0" i="0" sz="1050" u="none" cap="none" strike="noStrike">
              <a:solidFill>
                <a:schemeClr val="dk1"/>
              </a:solidFill>
              <a:latin typeface="Calibri"/>
              <a:ea typeface="Calibri"/>
              <a:cs typeface="Calibri"/>
              <a:sym typeface="Calibri"/>
            </a:endParaRPr>
          </a:p>
        </p:txBody>
      </p:sp>
      <p:sp>
        <p:nvSpPr>
          <p:cNvPr id="309" name="Google Shape;309;p7"/>
          <p:cNvSpPr/>
          <p:nvPr/>
        </p:nvSpPr>
        <p:spPr>
          <a:xfrm>
            <a:off x="7946136" y="2093976"/>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7"/>
          <p:cNvSpPr/>
          <p:nvPr/>
        </p:nvSpPr>
        <p:spPr>
          <a:xfrm>
            <a:off x="8037576" y="2093976"/>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treatment to reduce fat</a:t>
            </a:r>
            <a:endParaRPr b="0" i="0" sz="880" u="none" cap="none" strike="noStrike">
              <a:solidFill>
                <a:schemeClr val="dk1"/>
              </a:solidFill>
              <a:latin typeface="Calibri"/>
              <a:ea typeface="Calibri"/>
              <a:cs typeface="Calibri"/>
              <a:sym typeface="Calibri"/>
            </a:endParaRPr>
          </a:p>
        </p:txBody>
      </p:sp>
      <p:sp>
        <p:nvSpPr>
          <p:cNvPr id="311" name="Google Shape;311;p7"/>
          <p:cNvSpPr/>
          <p:nvPr/>
        </p:nvSpPr>
        <p:spPr>
          <a:xfrm>
            <a:off x="9701784" y="2093976"/>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40</a:t>
            </a:r>
            <a:endParaRPr b="0" i="0" sz="820" u="none" cap="none" strike="noStrike">
              <a:solidFill>
                <a:schemeClr val="dk1"/>
              </a:solidFill>
              <a:latin typeface="Calibri"/>
              <a:ea typeface="Calibri"/>
              <a:cs typeface="Calibri"/>
              <a:sym typeface="Calibri"/>
            </a:endParaRPr>
          </a:p>
        </p:txBody>
      </p:sp>
      <p:sp>
        <p:nvSpPr>
          <p:cNvPr id="312" name="Google Shape;312;p7"/>
          <p:cNvSpPr/>
          <p:nvPr/>
        </p:nvSpPr>
        <p:spPr>
          <a:xfrm>
            <a:off x="10232136" y="2093976"/>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313" name="Google Shape;313;p7"/>
          <p:cNvSpPr/>
          <p:nvPr/>
        </p:nvSpPr>
        <p:spPr>
          <a:xfrm>
            <a:off x="10433304" y="2093976"/>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£1.14–£2.79</a:t>
            </a:r>
            <a:endParaRPr b="0" i="0" sz="760" u="none" cap="none" strike="noStrike">
              <a:solidFill>
                <a:schemeClr val="dk1"/>
              </a:solidFill>
              <a:latin typeface="Calibri"/>
              <a:ea typeface="Calibri"/>
              <a:cs typeface="Calibri"/>
              <a:sym typeface="Calibri"/>
            </a:endParaRPr>
          </a:p>
        </p:txBody>
      </p:sp>
      <p:sp>
        <p:nvSpPr>
          <p:cNvPr id="314" name="Google Shape;314;p7"/>
          <p:cNvSpPr/>
          <p:nvPr/>
        </p:nvSpPr>
        <p:spPr>
          <a:xfrm>
            <a:off x="7946136" y="2333549"/>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7"/>
          <p:cNvSpPr/>
          <p:nvPr/>
        </p:nvSpPr>
        <p:spPr>
          <a:xfrm>
            <a:off x="8037576" y="2333549"/>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noninvasive fat reduction</a:t>
            </a:r>
            <a:endParaRPr b="0" i="0" sz="880" u="none" cap="none" strike="noStrike">
              <a:solidFill>
                <a:schemeClr val="dk1"/>
              </a:solidFill>
              <a:latin typeface="Calibri"/>
              <a:ea typeface="Calibri"/>
              <a:cs typeface="Calibri"/>
              <a:sym typeface="Calibri"/>
            </a:endParaRPr>
          </a:p>
        </p:txBody>
      </p:sp>
      <p:sp>
        <p:nvSpPr>
          <p:cNvPr id="316" name="Google Shape;316;p7"/>
          <p:cNvSpPr/>
          <p:nvPr/>
        </p:nvSpPr>
        <p:spPr>
          <a:xfrm>
            <a:off x="9701784" y="2333549"/>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17" name="Google Shape;317;p7"/>
          <p:cNvSpPr/>
          <p:nvPr/>
        </p:nvSpPr>
        <p:spPr>
          <a:xfrm>
            <a:off x="10232136" y="2333549"/>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318" name="Google Shape;318;p7"/>
          <p:cNvSpPr/>
          <p:nvPr/>
        </p:nvSpPr>
        <p:spPr>
          <a:xfrm>
            <a:off x="10433304" y="2333549"/>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£0.97–£1.75</a:t>
            </a:r>
            <a:endParaRPr b="0" i="0" sz="760" u="none" cap="none" strike="noStrike">
              <a:solidFill>
                <a:schemeClr val="dk1"/>
              </a:solidFill>
              <a:latin typeface="Calibri"/>
              <a:ea typeface="Calibri"/>
              <a:cs typeface="Calibri"/>
              <a:sym typeface="Calibri"/>
            </a:endParaRPr>
          </a:p>
        </p:txBody>
      </p:sp>
      <p:sp>
        <p:nvSpPr>
          <p:cNvPr id="319" name="Google Shape;319;p7"/>
          <p:cNvSpPr/>
          <p:nvPr/>
        </p:nvSpPr>
        <p:spPr>
          <a:xfrm>
            <a:off x="7946136" y="2573122"/>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7"/>
          <p:cNvSpPr/>
          <p:nvPr/>
        </p:nvSpPr>
        <p:spPr>
          <a:xfrm>
            <a:off x="8037576" y="2573122"/>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non surgery fat reduction</a:t>
            </a:r>
            <a:endParaRPr b="0" i="0" sz="880" u="none" cap="none" strike="noStrike">
              <a:solidFill>
                <a:schemeClr val="dk1"/>
              </a:solidFill>
              <a:latin typeface="Calibri"/>
              <a:ea typeface="Calibri"/>
              <a:cs typeface="Calibri"/>
              <a:sym typeface="Calibri"/>
            </a:endParaRPr>
          </a:p>
        </p:txBody>
      </p:sp>
      <p:sp>
        <p:nvSpPr>
          <p:cNvPr id="321" name="Google Shape;321;p7"/>
          <p:cNvSpPr/>
          <p:nvPr/>
        </p:nvSpPr>
        <p:spPr>
          <a:xfrm>
            <a:off x="9701784" y="2573122"/>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22" name="Google Shape;322;p7"/>
          <p:cNvSpPr/>
          <p:nvPr/>
        </p:nvSpPr>
        <p:spPr>
          <a:xfrm>
            <a:off x="10232136" y="2573122"/>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323" name="Google Shape;323;p7"/>
          <p:cNvSpPr/>
          <p:nvPr/>
        </p:nvSpPr>
        <p:spPr>
          <a:xfrm>
            <a:off x="10433304" y="2573122"/>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£1.44–£2.66</a:t>
            </a:r>
            <a:endParaRPr b="0" i="0" sz="760" u="none" cap="none" strike="noStrike">
              <a:solidFill>
                <a:schemeClr val="dk1"/>
              </a:solidFill>
              <a:latin typeface="Calibri"/>
              <a:ea typeface="Calibri"/>
              <a:cs typeface="Calibri"/>
              <a:sym typeface="Calibri"/>
            </a:endParaRPr>
          </a:p>
        </p:txBody>
      </p:sp>
      <p:sp>
        <p:nvSpPr>
          <p:cNvPr id="324" name="Google Shape;324;p7"/>
          <p:cNvSpPr/>
          <p:nvPr/>
        </p:nvSpPr>
        <p:spPr>
          <a:xfrm>
            <a:off x="7946136" y="2812694"/>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7"/>
          <p:cNvSpPr/>
          <p:nvPr/>
        </p:nvSpPr>
        <p:spPr>
          <a:xfrm>
            <a:off x="8037576" y="2812694"/>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non surgery body contouring</a:t>
            </a:r>
            <a:endParaRPr b="0" i="0" sz="880" u="none" cap="none" strike="noStrike">
              <a:solidFill>
                <a:schemeClr val="dk1"/>
              </a:solidFill>
              <a:latin typeface="Calibri"/>
              <a:ea typeface="Calibri"/>
              <a:cs typeface="Calibri"/>
              <a:sym typeface="Calibri"/>
            </a:endParaRPr>
          </a:p>
        </p:txBody>
      </p:sp>
      <p:sp>
        <p:nvSpPr>
          <p:cNvPr id="326" name="Google Shape;326;p7"/>
          <p:cNvSpPr/>
          <p:nvPr/>
        </p:nvSpPr>
        <p:spPr>
          <a:xfrm>
            <a:off x="9701784" y="2812694"/>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27" name="Google Shape;327;p7"/>
          <p:cNvSpPr/>
          <p:nvPr/>
        </p:nvSpPr>
        <p:spPr>
          <a:xfrm>
            <a:off x="10232136" y="2812694"/>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328" name="Google Shape;328;p7"/>
          <p:cNvSpPr/>
          <p:nvPr/>
        </p:nvSpPr>
        <p:spPr>
          <a:xfrm>
            <a:off x="10433304" y="2812694"/>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£0.90–£1.88</a:t>
            </a:r>
            <a:endParaRPr b="0" i="0" sz="760" u="none" cap="none" strike="noStrike">
              <a:solidFill>
                <a:schemeClr val="dk1"/>
              </a:solidFill>
              <a:latin typeface="Calibri"/>
              <a:ea typeface="Calibri"/>
              <a:cs typeface="Calibri"/>
              <a:sym typeface="Calibri"/>
            </a:endParaRPr>
          </a:p>
        </p:txBody>
      </p:sp>
      <p:sp>
        <p:nvSpPr>
          <p:cNvPr id="329" name="Google Shape;329;p7"/>
          <p:cNvSpPr/>
          <p:nvPr/>
        </p:nvSpPr>
        <p:spPr>
          <a:xfrm>
            <a:off x="7946136" y="3052267"/>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7"/>
          <p:cNvSpPr/>
          <p:nvPr/>
        </p:nvSpPr>
        <p:spPr>
          <a:xfrm>
            <a:off x="8037576" y="3052267"/>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body sculpting without surgery</a:t>
            </a:r>
            <a:endParaRPr b="0" i="0" sz="880" u="none" cap="none" strike="noStrike">
              <a:solidFill>
                <a:schemeClr val="dk1"/>
              </a:solidFill>
              <a:latin typeface="Calibri"/>
              <a:ea typeface="Calibri"/>
              <a:cs typeface="Calibri"/>
              <a:sym typeface="Calibri"/>
            </a:endParaRPr>
          </a:p>
        </p:txBody>
      </p:sp>
      <p:sp>
        <p:nvSpPr>
          <p:cNvPr id="331" name="Google Shape;331;p7"/>
          <p:cNvSpPr/>
          <p:nvPr/>
        </p:nvSpPr>
        <p:spPr>
          <a:xfrm>
            <a:off x="9701784" y="3052267"/>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32" name="Google Shape;332;p7"/>
          <p:cNvSpPr/>
          <p:nvPr/>
        </p:nvSpPr>
        <p:spPr>
          <a:xfrm>
            <a:off x="10232136" y="3052267"/>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a:t>
            </a:r>
            <a:endParaRPr b="0" i="0" sz="760" u="none" cap="none" strike="noStrike">
              <a:solidFill>
                <a:schemeClr val="dk1"/>
              </a:solidFill>
              <a:latin typeface="Calibri"/>
              <a:ea typeface="Calibri"/>
              <a:cs typeface="Calibri"/>
              <a:sym typeface="Calibri"/>
            </a:endParaRPr>
          </a:p>
        </p:txBody>
      </p:sp>
      <p:sp>
        <p:nvSpPr>
          <p:cNvPr id="333" name="Google Shape;333;p7"/>
          <p:cNvSpPr/>
          <p:nvPr/>
        </p:nvSpPr>
        <p:spPr>
          <a:xfrm>
            <a:off x="10433304" y="3052267"/>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334" name="Google Shape;334;p7"/>
          <p:cNvSpPr/>
          <p:nvPr/>
        </p:nvSpPr>
        <p:spPr>
          <a:xfrm>
            <a:off x="7946136" y="3291840"/>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7"/>
          <p:cNvSpPr/>
          <p:nvPr/>
        </p:nvSpPr>
        <p:spPr>
          <a:xfrm>
            <a:off x="8037576" y="3291840"/>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radio frequency fat reduction</a:t>
            </a:r>
            <a:endParaRPr b="0" i="0" sz="880" u="none" cap="none" strike="noStrike">
              <a:solidFill>
                <a:schemeClr val="dk1"/>
              </a:solidFill>
              <a:latin typeface="Calibri"/>
              <a:ea typeface="Calibri"/>
              <a:cs typeface="Calibri"/>
              <a:sym typeface="Calibri"/>
            </a:endParaRPr>
          </a:p>
        </p:txBody>
      </p:sp>
      <p:sp>
        <p:nvSpPr>
          <p:cNvPr id="336" name="Google Shape;336;p7"/>
          <p:cNvSpPr/>
          <p:nvPr/>
        </p:nvSpPr>
        <p:spPr>
          <a:xfrm>
            <a:off x="9701784" y="3291840"/>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37" name="Google Shape;337;p7"/>
          <p:cNvSpPr/>
          <p:nvPr/>
        </p:nvSpPr>
        <p:spPr>
          <a:xfrm>
            <a:off x="10232136" y="3291840"/>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338" name="Google Shape;338;p7"/>
          <p:cNvSpPr/>
          <p:nvPr/>
        </p:nvSpPr>
        <p:spPr>
          <a:xfrm>
            <a:off x="10433304" y="3291840"/>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339" name="Google Shape;339;p7"/>
          <p:cNvSpPr/>
          <p:nvPr/>
        </p:nvSpPr>
        <p:spPr>
          <a:xfrm>
            <a:off x="7946136" y="3531413"/>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7"/>
          <p:cNvSpPr/>
          <p:nvPr/>
        </p:nvSpPr>
        <p:spPr>
          <a:xfrm>
            <a:off x="8037576" y="3531413"/>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belly fat reduction treatment</a:t>
            </a:r>
            <a:endParaRPr b="0" i="0" sz="880" u="none" cap="none" strike="noStrike">
              <a:solidFill>
                <a:schemeClr val="dk1"/>
              </a:solidFill>
              <a:latin typeface="Calibri"/>
              <a:ea typeface="Calibri"/>
              <a:cs typeface="Calibri"/>
              <a:sym typeface="Calibri"/>
            </a:endParaRPr>
          </a:p>
        </p:txBody>
      </p:sp>
      <p:sp>
        <p:nvSpPr>
          <p:cNvPr id="341" name="Google Shape;341;p7"/>
          <p:cNvSpPr/>
          <p:nvPr/>
        </p:nvSpPr>
        <p:spPr>
          <a:xfrm>
            <a:off x="9701784" y="3531413"/>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42" name="Google Shape;342;p7"/>
          <p:cNvSpPr/>
          <p:nvPr/>
        </p:nvSpPr>
        <p:spPr>
          <a:xfrm>
            <a:off x="10232136" y="3531413"/>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343" name="Google Shape;343;p7"/>
          <p:cNvSpPr/>
          <p:nvPr/>
        </p:nvSpPr>
        <p:spPr>
          <a:xfrm>
            <a:off x="10433304" y="3531413"/>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£1.13–£2.19</a:t>
            </a:r>
            <a:endParaRPr b="0" i="0" sz="760" u="none" cap="none" strike="noStrike">
              <a:solidFill>
                <a:schemeClr val="dk1"/>
              </a:solidFill>
              <a:latin typeface="Calibri"/>
              <a:ea typeface="Calibri"/>
              <a:cs typeface="Calibri"/>
              <a:sym typeface="Calibri"/>
            </a:endParaRPr>
          </a:p>
        </p:txBody>
      </p:sp>
      <p:sp>
        <p:nvSpPr>
          <p:cNvPr id="344" name="Google Shape;344;p7"/>
          <p:cNvSpPr/>
          <p:nvPr/>
        </p:nvSpPr>
        <p:spPr>
          <a:xfrm>
            <a:off x="7946136" y="3770986"/>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7"/>
          <p:cNvSpPr/>
          <p:nvPr/>
        </p:nvSpPr>
        <p:spPr>
          <a:xfrm>
            <a:off x="8037576" y="3770986"/>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skin tightening and fat reduction</a:t>
            </a:r>
            <a:endParaRPr b="0" i="0" sz="880" u="none" cap="none" strike="noStrike">
              <a:solidFill>
                <a:schemeClr val="dk1"/>
              </a:solidFill>
              <a:latin typeface="Calibri"/>
              <a:ea typeface="Calibri"/>
              <a:cs typeface="Calibri"/>
              <a:sym typeface="Calibri"/>
            </a:endParaRPr>
          </a:p>
        </p:txBody>
      </p:sp>
      <p:sp>
        <p:nvSpPr>
          <p:cNvPr id="346" name="Google Shape;346;p7"/>
          <p:cNvSpPr/>
          <p:nvPr/>
        </p:nvSpPr>
        <p:spPr>
          <a:xfrm>
            <a:off x="9701784" y="3770986"/>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47" name="Google Shape;347;p7"/>
          <p:cNvSpPr/>
          <p:nvPr/>
        </p:nvSpPr>
        <p:spPr>
          <a:xfrm>
            <a:off x="10232136" y="3770986"/>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348" name="Google Shape;348;p7"/>
          <p:cNvSpPr/>
          <p:nvPr/>
        </p:nvSpPr>
        <p:spPr>
          <a:xfrm>
            <a:off x="10433304" y="3770986"/>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349" name="Google Shape;349;p7"/>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350" name="Google Shape;350;p7"/>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07</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pic>
        <p:nvPicPr>
          <p:cNvPr descr="unpacked/ppt/media/image11.png" id="356" name="Google Shape;356;p8"/>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357" name="Google Shape;357;p8"/>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Keywords</a:t>
            </a:r>
            <a:endParaRPr b="0" i="0" sz="1500" u="none" cap="none" strike="noStrike">
              <a:solidFill>
                <a:schemeClr val="dk1"/>
              </a:solidFill>
              <a:latin typeface="Calibri"/>
              <a:ea typeface="Calibri"/>
              <a:cs typeface="Calibri"/>
              <a:sym typeface="Calibri"/>
            </a:endParaRPr>
          </a:p>
        </p:txBody>
      </p:sp>
      <p:sp>
        <p:nvSpPr>
          <p:cNvPr id="358" name="Google Shape;358;p8"/>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EMBODY / EMSCULPT NEO · KEYWORDS &amp; AD GROUPS</a:t>
            </a:r>
            <a:endParaRPr b="0" i="0" sz="1250" u="none" cap="none" strike="noStrike">
              <a:solidFill>
                <a:schemeClr val="dk1"/>
              </a:solidFill>
              <a:latin typeface="Calibri"/>
              <a:ea typeface="Calibri"/>
              <a:cs typeface="Calibri"/>
              <a:sym typeface="Calibri"/>
            </a:endParaRPr>
          </a:p>
        </p:txBody>
      </p:sp>
      <p:sp>
        <p:nvSpPr>
          <p:cNvPr id="359" name="Google Shape;359;p8"/>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2700" u="none" cap="none" strike="noStrike">
                <a:solidFill>
                  <a:srgbClr val="2B2E2C"/>
                </a:solidFill>
                <a:latin typeface="Poppins"/>
                <a:ea typeface="Poppins"/>
                <a:cs typeface="Poppins"/>
                <a:sym typeface="Poppins"/>
              </a:rPr>
              <a:t>Full Keyword List &amp; Bids  (2 of 2)</a:t>
            </a:r>
            <a:endParaRPr b="0" i="0" sz="3300" u="none" cap="none" strike="noStrike">
              <a:solidFill>
                <a:schemeClr val="dk1"/>
              </a:solidFill>
              <a:latin typeface="Calibri"/>
              <a:ea typeface="Calibri"/>
              <a:cs typeface="Calibri"/>
              <a:sym typeface="Calibri"/>
            </a:endParaRPr>
          </a:p>
        </p:txBody>
      </p:sp>
      <p:sp>
        <p:nvSpPr>
          <p:cNvPr id="360" name="Google Shape;360;p8"/>
          <p:cNvSpPr/>
          <p:nvPr/>
        </p:nvSpPr>
        <p:spPr>
          <a:xfrm>
            <a:off x="502920" y="1810512"/>
            <a:ext cx="3584448" cy="283464"/>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8"/>
          <p:cNvSpPr/>
          <p:nvPr/>
        </p:nvSpPr>
        <p:spPr>
          <a:xfrm>
            <a:off x="612648" y="1810512"/>
            <a:ext cx="3401568" cy="2834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Poppins"/>
              <a:buNone/>
            </a:pPr>
            <a:r>
              <a:rPr b="1" i="0" lang="en-US" sz="1050" u="none" cap="none" strike="noStrike">
                <a:solidFill>
                  <a:srgbClr val="FFFFFF"/>
                </a:solidFill>
                <a:latin typeface="Poppins"/>
                <a:ea typeface="Poppins"/>
                <a:cs typeface="Poppins"/>
                <a:sym typeface="Poppins"/>
              </a:rPr>
              <a:t>5  Muscle Toning &amp; HIFEM</a:t>
            </a:r>
            <a:endParaRPr b="0" i="0" sz="1050" u="none" cap="none" strike="noStrike">
              <a:solidFill>
                <a:schemeClr val="dk1"/>
              </a:solidFill>
              <a:latin typeface="Calibri"/>
              <a:ea typeface="Calibri"/>
              <a:cs typeface="Calibri"/>
              <a:sym typeface="Calibri"/>
            </a:endParaRPr>
          </a:p>
        </p:txBody>
      </p:sp>
      <p:sp>
        <p:nvSpPr>
          <p:cNvPr id="362" name="Google Shape;362;p8"/>
          <p:cNvSpPr/>
          <p:nvPr/>
        </p:nvSpPr>
        <p:spPr>
          <a:xfrm>
            <a:off x="502920" y="2093976"/>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8"/>
          <p:cNvSpPr/>
          <p:nvPr/>
        </p:nvSpPr>
        <p:spPr>
          <a:xfrm>
            <a:off x="594360" y="2093976"/>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muscle toning treatment</a:t>
            </a:r>
            <a:endParaRPr b="0" i="0" sz="880" u="none" cap="none" strike="noStrike">
              <a:solidFill>
                <a:schemeClr val="dk1"/>
              </a:solidFill>
              <a:latin typeface="Calibri"/>
              <a:ea typeface="Calibri"/>
              <a:cs typeface="Calibri"/>
              <a:sym typeface="Calibri"/>
            </a:endParaRPr>
          </a:p>
        </p:txBody>
      </p:sp>
      <p:sp>
        <p:nvSpPr>
          <p:cNvPr id="364" name="Google Shape;364;p8"/>
          <p:cNvSpPr/>
          <p:nvPr/>
        </p:nvSpPr>
        <p:spPr>
          <a:xfrm>
            <a:off x="2258568" y="2093976"/>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65" name="Google Shape;365;p8"/>
          <p:cNvSpPr/>
          <p:nvPr/>
        </p:nvSpPr>
        <p:spPr>
          <a:xfrm>
            <a:off x="2788920" y="2093976"/>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366" name="Google Shape;366;p8"/>
          <p:cNvSpPr/>
          <p:nvPr/>
        </p:nvSpPr>
        <p:spPr>
          <a:xfrm>
            <a:off x="2990088" y="2093976"/>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367" name="Google Shape;367;p8"/>
          <p:cNvSpPr/>
          <p:nvPr/>
        </p:nvSpPr>
        <p:spPr>
          <a:xfrm>
            <a:off x="502920" y="2333549"/>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8"/>
          <p:cNvSpPr/>
          <p:nvPr/>
        </p:nvSpPr>
        <p:spPr>
          <a:xfrm>
            <a:off x="594360" y="2333549"/>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muscle building treatment</a:t>
            </a:r>
            <a:endParaRPr b="0" i="0" sz="880" u="none" cap="none" strike="noStrike">
              <a:solidFill>
                <a:schemeClr val="dk1"/>
              </a:solidFill>
              <a:latin typeface="Calibri"/>
              <a:ea typeface="Calibri"/>
              <a:cs typeface="Calibri"/>
              <a:sym typeface="Calibri"/>
            </a:endParaRPr>
          </a:p>
        </p:txBody>
      </p:sp>
      <p:sp>
        <p:nvSpPr>
          <p:cNvPr id="369" name="Google Shape;369;p8"/>
          <p:cNvSpPr/>
          <p:nvPr/>
        </p:nvSpPr>
        <p:spPr>
          <a:xfrm>
            <a:off x="2258568" y="2333549"/>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70" name="Google Shape;370;p8"/>
          <p:cNvSpPr/>
          <p:nvPr/>
        </p:nvSpPr>
        <p:spPr>
          <a:xfrm>
            <a:off x="2788920" y="2333549"/>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a:t>
            </a:r>
            <a:endParaRPr b="0" i="0" sz="760" u="none" cap="none" strike="noStrike">
              <a:solidFill>
                <a:schemeClr val="dk1"/>
              </a:solidFill>
              <a:latin typeface="Calibri"/>
              <a:ea typeface="Calibri"/>
              <a:cs typeface="Calibri"/>
              <a:sym typeface="Calibri"/>
            </a:endParaRPr>
          </a:p>
        </p:txBody>
      </p:sp>
      <p:sp>
        <p:nvSpPr>
          <p:cNvPr id="371" name="Google Shape;371;p8"/>
          <p:cNvSpPr/>
          <p:nvPr/>
        </p:nvSpPr>
        <p:spPr>
          <a:xfrm>
            <a:off x="2990088" y="2333549"/>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372" name="Google Shape;372;p8"/>
          <p:cNvSpPr/>
          <p:nvPr/>
        </p:nvSpPr>
        <p:spPr>
          <a:xfrm>
            <a:off x="502920" y="2573122"/>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8"/>
          <p:cNvSpPr/>
          <p:nvPr/>
        </p:nvSpPr>
        <p:spPr>
          <a:xfrm>
            <a:off x="594360" y="2573122"/>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muscle sculpting treatment</a:t>
            </a:r>
            <a:endParaRPr b="0" i="0" sz="880" u="none" cap="none" strike="noStrike">
              <a:solidFill>
                <a:schemeClr val="dk1"/>
              </a:solidFill>
              <a:latin typeface="Calibri"/>
              <a:ea typeface="Calibri"/>
              <a:cs typeface="Calibri"/>
              <a:sym typeface="Calibri"/>
            </a:endParaRPr>
          </a:p>
        </p:txBody>
      </p:sp>
      <p:sp>
        <p:nvSpPr>
          <p:cNvPr id="374" name="Google Shape;374;p8"/>
          <p:cNvSpPr/>
          <p:nvPr/>
        </p:nvSpPr>
        <p:spPr>
          <a:xfrm>
            <a:off x="2258568" y="2573122"/>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75" name="Google Shape;375;p8"/>
          <p:cNvSpPr/>
          <p:nvPr/>
        </p:nvSpPr>
        <p:spPr>
          <a:xfrm>
            <a:off x="2788920" y="2573122"/>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a:t>
            </a:r>
            <a:endParaRPr b="0" i="0" sz="760" u="none" cap="none" strike="noStrike">
              <a:solidFill>
                <a:schemeClr val="dk1"/>
              </a:solidFill>
              <a:latin typeface="Calibri"/>
              <a:ea typeface="Calibri"/>
              <a:cs typeface="Calibri"/>
              <a:sym typeface="Calibri"/>
            </a:endParaRPr>
          </a:p>
        </p:txBody>
      </p:sp>
      <p:sp>
        <p:nvSpPr>
          <p:cNvPr id="376" name="Google Shape;376;p8"/>
          <p:cNvSpPr/>
          <p:nvPr/>
        </p:nvSpPr>
        <p:spPr>
          <a:xfrm>
            <a:off x="2990088" y="2573122"/>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377" name="Google Shape;377;p8"/>
          <p:cNvSpPr/>
          <p:nvPr/>
        </p:nvSpPr>
        <p:spPr>
          <a:xfrm>
            <a:off x="502920" y="2812694"/>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8"/>
          <p:cNvSpPr/>
          <p:nvPr/>
        </p:nvSpPr>
        <p:spPr>
          <a:xfrm>
            <a:off x="594360" y="2812694"/>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hifem treatment</a:t>
            </a:r>
            <a:endParaRPr b="0" i="0" sz="880" u="none" cap="none" strike="noStrike">
              <a:solidFill>
                <a:schemeClr val="dk1"/>
              </a:solidFill>
              <a:latin typeface="Calibri"/>
              <a:ea typeface="Calibri"/>
              <a:cs typeface="Calibri"/>
              <a:sym typeface="Calibri"/>
            </a:endParaRPr>
          </a:p>
        </p:txBody>
      </p:sp>
      <p:sp>
        <p:nvSpPr>
          <p:cNvPr id="379" name="Google Shape;379;p8"/>
          <p:cNvSpPr/>
          <p:nvPr/>
        </p:nvSpPr>
        <p:spPr>
          <a:xfrm>
            <a:off x="2258568" y="2812694"/>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80" name="Google Shape;380;p8"/>
          <p:cNvSpPr/>
          <p:nvPr/>
        </p:nvSpPr>
        <p:spPr>
          <a:xfrm>
            <a:off x="2788920" y="2812694"/>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381" name="Google Shape;381;p8"/>
          <p:cNvSpPr/>
          <p:nvPr/>
        </p:nvSpPr>
        <p:spPr>
          <a:xfrm>
            <a:off x="2990088" y="2812694"/>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£1.03–£3.52</a:t>
            </a:r>
            <a:endParaRPr b="0" i="0" sz="760" u="none" cap="none" strike="noStrike">
              <a:solidFill>
                <a:schemeClr val="dk1"/>
              </a:solidFill>
              <a:latin typeface="Calibri"/>
              <a:ea typeface="Calibri"/>
              <a:cs typeface="Calibri"/>
              <a:sym typeface="Calibri"/>
            </a:endParaRPr>
          </a:p>
        </p:txBody>
      </p:sp>
      <p:sp>
        <p:nvSpPr>
          <p:cNvPr id="382" name="Google Shape;382;p8"/>
          <p:cNvSpPr/>
          <p:nvPr/>
        </p:nvSpPr>
        <p:spPr>
          <a:xfrm>
            <a:off x="4224528" y="1810512"/>
            <a:ext cx="3584448" cy="283464"/>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8"/>
          <p:cNvSpPr/>
          <p:nvPr/>
        </p:nvSpPr>
        <p:spPr>
          <a:xfrm>
            <a:off x="4334256" y="1810512"/>
            <a:ext cx="3401568" cy="2834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Poppins"/>
              <a:buNone/>
            </a:pPr>
            <a:r>
              <a:rPr b="1" i="0" lang="en-US" sz="1050" u="none" cap="none" strike="noStrike">
                <a:solidFill>
                  <a:srgbClr val="FFFFFF"/>
                </a:solidFill>
                <a:latin typeface="Poppins"/>
                <a:ea typeface="Poppins"/>
                <a:cs typeface="Poppins"/>
                <a:sym typeface="Poppins"/>
              </a:rPr>
              <a:t>6  Treatment Areas</a:t>
            </a:r>
            <a:endParaRPr b="0" i="0" sz="1050" u="none" cap="none" strike="noStrike">
              <a:solidFill>
                <a:schemeClr val="dk1"/>
              </a:solidFill>
              <a:latin typeface="Calibri"/>
              <a:ea typeface="Calibri"/>
              <a:cs typeface="Calibri"/>
              <a:sym typeface="Calibri"/>
            </a:endParaRPr>
          </a:p>
        </p:txBody>
      </p:sp>
      <p:sp>
        <p:nvSpPr>
          <p:cNvPr id="384" name="Google Shape;384;p8"/>
          <p:cNvSpPr/>
          <p:nvPr/>
        </p:nvSpPr>
        <p:spPr>
          <a:xfrm>
            <a:off x="4224528" y="2093976"/>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8"/>
          <p:cNvSpPr/>
          <p:nvPr/>
        </p:nvSpPr>
        <p:spPr>
          <a:xfrm>
            <a:off x="4315968" y="2093976"/>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emsculpt arms</a:t>
            </a:r>
            <a:endParaRPr b="0" i="0" sz="880" u="none" cap="none" strike="noStrike">
              <a:solidFill>
                <a:schemeClr val="dk1"/>
              </a:solidFill>
              <a:latin typeface="Calibri"/>
              <a:ea typeface="Calibri"/>
              <a:cs typeface="Calibri"/>
              <a:sym typeface="Calibri"/>
            </a:endParaRPr>
          </a:p>
        </p:txBody>
      </p:sp>
      <p:sp>
        <p:nvSpPr>
          <p:cNvPr id="386" name="Google Shape;386;p8"/>
          <p:cNvSpPr/>
          <p:nvPr/>
        </p:nvSpPr>
        <p:spPr>
          <a:xfrm>
            <a:off x="5980176" y="2093976"/>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20</a:t>
            </a:r>
            <a:endParaRPr b="0" i="0" sz="820" u="none" cap="none" strike="noStrike">
              <a:solidFill>
                <a:schemeClr val="dk1"/>
              </a:solidFill>
              <a:latin typeface="Calibri"/>
              <a:ea typeface="Calibri"/>
              <a:cs typeface="Calibri"/>
              <a:sym typeface="Calibri"/>
            </a:endParaRPr>
          </a:p>
        </p:txBody>
      </p:sp>
      <p:sp>
        <p:nvSpPr>
          <p:cNvPr id="387" name="Google Shape;387;p8"/>
          <p:cNvSpPr/>
          <p:nvPr/>
        </p:nvSpPr>
        <p:spPr>
          <a:xfrm>
            <a:off x="6510528" y="2093976"/>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388" name="Google Shape;388;p8"/>
          <p:cNvSpPr/>
          <p:nvPr/>
        </p:nvSpPr>
        <p:spPr>
          <a:xfrm>
            <a:off x="6711696" y="2093976"/>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£0.95–£2.26</a:t>
            </a:r>
            <a:endParaRPr b="0" i="0" sz="760" u="none" cap="none" strike="noStrike">
              <a:solidFill>
                <a:schemeClr val="dk1"/>
              </a:solidFill>
              <a:latin typeface="Calibri"/>
              <a:ea typeface="Calibri"/>
              <a:cs typeface="Calibri"/>
              <a:sym typeface="Calibri"/>
            </a:endParaRPr>
          </a:p>
        </p:txBody>
      </p:sp>
      <p:sp>
        <p:nvSpPr>
          <p:cNvPr id="389" name="Google Shape;389;p8"/>
          <p:cNvSpPr/>
          <p:nvPr/>
        </p:nvSpPr>
        <p:spPr>
          <a:xfrm>
            <a:off x="4224528" y="2333549"/>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8"/>
          <p:cNvSpPr/>
          <p:nvPr/>
        </p:nvSpPr>
        <p:spPr>
          <a:xfrm>
            <a:off x="4315968" y="2333549"/>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emsculpt neo arms</a:t>
            </a:r>
            <a:endParaRPr b="0" i="0" sz="880" u="none" cap="none" strike="noStrike">
              <a:solidFill>
                <a:schemeClr val="dk1"/>
              </a:solidFill>
              <a:latin typeface="Calibri"/>
              <a:ea typeface="Calibri"/>
              <a:cs typeface="Calibri"/>
              <a:sym typeface="Calibri"/>
            </a:endParaRPr>
          </a:p>
        </p:txBody>
      </p:sp>
      <p:sp>
        <p:nvSpPr>
          <p:cNvPr id="391" name="Google Shape;391;p8"/>
          <p:cNvSpPr/>
          <p:nvPr/>
        </p:nvSpPr>
        <p:spPr>
          <a:xfrm>
            <a:off x="5980176" y="2333549"/>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92" name="Google Shape;392;p8"/>
          <p:cNvSpPr/>
          <p:nvPr/>
        </p:nvSpPr>
        <p:spPr>
          <a:xfrm>
            <a:off x="6510528" y="2333549"/>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393" name="Google Shape;393;p8"/>
          <p:cNvSpPr/>
          <p:nvPr/>
        </p:nvSpPr>
        <p:spPr>
          <a:xfrm>
            <a:off x="6711696" y="2333549"/>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£0.99–£3.42</a:t>
            </a:r>
            <a:endParaRPr b="0" i="0" sz="760" u="none" cap="none" strike="noStrike">
              <a:solidFill>
                <a:schemeClr val="dk1"/>
              </a:solidFill>
              <a:latin typeface="Calibri"/>
              <a:ea typeface="Calibri"/>
              <a:cs typeface="Calibri"/>
              <a:sym typeface="Calibri"/>
            </a:endParaRPr>
          </a:p>
        </p:txBody>
      </p:sp>
      <p:sp>
        <p:nvSpPr>
          <p:cNvPr id="394" name="Google Shape;394;p8"/>
          <p:cNvSpPr/>
          <p:nvPr/>
        </p:nvSpPr>
        <p:spPr>
          <a:xfrm>
            <a:off x="4224528" y="2573122"/>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8"/>
          <p:cNvSpPr/>
          <p:nvPr/>
        </p:nvSpPr>
        <p:spPr>
          <a:xfrm>
            <a:off x="4315968" y="2573122"/>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emsculpt thighs</a:t>
            </a:r>
            <a:endParaRPr b="0" i="0" sz="880" u="none" cap="none" strike="noStrike">
              <a:solidFill>
                <a:schemeClr val="dk1"/>
              </a:solidFill>
              <a:latin typeface="Calibri"/>
              <a:ea typeface="Calibri"/>
              <a:cs typeface="Calibri"/>
              <a:sym typeface="Calibri"/>
            </a:endParaRPr>
          </a:p>
        </p:txBody>
      </p:sp>
      <p:sp>
        <p:nvSpPr>
          <p:cNvPr id="396" name="Google Shape;396;p8"/>
          <p:cNvSpPr/>
          <p:nvPr/>
        </p:nvSpPr>
        <p:spPr>
          <a:xfrm>
            <a:off x="5980176" y="2573122"/>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397" name="Google Shape;397;p8"/>
          <p:cNvSpPr/>
          <p:nvPr/>
        </p:nvSpPr>
        <p:spPr>
          <a:xfrm>
            <a:off x="6510528" y="2573122"/>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398" name="Google Shape;398;p8"/>
          <p:cNvSpPr/>
          <p:nvPr/>
        </p:nvSpPr>
        <p:spPr>
          <a:xfrm>
            <a:off x="6711696" y="2573122"/>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399" name="Google Shape;399;p8"/>
          <p:cNvSpPr/>
          <p:nvPr/>
        </p:nvSpPr>
        <p:spPr>
          <a:xfrm>
            <a:off x="4224528" y="2812694"/>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8"/>
          <p:cNvSpPr/>
          <p:nvPr/>
        </p:nvSpPr>
        <p:spPr>
          <a:xfrm>
            <a:off x="4315968" y="2812694"/>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emsculpt neo abdomen</a:t>
            </a:r>
            <a:endParaRPr b="0" i="0" sz="880" u="none" cap="none" strike="noStrike">
              <a:solidFill>
                <a:schemeClr val="dk1"/>
              </a:solidFill>
              <a:latin typeface="Calibri"/>
              <a:ea typeface="Calibri"/>
              <a:cs typeface="Calibri"/>
              <a:sym typeface="Calibri"/>
            </a:endParaRPr>
          </a:p>
        </p:txBody>
      </p:sp>
      <p:sp>
        <p:nvSpPr>
          <p:cNvPr id="401" name="Google Shape;401;p8"/>
          <p:cNvSpPr/>
          <p:nvPr/>
        </p:nvSpPr>
        <p:spPr>
          <a:xfrm>
            <a:off x="5980176" y="2812694"/>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402" name="Google Shape;402;p8"/>
          <p:cNvSpPr/>
          <p:nvPr/>
        </p:nvSpPr>
        <p:spPr>
          <a:xfrm>
            <a:off x="6510528" y="2812694"/>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403" name="Google Shape;403;p8"/>
          <p:cNvSpPr/>
          <p:nvPr/>
        </p:nvSpPr>
        <p:spPr>
          <a:xfrm>
            <a:off x="6711696" y="2812694"/>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404" name="Google Shape;404;p8"/>
          <p:cNvSpPr/>
          <p:nvPr/>
        </p:nvSpPr>
        <p:spPr>
          <a:xfrm>
            <a:off x="4224528" y="3052267"/>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8"/>
          <p:cNvSpPr/>
          <p:nvPr/>
        </p:nvSpPr>
        <p:spPr>
          <a:xfrm>
            <a:off x="4315968" y="3052267"/>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love handles treatment</a:t>
            </a:r>
            <a:endParaRPr b="0" i="0" sz="880" u="none" cap="none" strike="noStrike">
              <a:solidFill>
                <a:schemeClr val="dk1"/>
              </a:solidFill>
              <a:latin typeface="Calibri"/>
              <a:ea typeface="Calibri"/>
              <a:cs typeface="Calibri"/>
              <a:sym typeface="Calibri"/>
            </a:endParaRPr>
          </a:p>
        </p:txBody>
      </p:sp>
      <p:sp>
        <p:nvSpPr>
          <p:cNvPr id="406" name="Google Shape;406;p8"/>
          <p:cNvSpPr/>
          <p:nvPr/>
        </p:nvSpPr>
        <p:spPr>
          <a:xfrm>
            <a:off x="5980176" y="3052267"/>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407" name="Google Shape;407;p8"/>
          <p:cNvSpPr/>
          <p:nvPr/>
        </p:nvSpPr>
        <p:spPr>
          <a:xfrm>
            <a:off x="6510528" y="3052267"/>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408" name="Google Shape;408;p8"/>
          <p:cNvSpPr/>
          <p:nvPr/>
        </p:nvSpPr>
        <p:spPr>
          <a:xfrm>
            <a:off x="6711696" y="3052267"/>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£1.03–£3.31</a:t>
            </a:r>
            <a:endParaRPr b="0" i="0" sz="760" u="none" cap="none" strike="noStrike">
              <a:solidFill>
                <a:schemeClr val="dk1"/>
              </a:solidFill>
              <a:latin typeface="Calibri"/>
              <a:ea typeface="Calibri"/>
              <a:cs typeface="Calibri"/>
              <a:sym typeface="Calibri"/>
            </a:endParaRPr>
          </a:p>
        </p:txBody>
      </p:sp>
      <p:sp>
        <p:nvSpPr>
          <p:cNvPr id="409" name="Google Shape;409;p8"/>
          <p:cNvSpPr/>
          <p:nvPr/>
        </p:nvSpPr>
        <p:spPr>
          <a:xfrm>
            <a:off x="7946136" y="1810512"/>
            <a:ext cx="3584448" cy="283464"/>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8"/>
          <p:cNvSpPr/>
          <p:nvPr/>
        </p:nvSpPr>
        <p:spPr>
          <a:xfrm>
            <a:off x="8055864" y="1810512"/>
            <a:ext cx="3401568" cy="2834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Poppins"/>
              <a:buNone/>
            </a:pPr>
            <a:r>
              <a:rPr b="1" i="0" lang="en-US" sz="1050" u="none" cap="none" strike="noStrike">
                <a:solidFill>
                  <a:srgbClr val="FFFFFF"/>
                </a:solidFill>
                <a:latin typeface="Poppins"/>
                <a:ea typeface="Poppins"/>
                <a:cs typeface="Poppins"/>
                <a:sym typeface="Poppins"/>
              </a:rPr>
              <a:t>7  Local (Central London)</a:t>
            </a:r>
            <a:endParaRPr b="0" i="0" sz="1050" u="none" cap="none" strike="noStrike">
              <a:solidFill>
                <a:schemeClr val="dk1"/>
              </a:solidFill>
              <a:latin typeface="Calibri"/>
              <a:ea typeface="Calibri"/>
              <a:cs typeface="Calibri"/>
              <a:sym typeface="Calibri"/>
            </a:endParaRPr>
          </a:p>
        </p:txBody>
      </p:sp>
      <p:sp>
        <p:nvSpPr>
          <p:cNvPr id="411" name="Google Shape;411;p8"/>
          <p:cNvSpPr/>
          <p:nvPr/>
        </p:nvSpPr>
        <p:spPr>
          <a:xfrm>
            <a:off x="7946136" y="2093976"/>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8"/>
          <p:cNvSpPr/>
          <p:nvPr/>
        </p:nvSpPr>
        <p:spPr>
          <a:xfrm>
            <a:off x="8037576" y="2093976"/>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emsculpt clinic</a:t>
            </a:r>
            <a:endParaRPr b="0" i="0" sz="880" u="none" cap="none" strike="noStrike">
              <a:solidFill>
                <a:schemeClr val="dk1"/>
              </a:solidFill>
              <a:latin typeface="Calibri"/>
              <a:ea typeface="Calibri"/>
              <a:cs typeface="Calibri"/>
              <a:sym typeface="Calibri"/>
            </a:endParaRPr>
          </a:p>
        </p:txBody>
      </p:sp>
      <p:sp>
        <p:nvSpPr>
          <p:cNvPr id="413" name="Google Shape;413;p8"/>
          <p:cNvSpPr/>
          <p:nvPr/>
        </p:nvSpPr>
        <p:spPr>
          <a:xfrm>
            <a:off x="9701784" y="2093976"/>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414" name="Google Shape;414;p8"/>
          <p:cNvSpPr/>
          <p:nvPr/>
        </p:nvSpPr>
        <p:spPr>
          <a:xfrm>
            <a:off x="10232136" y="2093976"/>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a:t>
            </a:r>
            <a:endParaRPr b="0" i="0" sz="760" u="none" cap="none" strike="noStrike">
              <a:solidFill>
                <a:schemeClr val="dk1"/>
              </a:solidFill>
              <a:latin typeface="Calibri"/>
              <a:ea typeface="Calibri"/>
              <a:cs typeface="Calibri"/>
              <a:sym typeface="Calibri"/>
            </a:endParaRPr>
          </a:p>
        </p:txBody>
      </p:sp>
      <p:sp>
        <p:nvSpPr>
          <p:cNvPr id="415" name="Google Shape;415;p8"/>
          <p:cNvSpPr/>
          <p:nvPr/>
        </p:nvSpPr>
        <p:spPr>
          <a:xfrm>
            <a:off x="10433304" y="2093976"/>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416" name="Google Shape;416;p8"/>
          <p:cNvSpPr/>
          <p:nvPr/>
        </p:nvSpPr>
        <p:spPr>
          <a:xfrm>
            <a:off x="7946136" y="2333549"/>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8"/>
          <p:cNvSpPr/>
          <p:nvPr/>
        </p:nvSpPr>
        <p:spPr>
          <a:xfrm>
            <a:off x="8037576" y="2333549"/>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emsculpt neo treatment near me</a:t>
            </a:r>
            <a:endParaRPr b="0" i="0" sz="880" u="none" cap="none" strike="noStrike">
              <a:solidFill>
                <a:schemeClr val="dk1"/>
              </a:solidFill>
              <a:latin typeface="Calibri"/>
              <a:ea typeface="Calibri"/>
              <a:cs typeface="Calibri"/>
              <a:sym typeface="Calibri"/>
            </a:endParaRPr>
          </a:p>
        </p:txBody>
      </p:sp>
      <p:sp>
        <p:nvSpPr>
          <p:cNvPr id="418" name="Google Shape;418;p8"/>
          <p:cNvSpPr/>
          <p:nvPr/>
        </p:nvSpPr>
        <p:spPr>
          <a:xfrm>
            <a:off x="9701784" y="2333549"/>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419" name="Google Shape;419;p8"/>
          <p:cNvSpPr/>
          <p:nvPr/>
        </p:nvSpPr>
        <p:spPr>
          <a:xfrm>
            <a:off x="10232136" y="2333549"/>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a:t>
            </a:r>
            <a:endParaRPr b="0" i="0" sz="760" u="none" cap="none" strike="noStrike">
              <a:solidFill>
                <a:schemeClr val="dk1"/>
              </a:solidFill>
              <a:latin typeface="Calibri"/>
              <a:ea typeface="Calibri"/>
              <a:cs typeface="Calibri"/>
              <a:sym typeface="Calibri"/>
            </a:endParaRPr>
          </a:p>
        </p:txBody>
      </p:sp>
      <p:sp>
        <p:nvSpPr>
          <p:cNvPr id="420" name="Google Shape;420;p8"/>
          <p:cNvSpPr/>
          <p:nvPr/>
        </p:nvSpPr>
        <p:spPr>
          <a:xfrm>
            <a:off x="10433304" y="2333549"/>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421" name="Google Shape;421;p8"/>
          <p:cNvSpPr/>
          <p:nvPr/>
        </p:nvSpPr>
        <p:spPr>
          <a:xfrm>
            <a:off x="7946136" y="2573122"/>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8"/>
          <p:cNvSpPr/>
          <p:nvPr/>
        </p:nvSpPr>
        <p:spPr>
          <a:xfrm>
            <a:off x="8037576" y="2573122"/>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neo emsculpt near me</a:t>
            </a:r>
            <a:endParaRPr b="0" i="0" sz="880" u="none" cap="none" strike="noStrike">
              <a:solidFill>
                <a:schemeClr val="dk1"/>
              </a:solidFill>
              <a:latin typeface="Calibri"/>
              <a:ea typeface="Calibri"/>
              <a:cs typeface="Calibri"/>
              <a:sym typeface="Calibri"/>
            </a:endParaRPr>
          </a:p>
        </p:txBody>
      </p:sp>
      <p:sp>
        <p:nvSpPr>
          <p:cNvPr id="423" name="Google Shape;423;p8"/>
          <p:cNvSpPr/>
          <p:nvPr/>
        </p:nvSpPr>
        <p:spPr>
          <a:xfrm>
            <a:off x="9701784" y="2573122"/>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424" name="Google Shape;424;p8"/>
          <p:cNvSpPr/>
          <p:nvPr/>
        </p:nvSpPr>
        <p:spPr>
          <a:xfrm>
            <a:off x="10232136" y="2573122"/>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425" name="Google Shape;425;p8"/>
          <p:cNvSpPr/>
          <p:nvPr/>
        </p:nvSpPr>
        <p:spPr>
          <a:xfrm>
            <a:off x="10433304" y="2573122"/>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426" name="Google Shape;426;p8"/>
          <p:cNvSpPr/>
          <p:nvPr/>
        </p:nvSpPr>
        <p:spPr>
          <a:xfrm>
            <a:off x="7946136" y="2812694"/>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8"/>
          <p:cNvSpPr/>
          <p:nvPr/>
        </p:nvSpPr>
        <p:spPr>
          <a:xfrm>
            <a:off x="8037576" y="2812694"/>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body shaping clinic near me</a:t>
            </a:r>
            <a:endParaRPr b="0" i="0" sz="880" u="none" cap="none" strike="noStrike">
              <a:solidFill>
                <a:schemeClr val="dk1"/>
              </a:solidFill>
              <a:latin typeface="Calibri"/>
              <a:ea typeface="Calibri"/>
              <a:cs typeface="Calibri"/>
              <a:sym typeface="Calibri"/>
            </a:endParaRPr>
          </a:p>
        </p:txBody>
      </p:sp>
      <p:sp>
        <p:nvSpPr>
          <p:cNvPr id="428" name="Google Shape;428;p8"/>
          <p:cNvSpPr/>
          <p:nvPr/>
        </p:nvSpPr>
        <p:spPr>
          <a:xfrm>
            <a:off x="9701784" y="2812694"/>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429" name="Google Shape;429;p8"/>
          <p:cNvSpPr/>
          <p:nvPr/>
        </p:nvSpPr>
        <p:spPr>
          <a:xfrm>
            <a:off x="10232136" y="2812694"/>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430" name="Google Shape;430;p8"/>
          <p:cNvSpPr/>
          <p:nvPr/>
        </p:nvSpPr>
        <p:spPr>
          <a:xfrm>
            <a:off x="10433304" y="2812694"/>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431" name="Google Shape;431;p8"/>
          <p:cNvSpPr/>
          <p:nvPr/>
        </p:nvSpPr>
        <p:spPr>
          <a:xfrm>
            <a:off x="7946136" y="3052267"/>
            <a:ext cx="3584448" cy="239573"/>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8"/>
          <p:cNvSpPr/>
          <p:nvPr/>
        </p:nvSpPr>
        <p:spPr>
          <a:xfrm>
            <a:off x="8037576" y="3052267"/>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body toning treatment near me</a:t>
            </a:r>
            <a:endParaRPr b="0" i="0" sz="880" u="none" cap="none" strike="noStrike">
              <a:solidFill>
                <a:schemeClr val="dk1"/>
              </a:solidFill>
              <a:latin typeface="Calibri"/>
              <a:ea typeface="Calibri"/>
              <a:cs typeface="Calibri"/>
              <a:sym typeface="Calibri"/>
            </a:endParaRPr>
          </a:p>
        </p:txBody>
      </p:sp>
      <p:sp>
        <p:nvSpPr>
          <p:cNvPr id="433" name="Google Shape;433;p8"/>
          <p:cNvSpPr/>
          <p:nvPr/>
        </p:nvSpPr>
        <p:spPr>
          <a:xfrm>
            <a:off x="9701784" y="3052267"/>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434" name="Google Shape;434;p8"/>
          <p:cNvSpPr/>
          <p:nvPr/>
        </p:nvSpPr>
        <p:spPr>
          <a:xfrm>
            <a:off x="10232136" y="3052267"/>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435" name="Google Shape;435;p8"/>
          <p:cNvSpPr/>
          <p:nvPr/>
        </p:nvSpPr>
        <p:spPr>
          <a:xfrm>
            <a:off x="10433304" y="3052267"/>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436" name="Google Shape;436;p8"/>
          <p:cNvSpPr/>
          <p:nvPr/>
        </p:nvSpPr>
        <p:spPr>
          <a:xfrm>
            <a:off x="7946136" y="3291840"/>
            <a:ext cx="3584448" cy="239573"/>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8"/>
          <p:cNvSpPr/>
          <p:nvPr/>
        </p:nvSpPr>
        <p:spPr>
          <a:xfrm>
            <a:off x="8037576" y="3291840"/>
            <a:ext cx="1691640" cy="23957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sculpt body shaping near me</a:t>
            </a:r>
            <a:endParaRPr b="0" i="0" sz="880" u="none" cap="none" strike="noStrike">
              <a:solidFill>
                <a:schemeClr val="dk1"/>
              </a:solidFill>
              <a:latin typeface="Calibri"/>
              <a:ea typeface="Calibri"/>
              <a:cs typeface="Calibri"/>
              <a:sym typeface="Calibri"/>
            </a:endParaRPr>
          </a:p>
        </p:txBody>
      </p:sp>
      <p:sp>
        <p:nvSpPr>
          <p:cNvPr id="438" name="Google Shape;438;p8"/>
          <p:cNvSpPr/>
          <p:nvPr/>
        </p:nvSpPr>
        <p:spPr>
          <a:xfrm>
            <a:off x="9701784" y="3291840"/>
            <a:ext cx="51206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10</a:t>
            </a:r>
            <a:endParaRPr b="0" i="0" sz="820" u="none" cap="none" strike="noStrike">
              <a:solidFill>
                <a:schemeClr val="dk1"/>
              </a:solidFill>
              <a:latin typeface="Calibri"/>
              <a:ea typeface="Calibri"/>
              <a:cs typeface="Calibri"/>
              <a:sym typeface="Calibri"/>
            </a:endParaRPr>
          </a:p>
        </p:txBody>
      </p:sp>
      <p:sp>
        <p:nvSpPr>
          <p:cNvPr id="439" name="Google Shape;439;p8"/>
          <p:cNvSpPr/>
          <p:nvPr/>
        </p:nvSpPr>
        <p:spPr>
          <a:xfrm>
            <a:off x="10232136" y="3291840"/>
            <a:ext cx="182880" cy="23957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a:t>
            </a:r>
            <a:endParaRPr b="0" i="0" sz="760" u="none" cap="none" strike="noStrike">
              <a:solidFill>
                <a:schemeClr val="dk1"/>
              </a:solidFill>
              <a:latin typeface="Calibri"/>
              <a:ea typeface="Calibri"/>
              <a:cs typeface="Calibri"/>
              <a:sym typeface="Calibri"/>
            </a:endParaRPr>
          </a:p>
        </p:txBody>
      </p:sp>
      <p:sp>
        <p:nvSpPr>
          <p:cNvPr id="440" name="Google Shape;440;p8"/>
          <p:cNvSpPr/>
          <p:nvPr/>
        </p:nvSpPr>
        <p:spPr>
          <a:xfrm>
            <a:off x="10433304" y="3291840"/>
            <a:ext cx="1060704" cy="23957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a:t>
            </a:r>
            <a:endParaRPr b="0" i="0" sz="760" u="none" cap="none" strike="noStrike">
              <a:solidFill>
                <a:schemeClr val="dk1"/>
              </a:solidFill>
              <a:latin typeface="Calibri"/>
              <a:ea typeface="Calibri"/>
              <a:cs typeface="Calibri"/>
              <a:sym typeface="Calibri"/>
            </a:endParaRPr>
          </a:p>
        </p:txBody>
      </p:sp>
      <p:sp>
        <p:nvSpPr>
          <p:cNvPr id="441" name="Google Shape;441;p8"/>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442" name="Google Shape;442;p8"/>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08</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7" name="Shape 447"/>
        <p:cNvGrpSpPr/>
        <p:nvPr/>
      </p:nvGrpSpPr>
      <p:grpSpPr>
        <a:xfrm>
          <a:off x="0" y="0"/>
          <a:ext cx="0" cy="0"/>
          <a:chOff x="0" y="0"/>
          <a:chExt cx="0" cy="0"/>
        </a:xfrm>
      </p:grpSpPr>
      <p:pic>
        <p:nvPicPr>
          <p:cNvPr descr="unpacked/ppt/media/image11.png" id="448" name="Google Shape;448;p9"/>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449" name="Google Shape;449;p9"/>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Ad Copy</a:t>
            </a:r>
            <a:endParaRPr b="0" i="0" sz="1500" u="none" cap="none" strike="noStrike">
              <a:solidFill>
                <a:schemeClr val="dk1"/>
              </a:solidFill>
              <a:latin typeface="Calibri"/>
              <a:ea typeface="Calibri"/>
              <a:cs typeface="Calibri"/>
              <a:sym typeface="Calibri"/>
            </a:endParaRPr>
          </a:p>
        </p:txBody>
      </p:sp>
      <p:sp>
        <p:nvSpPr>
          <p:cNvPr id="450" name="Google Shape;450;p9"/>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EMBODY / EMSCULPT NEO · AD COPY · SET 1 OF 4</a:t>
            </a:r>
            <a:endParaRPr b="0" i="0" sz="1250" u="none" cap="none" strike="noStrike">
              <a:solidFill>
                <a:schemeClr val="dk1"/>
              </a:solidFill>
              <a:latin typeface="Calibri"/>
              <a:ea typeface="Calibri"/>
              <a:cs typeface="Calibri"/>
              <a:sym typeface="Calibri"/>
            </a:endParaRPr>
          </a:p>
        </p:txBody>
      </p:sp>
      <p:sp>
        <p:nvSpPr>
          <p:cNvPr id="451" name="Google Shape;451;p9"/>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Responsive Search Ad Copy</a:t>
            </a:r>
            <a:endParaRPr b="0" i="0" sz="3300" u="none" cap="none" strike="noStrike">
              <a:solidFill>
                <a:schemeClr val="dk1"/>
              </a:solidFill>
              <a:latin typeface="Calibri"/>
              <a:ea typeface="Calibri"/>
              <a:cs typeface="Calibri"/>
              <a:sym typeface="Calibri"/>
            </a:endParaRPr>
          </a:p>
        </p:txBody>
      </p:sp>
      <p:sp>
        <p:nvSpPr>
          <p:cNvPr id="452" name="Google Shape;452;p9"/>
          <p:cNvSpPr/>
          <p:nvPr/>
        </p:nvSpPr>
        <p:spPr>
          <a:xfrm>
            <a:off x="502920" y="1874520"/>
            <a:ext cx="5440680" cy="457200"/>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9"/>
          <p:cNvSpPr/>
          <p:nvPr/>
        </p:nvSpPr>
        <p:spPr>
          <a:xfrm>
            <a:off x="649224" y="1975104"/>
            <a:ext cx="256032" cy="256032"/>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9"/>
          <p:cNvSpPr/>
          <p:nvPr/>
        </p:nvSpPr>
        <p:spPr>
          <a:xfrm>
            <a:off x="649224" y="1975104"/>
            <a:ext cx="256032"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1</a:t>
            </a:r>
            <a:endParaRPr b="0" i="0" sz="1100" u="none" cap="none" strike="noStrike">
              <a:solidFill>
                <a:schemeClr val="dk1"/>
              </a:solidFill>
              <a:latin typeface="Calibri"/>
              <a:ea typeface="Calibri"/>
              <a:cs typeface="Calibri"/>
              <a:sym typeface="Calibri"/>
            </a:endParaRPr>
          </a:p>
        </p:txBody>
      </p:sp>
      <p:sp>
        <p:nvSpPr>
          <p:cNvPr id="455" name="Google Shape;455;p9"/>
          <p:cNvSpPr/>
          <p:nvPr/>
        </p:nvSpPr>
        <p:spPr>
          <a:xfrm>
            <a:off x="1014984" y="1874520"/>
            <a:ext cx="4837176"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Poppins"/>
              <a:buNone/>
            </a:pPr>
            <a:r>
              <a:rPr b="1" i="0" lang="en-US" sz="1250" u="none" cap="none" strike="noStrike">
                <a:solidFill>
                  <a:srgbClr val="FFFFFF"/>
                </a:solidFill>
                <a:latin typeface="Poppins"/>
                <a:ea typeface="Poppins"/>
                <a:cs typeface="Poppins"/>
                <a:sym typeface="Poppins"/>
              </a:rPr>
              <a:t>AD GROUP 1 · EmSculpt NEO</a:t>
            </a:r>
            <a:endParaRPr b="0" i="0" sz="1250" u="none" cap="none" strike="noStrike">
              <a:solidFill>
                <a:schemeClr val="dk1"/>
              </a:solidFill>
              <a:latin typeface="Calibri"/>
              <a:ea typeface="Calibri"/>
              <a:cs typeface="Calibri"/>
              <a:sym typeface="Calibri"/>
            </a:endParaRPr>
          </a:p>
        </p:txBody>
      </p:sp>
      <p:sp>
        <p:nvSpPr>
          <p:cNvPr id="456" name="Google Shape;456;p9"/>
          <p:cNvSpPr/>
          <p:nvPr/>
        </p:nvSpPr>
        <p:spPr>
          <a:xfrm>
            <a:off x="557784" y="2468880"/>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HEADLINES (15 · ≤30 chars)</a:t>
            </a:r>
            <a:endParaRPr b="0" i="0" sz="1050" u="none" cap="none" strike="noStrike">
              <a:solidFill>
                <a:schemeClr val="dk1"/>
              </a:solidFill>
              <a:latin typeface="Calibri"/>
              <a:ea typeface="Calibri"/>
              <a:cs typeface="Calibri"/>
              <a:sym typeface="Calibri"/>
            </a:endParaRPr>
          </a:p>
        </p:txBody>
      </p:sp>
      <p:sp>
        <p:nvSpPr>
          <p:cNvPr id="457" name="Google Shape;457;p9"/>
          <p:cNvSpPr/>
          <p:nvPr/>
        </p:nvSpPr>
        <p:spPr>
          <a:xfrm>
            <a:off x="594360"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 EMSCULPT NEO London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2. EMSCULPT NEO Near You</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3. Body Sculpting in Holborn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4. 30-Minute Treatments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5. Muscle Toning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6. No Surgery, No Downtime</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7. Dermatology-Led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8. CQC-Regulated Clinic</a:t>
            </a:r>
            <a:endParaRPr b="0" i="0" sz="1030" u="none" cap="none" strike="noStrike">
              <a:solidFill>
                <a:schemeClr val="dk1"/>
              </a:solidFill>
              <a:latin typeface="Calibri"/>
              <a:ea typeface="Calibri"/>
              <a:cs typeface="Calibri"/>
              <a:sym typeface="Calibri"/>
            </a:endParaRPr>
          </a:p>
        </p:txBody>
      </p:sp>
      <p:sp>
        <p:nvSpPr>
          <p:cNvPr id="458" name="Google Shape;458;p9"/>
          <p:cNvSpPr/>
          <p:nvPr/>
        </p:nvSpPr>
        <p:spPr>
          <a:xfrm>
            <a:off x="3223260"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9. Course of Four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10. Central London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11. Monthly Payment Options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12. Medically Supervised Plan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13. Treats Abs, Arms &amp; Thighs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14. HIFEM + RF In One Session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15. Book a Free Consultation</a:t>
            </a:r>
            <a:endParaRPr b="0" i="0" sz="1030" u="none" cap="none" strike="noStrike">
              <a:solidFill>
                <a:schemeClr val="dk1"/>
              </a:solidFill>
              <a:latin typeface="Calibri"/>
              <a:ea typeface="Calibri"/>
              <a:cs typeface="Calibri"/>
              <a:sym typeface="Calibri"/>
            </a:endParaRPr>
          </a:p>
        </p:txBody>
      </p:sp>
      <p:sp>
        <p:nvSpPr>
          <p:cNvPr id="459" name="Google Shape;459;p9"/>
          <p:cNvSpPr/>
          <p:nvPr/>
        </p:nvSpPr>
        <p:spPr>
          <a:xfrm>
            <a:off x="557784" y="4608576"/>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DESCRIPTIONS (≤90 chars)</a:t>
            </a:r>
            <a:endParaRPr b="0" i="0" sz="1050" u="none" cap="none" strike="noStrike">
              <a:solidFill>
                <a:schemeClr val="dk1"/>
              </a:solidFill>
              <a:latin typeface="Calibri"/>
              <a:ea typeface="Calibri"/>
              <a:cs typeface="Calibri"/>
              <a:sym typeface="Calibri"/>
            </a:endParaRPr>
          </a:p>
        </p:txBody>
      </p:sp>
      <p:sp>
        <p:nvSpPr>
          <p:cNvPr id="460" name="Google Shape;460;p9"/>
          <p:cNvSpPr/>
          <p:nvPr/>
        </p:nvSpPr>
        <p:spPr>
          <a:xfrm>
            <a:off x="594360" y="4864608"/>
            <a:ext cx="5303520" cy="146304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EMSCULPT NEO at a dermatology-led, CQC-regulated clinic in Holborn. Book a consultation.</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30-minute treatment that may help tone and strengthen muscle. No surgery, no downtime.</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course of four sessions, planned around you. Monthly payment options available.</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Central London clinic, medically supervised. Book your free consultation today.</a:t>
            </a:r>
            <a:endParaRPr b="0" i="0" sz="1030" u="none" cap="none" strike="noStrike">
              <a:solidFill>
                <a:schemeClr val="dk1"/>
              </a:solidFill>
              <a:latin typeface="Calibri"/>
              <a:ea typeface="Calibri"/>
              <a:cs typeface="Calibri"/>
              <a:sym typeface="Calibri"/>
            </a:endParaRPr>
          </a:p>
        </p:txBody>
      </p:sp>
      <p:sp>
        <p:nvSpPr>
          <p:cNvPr id="461" name="Google Shape;461;p9"/>
          <p:cNvSpPr/>
          <p:nvPr/>
        </p:nvSpPr>
        <p:spPr>
          <a:xfrm>
            <a:off x="6245352" y="1874520"/>
            <a:ext cx="5440680" cy="457200"/>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9"/>
          <p:cNvSpPr/>
          <p:nvPr/>
        </p:nvSpPr>
        <p:spPr>
          <a:xfrm>
            <a:off x="6391656" y="1975104"/>
            <a:ext cx="256032" cy="256032"/>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9"/>
          <p:cNvSpPr/>
          <p:nvPr/>
        </p:nvSpPr>
        <p:spPr>
          <a:xfrm>
            <a:off x="6391656" y="1975104"/>
            <a:ext cx="256032"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2</a:t>
            </a:r>
            <a:endParaRPr b="0" i="0" sz="1100" u="none" cap="none" strike="noStrike">
              <a:solidFill>
                <a:schemeClr val="dk1"/>
              </a:solidFill>
              <a:latin typeface="Calibri"/>
              <a:ea typeface="Calibri"/>
              <a:cs typeface="Calibri"/>
              <a:sym typeface="Calibri"/>
            </a:endParaRPr>
          </a:p>
        </p:txBody>
      </p:sp>
      <p:sp>
        <p:nvSpPr>
          <p:cNvPr id="464" name="Google Shape;464;p9"/>
          <p:cNvSpPr/>
          <p:nvPr/>
        </p:nvSpPr>
        <p:spPr>
          <a:xfrm>
            <a:off x="6757416" y="1874520"/>
            <a:ext cx="4837176"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Poppins"/>
              <a:buNone/>
            </a:pPr>
            <a:r>
              <a:rPr b="1" i="0" lang="en-US" sz="1250" u="none" cap="none" strike="noStrike">
                <a:solidFill>
                  <a:srgbClr val="FFFFFF"/>
                </a:solidFill>
                <a:latin typeface="Poppins"/>
                <a:ea typeface="Poppins"/>
                <a:cs typeface="Poppins"/>
                <a:sym typeface="Poppins"/>
              </a:rPr>
              <a:t>AD GROUP 2 · Body Sculpting</a:t>
            </a:r>
            <a:endParaRPr b="0" i="0" sz="1250" u="none" cap="none" strike="noStrike">
              <a:solidFill>
                <a:schemeClr val="dk1"/>
              </a:solidFill>
              <a:latin typeface="Calibri"/>
              <a:ea typeface="Calibri"/>
              <a:cs typeface="Calibri"/>
              <a:sym typeface="Calibri"/>
            </a:endParaRPr>
          </a:p>
        </p:txBody>
      </p:sp>
      <p:sp>
        <p:nvSpPr>
          <p:cNvPr id="465" name="Google Shape;465;p9"/>
          <p:cNvSpPr/>
          <p:nvPr/>
        </p:nvSpPr>
        <p:spPr>
          <a:xfrm>
            <a:off x="6300216" y="2468880"/>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HEADLINES (15 · ≤30 chars)</a:t>
            </a:r>
            <a:endParaRPr b="0" i="0" sz="1050" u="none" cap="none" strike="noStrike">
              <a:solidFill>
                <a:schemeClr val="dk1"/>
              </a:solidFill>
              <a:latin typeface="Calibri"/>
              <a:ea typeface="Calibri"/>
              <a:cs typeface="Calibri"/>
              <a:sym typeface="Calibri"/>
            </a:endParaRPr>
          </a:p>
        </p:txBody>
      </p:sp>
      <p:sp>
        <p:nvSpPr>
          <p:cNvPr id="466" name="Google Shape;466;p9"/>
          <p:cNvSpPr/>
          <p:nvPr/>
        </p:nvSpPr>
        <p:spPr>
          <a:xfrm>
            <a:off x="6336792"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 Body Sculpting London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2. Body Sculpting, Holborn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3. Non-Surgical Sculpting</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4. 30-Minute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5. Body Toning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6. No Surgery, No Downtime</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7. Dermatology-Led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8. CQC-Regulated Clinic</a:t>
            </a:r>
            <a:endParaRPr b="0" i="0" sz="1030" u="none" cap="none" strike="noStrike">
              <a:solidFill>
                <a:schemeClr val="dk1"/>
              </a:solidFill>
              <a:latin typeface="Calibri"/>
              <a:ea typeface="Calibri"/>
              <a:cs typeface="Calibri"/>
              <a:sym typeface="Calibri"/>
            </a:endParaRPr>
          </a:p>
        </p:txBody>
      </p:sp>
      <p:sp>
        <p:nvSpPr>
          <p:cNvPr id="467" name="Google Shape;467;p9"/>
          <p:cNvSpPr/>
          <p:nvPr/>
        </p:nvSpPr>
        <p:spPr>
          <a:xfrm>
            <a:off x="8965692"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9. Central London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10. Course of Four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11. Monthly Payment Options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12. Abs, Arms, Thighs &amp; More</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13. Medically Supervised</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14. EMSCULPT NEO Technology</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15. Book a Free Consultation</a:t>
            </a:r>
            <a:endParaRPr b="0" i="0" sz="1030" u="none" cap="none" strike="noStrike">
              <a:solidFill>
                <a:schemeClr val="dk1"/>
              </a:solidFill>
              <a:latin typeface="Calibri"/>
              <a:ea typeface="Calibri"/>
              <a:cs typeface="Calibri"/>
              <a:sym typeface="Calibri"/>
            </a:endParaRPr>
          </a:p>
        </p:txBody>
      </p:sp>
      <p:sp>
        <p:nvSpPr>
          <p:cNvPr id="468" name="Google Shape;468;p9"/>
          <p:cNvSpPr/>
          <p:nvPr/>
        </p:nvSpPr>
        <p:spPr>
          <a:xfrm>
            <a:off x="6300216" y="4608576"/>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DESCRIPTIONS (≤90 chars)</a:t>
            </a:r>
            <a:endParaRPr b="0" i="0" sz="1050" u="none" cap="none" strike="noStrike">
              <a:solidFill>
                <a:schemeClr val="dk1"/>
              </a:solidFill>
              <a:latin typeface="Calibri"/>
              <a:ea typeface="Calibri"/>
              <a:cs typeface="Calibri"/>
              <a:sym typeface="Calibri"/>
            </a:endParaRPr>
          </a:p>
        </p:txBody>
      </p:sp>
      <p:sp>
        <p:nvSpPr>
          <p:cNvPr id="469" name="Google Shape;469;p9"/>
          <p:cNvSpPr/>
          <p:nvPr/>
        </p:nvSpPr>
        <p:spPr>
          <a:xfrm>
            <a:off x="6336792" y="4864608"/>
            <a:ext cx="5303520" cy="146304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Non-surgical body sculpting in central London. Dermatology-led and CQC-regulated.</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treatment that may help tone the abdomen, arms and thighs. 30-minute sessions.</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medically supervised course planned at your consultation. No surgery, no downtime.</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Book a free body sculpting consultation at our Holborn clinic today.</a:t>
            </a:r>
            <a:endParaRPr b="0" i="0" sz="1030" u="none" cap="none" strike="noStrike">
              <a:solidFill>
                <a:schemeClr val="dk1"/>
              </a:solidFill>
              <a:latin typeface="Calibri"/>
              <a:ea typeface="Calibri"/>
              <a:cs typeface="Calibri"/>
              <a:sym typeface="Calibri"/>
            </a:endParaRPr>
          </a:p>
        </p:txBody>
      </p:sp>
      <p:sp>
        <p:nvSpPr>
          <p:cNvPr id="470" name="Google Shape;470;p9"/>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471" name="Google Shape;471;p9"/>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09</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6" name="Shape 476"/>
        <p:cNvGrpSpPr/>
        <p:nvPr/>
      </p:nvGrpSpPr>
      <p:grpSpPr>
        <a:xfrm>
          <a:off x="0" y="0"/>
          <a:ext cx="0" cy="0"/>
          <a:chOff x="0" y="0"/>
          <a:chExt cx="0" cy="0"/>
        </a:xfrm>
      </p:grpSpPr>
      <p:pic>
        <p:nvPicPr>
          <p:cNvPr descr="unpacked/ppt/media/image11.png" id="477" name="Google Shape;477;p10"/>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478" name="Google Shape;478;p10"/>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Ad Copy</a:t>
            </a:r>
            <a:endParaRPr b="0" i="0" sz="1500" u="none" cap="none" strike="noStrike">
              <a:solidFill>
                <a:schemeClr val="dk1"/>
              </a:solidFill>
              <a:latin typeface="Calibri"/>
              <a:ea typeface="Calibri"/>
              <a:cs typeface="Calibri"/>
              <a:sym typeface="Calibri"/>
            </a:endParaRPr>
          </a:p>
        </p:txBody>
      </p:sp>
      <p:sp>
        <p:nvSpPr>
          <p:cNvPr id="479" name="Google Shape;479;p10"/>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EMBODY / EMSCULPT NEO · AD COPY · SET 2 OF 4</a:t>
            </a:r>
            <a:endParaRPr b="0" i="0" sz="1250" u="none" cap="none" strike="noStrike">
              <a:solidFill>
                <a:schemeClr val="dk1"/>
              </a:solidFill>
              <a:latin typeface="Calibri"/>
              <a:ea typeface="Calibri"/>
              <a:cs typeface="Calibri"/>
              <a:sym typeface="Calibri"/>
            </a:endParaRPr>
          </a:p>
        </p:txBody>
      </p:sp>
      <p:sp>
        <p:nvSpPr>
          <p:cNvPr id="480" name="Google Shape;480;p10"/>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Responsive Search Ad Copy</a:t>
            </a:r>
            <a:endParaRPr b="0" i="0" sz="3300" u="none" cap="none" strike="noStrike">
              <a:solidFill>
                <a:schemeClr val="dk1"/>
              </a:solidFill>
              <a:latin typeface="Calibri"/>
              <a:ea typeface="Calibri"/>
              <a:cs typeface="Calibri"/>
              <a:sym typeface="Calibri"/>
            </a:endParaRPr>
          </a:p>
        </p:txBody>
      </p:sp>
      <p:sp>
        <p:nvSpPr>
          <p:cNvPr id="481" name="Google Shape;481;p10"/>
          <p:cNvSpPr/>
          <p:nvPr/>
        </p:nvSpPr>
        <p:spPr>
          <a:xfrm>
            <a:off x="502920" y="1874520"/>
            <a:ext cx="5440680" cy="457200"/>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10"/>
          <p:cNvSpPr/>
          <p:nvPr/>
        </p:nvSpPr>
        <p:spPr>
          <a:xfrm>
            <a:off x="649224" y="1975104"/>
            <a:ext cx="256032" cy="256032"/>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10"/>
          <p:cNvSpPr/>
          <p:nvPr/>
        </p:nvSpPr>
        <p:spPr>
          <a:xfrm>
            <a:off x="649224" y="1975104"/>
            <a:ext cx="256032"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3</a:t>
            </a:r>
            <a:endParaRPr b="0" i="0" sz="1100" u="none" cap="none" strike="noStrike">
              <a:solidFill>
                <a:schemeClr val="dk1"/>
              </a:solidFill>
              <a:latin typeface="Calibri"/>
              <a:ea typeface="Calibri"/>
              <a:cs typeface="Calibri"/>
              <a:sym typeface="Calibri"/>
            </a:endParaRPr>
          </a:p>
        </p:txBody>
      </p:sp>
      <p:sp>
        <p:nvSpPr>
          <p:cNvPr id="484" name="Google Shape;484;p10"/>
          <p:cNvSpPr/>
          <p:nvPr/>
        </p:nvSpPr>
        <p:spPr>
          <a:xfrm>
            <a:off x="1014984" y="1874520"/>
            <a:ext cx="4837176"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Poppins"/>
              <a:buNone/>
            </a:pPr>
            <a:r>
              <a:rPr b="1" i="0" lang="en-US" sz="1250" u="none" cap="none" strike="noStrike">
                <a:solidFill>
                  <a:srgbClr val="FFFFFF"/>
                </a:solidFill>
                <a:latin typeface="Poppins"/>
                <a:ea typeface="Poppins"/>
                <a:cs typeface="Poppins"/>
                <a:sym typeface="Poppins"/>
              </a:rPr>
              <a:t>AD GROUP 3 · Body Contouring</a:t>
            </a:r>
            <a:endParaRPr b="0" i="0" sz="1250" u="none" cap="none" strike="noStrike">
              <a:solidFill>
                <a:schemeClr val="dk1"/>
              </a:solidFill>
              <a:latin typeface="Calibri"/>
              <a:ea typeface="Calibri"/>
              <a:cs typeface="Calibri"/>
              <a:sym typeface="Calibri"/>
            </a:endParaRPr>
          </a:p>
        </p:txBody>
      </p:sp>
      <p:sp>
        <p:nvSpPr>
          <p:cNvPr id="485" name="Google Shape;485;p10"/>
          <p:cNvSpPr/>
          <p:nvPr/>
        </p:nvSpPr>
        <p:spPr>
          <a:xfrm>
            <a:off x="557784" y="2468880"/>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HEADLINES (15 · ≤30 chars)</a:t>
            </a:r>
            <a:endParaRPr b="0" i="0" sz="1050" u="none" cap="none" strike="noStrike">
              <a:solidFill>
                <a:schemeClr val="dk1"/>
              </a:solidFill>
              <a:latin typeface="Calibri"/>
              <a:ea typeface="Calibri"/>
              <a:cs typeface="Calibri"/>
              <a:sym typeface="Calibri"/>
            </a:endParaRPr>
          </a:p>
        </p:txBody>
      </p:sp>
      <p:sp>
        <p:nvSpPr>
          <p:cNvPr id="486" name="Google Shape;486;p10"/>
          <p:cNvSpPr/>
          <p:nvPr/>
        </p:nvSpPr>
        <p:spPr>
          <a:xfrm>
            <a:off x="594360"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 Body Contouring London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2. Non-Surgical Contouring</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3. Contouring in Holborn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4. Skin Tightening Option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5. 30-Minute Treatments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6. No Surgery, No Downtime</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7. Dermatology-Led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8. CQC-Regulated Clinic</a:t>
            </a:r>
            <a:endParaRPr b="0" i="0" sz="1030" u="none" cap="none" strike="noStrike">
              <a:solidFill>
                <a:schemeClr val="dk1"/>
              </a:solidFill>
              <a:latin typeface="Calibri"/>
              <a:ea typeface="Calibri"/>
              <a:cs typeface="Calibri"/>
              <a:sym typeface="Calibri"/>
            </a:endParaRPr>
          </a:p>
        </p:txBody>
      </p:sp>
      <p:sp>
        <p:nvSpPr>
          <p:cNvPr id="487" name="Google Shape;487;p10"/>
          <p:cNvSpPr/>
          <p:nvPr/>
        </p:nvSpPr>
        <p:spPr>
          <a:xfrm>
            <a:off x="3223260"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9. Contouring Packages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10. Central London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11. Monthly Payment Options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12. EMSCULPT NEO &amp; Exion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13. Medically Supervised Plan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14. Treats Abs, Arms &amp; Thighs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15. Book a Free Consultation</a:t>
            </a:r>
            <a:endParaRPr b="0" i="0" sz="1030" u="none" cap="none" strike="noStrike">
              <a:solidFill>
                <a:schemeClr val="dk1"/>
              </a:solidFill>
              <a:latin typeface="Calibri"/>
              <a:ea typeface="Calibri"/>
              <a:cs typeface="Calibri"/>
              <a:sym typeface="Calibri"/>
            </a:endParaRPr>
          </a:p>
        </p:txBody>
      </p:sp>
      <p:sp>
        <p:nvSpPr>
          <p:cNvPr id="488" name="Google Shape;488;p10"/>
          <p:cNvSpPr/>
          <p:nvPr/>
        </p:nvSpPr>
        <p:spPr>
          <a:xfrm>
            <a:off x="557784" y="4608576"/>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DESCRIPTIONS (≤90 chars)</a:t>
            </a:r>
            <a:endParaRPr b="0" i="0" sz="1050" u="none" cap="none" strike="noStrike">
              <a:solidFill>
                <a:schemeClr val="dk1"/>
              </a:solidFill>
              <a:latin typeface="Calibri"/>
              <a:ea typeface="Calibri"/>
              <a:cs typeface="Calibri"/>
              <a:sym typeface="Calibri"/>
            </a:endParaRPr>
          </a:p>
        </p:txBody>
      </p:sp>
      <p:sp>
        <p:nvSpPr>
          <p:cNvPr id="489" name="Google Shape;489;p10"/>
          <p:cNvSpPr/>
          <p:nvPr/>
        </p:nvSpPr>
        <p:spPr>
          <a:xfrm>
            <a:off x="594360" y="4864608"/>
            <a:ext cx="5303520" cy="146304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Non-surgical body contouring with EMSCULPT NEO and Exion. Central London clinic.</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30-minute treatment that may help tone and firm. No surgery and no downtime.</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Dermatology-led, CQC-regulated care with monthly payment options. Enquire today.</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Book a free body contouring consultation at 233 High Holborn. Book now.</a:t>
            </a:r>
            <a:endParaRPr b="0" i="0" sz="1030" u="none" cap="none" strike="noStrike">
              <a:solidFill>
                <a:schemeClr val="dk1"/>
              </a:solidFill>
              <a:latin typeface="Calibri"/>
              <a:ea typeface="Calibri"/>
              <a:cs typeface="Calibri"/>
              <a:sym typeface="Calibri"/>
            </a:endParaRPr>
          </a:p>
        </p:txBody>
      </p:sp>
      <p:sp>
        <p:nvSpPr>
          <p:cNvPr id="490" name="Google Shape;490;p10"/>
          <p:cNvSpPr/>
          <p:nvPr/>
        </p:nvSpPr>
        <p:spPr>
          <a:xfrm>
            <a:off x="6245352" y="1874520"/>
            <a:ext cx="5440680" cy="457200"/>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10"/>
          <p:cNvSpPr/>
          <p:nvPr/>
        </p:nvSpPr>
        <p:spPr>
          <a:xfrm>
            <a:off x="6391656" y="1975104"/>
            <a:ext cx="256032" cy="256032"/>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10"/>
          <p:cNvSpPr/>
          <p:nvPr/>
        </p:nvSpPr>
        <p:spPr>
          <a:xfrm>
            <a:off x="6391656" y="1975104"/>
            <a:ext cx="256032"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4</a:t>
            </a:r>
            <a:endParaRPr b="0" i="0" sz="1100" u="none" cap="none" strike="noStrike">
              <a:solidFill>
                <a:schemeClr val="dk1"/>
              </a:solidFill>
              <a:latin typeface="Calibri"/>
              <a:ea typeface="Calibri"/>
              <a:cs typeface="Calibri"/>
              <a:sym typeface="Calibri"/>
            </a:endParaRPr>
          </a:p>
        </p:txBody>
      </p:sp>
      <p:sp>
        <p:nvSpPr>
          <p:cNvPr id="493" name="Google Shape;493;p10"/>
          <p:cNvSpPr/>
          <p:nvPr/>
        </p:nvSpPr>
        <p:spPr>
          <a:xfrm>
            <a:off x="6757416" y="1874520"/>
            <a:ext cx="4837176"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Poppins"/>
              <a:buNone/>
            </a:pPr>
            <a:r>
              <a:rPr b="1" i="0" lang="en-US" sz="1250" u="none" cap="none" strike="noStrike">
                <a:solidFill>
                  <a:srgbClr val="FFFFFF"/>
                </a:solidFill>
                <a:latin typeface="Poppins"/>
                <a:ea typeface="Poppins"/>
                <a:cs typeface="Poppins"/>
                <a:sym typeface="Poppins"/>
              </a:rPr>
              <a:t>AD GROUP 4 · Non-Surgical Body Treatment</a:t>
            </a:r>
            <a:endParaRPr b="0" i="0" sz="1250" u="none" cap="none" strike="noStrike">
              <a:solidFill>
                <a:schemeClr val="dk1"/>
              </a:solidFill>
              <a:latin typeface="Calibri"/>
              <a:ea typeface="Calibri"/>
              <a:cs typeface="Calibri"/>
              <a:sym typeface="Calibri"/>
            </a:endParaRPr>
          </a:p>
        </p:txBody>
      </p:sp>
      <p:sp>
        <p:nvSpPr>
          <p:cNvPr id="494" name="Google Shape;494;p10"/>
          <p:cNvSpPr/>
          <p:nvPr/>
        </p:nvSpPr>
        <p:spPr>
          <a:xfrm>
            <a:off x="6300216" y="2468880"/>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HEADLINES (15 · ≤30 chars)</a:t>
            </a:r>
            <a:endParaRPr b="0" i="0" sz="1050" u="none" cap="none" strike="noStrike">
              <a:solidFill>
                <a:schemeClr val="dk1"/>
              </a:solidFill>
              <a:latin typeface="Calibri"/>
              <a:ea typeface="Calibri"/>
              <a:cs typeface="Calibri"/>
              <a:sym typeface="Calibri"/>
            </a:endParaRPr>
          </a:p>
        </p:txBody>
      </p:sp>
      <p:sp>
        <p:nvSpPr>
          <p:cNvPr id="495" name="Google Shape;495;p10"/>
          <p:cNvSpPr/>
          <p:nvPr/>
        </p:nvSpPr>
        <p:spPr>
          <a:xfrm>
            <a:off x="6336792"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 Non-Surgical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2. Body Treatment, No Surgery</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3. No Needles, No Surgery</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4. 30-Minute Treatments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5. Dermatology-Led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6. CQC-Regulated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7. Central London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8. Course of Four Sessions</a:t>
            </a:r>
            <a:endParaRPr b="0" i="0" sz="1030" u="none" cap="none" strike="noStrike">
              <a:solidFill>
                <a:schemeClr val="dk1"/>
              </a:solidFill>
              <a:latin typeface="Calibri"/>
              <a:ea typeface="Calibri"/>
              <a:cs typeface="Calibri"/>
              <a:sym typeface="Calibri"/>
            </a:endParaRPr>
          </a:p>
        </p:txBody>
      </p:sp>
      <p:sp>
        <p:nvSpPr>
          <p:cNvPr id="496" name="Google Shape;496;p10"/>
          <p:cNvSpPr/>
          <p:nvPr/>
        </p:nvSpPr>
        <p:spPr>
          <a:xfrm>
            <a:off x="8965692"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9. Monthly Payment Options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10. Medically Supervised</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11. Skin Tightening Option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12. EMSCULPT NEO Technology</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13. Treats Abs, Arms &amp; Thighs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14. Body Toning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15. Book a Free Consultation</a:t>
            </a:r>
            <a:endParaRPr b="0" i="0" sz="1030" u="none" cap="none" strike="noStrike">
              <a:solidFill>
                <a:schemeClr val="dk1"/>
              </a:solidFill>
              <a:latin typeface="Calibri"/>
              <a:ea typeface="Calibri"/>
              <a:cs typeface="Calibri"/>
              <a:sym typeface="Calibri"/>
            </a:endParaRPr>
          </a:p>
        </p:txBody>
      </p:sp>
      <p:sp>
        <p:nvSpPr>
          <p:cNvPr id="497" name="Google Shape;497;p10"/>
          <p:cNvSpPr/>
          <p:nvPr/>
        </p:nvSpPr>
        <p:spPr>
          <a:xfrm>
            <a:off x="6300216" y="4608576"/>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DESCRIPTIONS (≤90 chars)</a:t>
            </a:r>
            <a:endParaRPr b="0" i="0" sz="1050" u="none" cap="none" strike="noStrike">
              <a:solidFill>
                <a:schemeClr val="dk1"/>
              </a:solidFill>
              <a:latin typeface="Calibri"/>
              <a:ea typeface="Calibri"/>
              <a:cs typeface="Calibri"/>
              <a:sym typeface="Calibri"/>
            </a:endParaRPr>
          </a:p>
        </p:txBody>
      </p:sp>
      <p:sp>
        <p:nvSpPr>
          <p:cNvPr id="498" name="Google Shape;498;p10"/>
          <p:cNvSpPr/>
          <p:nvPr/>
        </p:nvSpPr>
        <p:spPr>
          <a:xfrm>
            <a:off x="6336792" y="4864608"/>
            <a:ext cx="5303520" cy="146304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non-surgical option for the body. Dermatology-led clinic in central London.</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No surgery, no needles and no downtime. 30-minute medically supervised sessions.</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treatment that may help tone and firm targeted areas. Monthly payment options.</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Book a free consultation to see whether the treatment suits you. Enquire now.</a:t>
            </a:r>
            <a:endParaRPr b="0" i="0" sz="1030" u="none" cap="none" strike="noStrike">
              <a:solidFill>
                <a:schemeClr val="dk1"/>
              </a:solidFill>
              <a:latin typeface="Calibri"/>
              <a:ea typeface="Calibri"/>
              <a:cs typeface="Calibri"/>
              <a:sym typeface="Calibri"/>
            </a:endParaRPr>
          </a:p>
        </p:txBody>
      </p:sp>
      <p:sp>
        <p:nvSpPr>
          <p:cNvPr id="499" name="Google Shape;499;p10"/>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500" name="Google Shape;500;p10"/>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10</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5" name="Shape 505"/>
        <p:cNvGrpSpPr/>
        <p:nvPr/>
      </p:nvGrpSpPr>
      <p:grpSpPr>
        <a:xfrm>
          <a:off x="0" y="0"/>
          <a:ext cx="0" cy="0"/>
          <a:chOff x="0" y="0"/>
          <a:chExt cx="0" cy="0"/>
        </a:xfrm>
      </p:grpSpPr>
      <p:pic>
        <p:nvPicPr>
          <p:cNvPr descr="unpacked/ppt/media/image11.png" id="506" name="Google Shape;506;p11"/>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507" name="Google Shape;507;p11"/>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Ad Copy</a:t>
            </a:r>
            <a:endParaRPr b="0" i="0" sz="1500" u="none" cap="none" strike="noStrike">
              <a:solidFill>
                <a:schemeClr val="dk1"/>
              </a:solidFill>
              <a:latin typeface="Calibri"/>
              <a:ea typeface="Calibri"/>
              <a:cs typeface="Calibri"/>
              <a:sym typeface="Calibri"/>
            </a:endParaRPr>
          </a:p>
        </p:txBody>
      </p:sp>
      <p:sp>
        <p:nvSpPr>
          <p:cNvPr id="508" name="Google Shape;508;p11"/>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EMBODY / EMSCULPT NEO · AD COPY · SET 3 OF 4</a:t>
            </a:r>
            <a:endParaRPr b="0" i="0" sz="1250" u="none" cap="none" strike="noStrike">
              <a:solidFill>
                <a:schemeClr val="dk1"/>
              </a:solidFill>
              <a:latin typeface="Calibri"/>
              <a:ea typeface="Calibri"/>
              <a:cs typeface="Calibri"/>
              <a:sym typeface="Calibri"/>
            </a:endParaRPr>
          </a:p>
        </p:txBody>
      </p:sp>
      <p:sp>
        <p:nvSpPr>
          <p:cNvPr id="509" name="Google Shape;509;p11"/>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Responsive Search Ad Copy</a:t>
            </a:r>
            <a:endParaRPr b="0" i="0" sz="3300" u="none" cap="none" strike="noStrike">
              <a:solidFill>
                <a:schemeClr val="dk1"/>
              </a:solidFill>
              <a:latin typeface="Calibri"/>
              <a:ea typeface="Calibri"/>
              <a:cs typeface="Calibri"/>
              <a:sym typeface="Calibri"/>
            </a:endParaRPr>
          </a:p>
        </p:txBody>
      </p:sp>
      <p:sp>
        <p:nvSpPr>
          <p:cNvPr id="510" name="Google Shape;510;p11"/>
          <p:cNvSpPr/>
          <p:nvPr/>
        </p:nvSpPr>
        <p:spPr>
          <a:xfrm>
            <a:off x="502920" y="1874520"/>
            <a:ext cx="5440680" cy="457200"/>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11"/>
          <p:cNvSpPr/>
          <p:nvPr/>
        </p:nvSpPr>
        <p:spPr>
          <a:xfrm>
            <a:off x="649224" y="1975104"/>
            <a:ext cx="256032" cy="256032"/>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11"/>
          <p:cNvSpPr/>
          <p:nvPr/>
        </p:nvSpPr>
        <p:spPr>
          <a:xfrm>
            <a:off x="649224" y="1975104"/>
            <a:ext cx="256032"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5</a:t>
            </a:r>
            <a:endParaRPr b="0" i="0" sz="1100" u="none" cap="none" strike="noStrike">
              <a:solidFill>
                <a:schemeClr val="dk1"/>
              </a:solidFill>
              <a:latin typeface="Calibri"/>
              <a:ea typeface="Calibri"/>
              <a:cs typeface="Calibri"/>
              <a:sym typeface="Calibri"/>
            </a:endParaRPr>
          </a:p>
        </p:txBody>
      </p:sp>
      <p:sp>
        <p:nvSpPr>
          <p:cNvPr id="513" name="Google Shape;513;p11"/>
          <p:cNvSpPr/>
          <p:nvPr/>
        </p:nvSpPr>
        <p:spPr>
          <a:xfrm>
            <a:off x="1014984" y="1874520"/>
            <a:ext cx="4837176"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Poppins"/>
              <a:buNone/>
            </a:pPr>
            <a:r>
              <a:rPr b="1" i="0" lang="en-US" sz="1250" u="none" cap="none" strike="noStrike">
                <a:solidFill>
                  <a:srgbClr val="FFFFFF"/>
                </a:solidFill>
                <a:latin typeface="Poppins"/>
                <a:ea typeface="Poppins"/>
                <a:cs typeface="Poppins"/>
                <a:sym typeface="Poppins"/>
              </a:rPr>
              <a:t>AD GROUP 5 · Muscle Toning &amp; HIFEM</a:t>
            </a:r>
            <a:endParaRPr b="0" i="0" sz="1250" u="none" cap="none" strike="noStrike">
              <a:solidFill>
                <a:schemeClr val="dk1"/>
              </a:solidFill>
              <a:latin typeface="Calibri"/>
              <a:ea typeface="Calibri"/>
              <a:cs typeface="Calibri"/>
              <a:sym typeface="Calibri"/>
            </a:endParaRPr>
          </a:p>
        </p:txBody>
      </p:sp>
      <p:sp>
        <p:nvSpPr>
          <p:cNvPr id="514" name="Google Shape;514;p11"/>
          <p:cNvSpPr/>
          <p:nvPr/>
        </p:nvSpPr>
        <p:spPr>
          <a:xfrm>
            <a:off x="557784" y="2468880"/>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HEADLINES (15 · ≤30 chars)</a:t>
            </a:r>
            <a:endParaRPr b="0" i="0" sz="1050" u="none" cap="none" strike="noStrike">
              <a:solidFill>
                <a:schemeClr val="dk1"/>
              </a:solidFill>
              <a:latin typeface="Calibri"/>
              <a:ea typeface="Calibri"/>
              <a:cs typeface="Calibri"/>
              <a:sym typeface="Calibri"/>
            </a:endParaRPr>
          </a:p>
        </p:txBody>
      </p:sp>
      <p:sp>
        <p:nvSpPr>
          <p:cNvPr id="515" name="Google Shape;515;p11"/>
          <p:cNvSpPr/>
          <p:nvPr/>
        </p:nvSpPr>
        <p:spPr>
          <a:xfrm>
            <a:off x="594360"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 Muscle Toning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2. HIFEM Muscle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3. Core Toning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4. 30-Minute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5. Treats Abs, Arms &amp; Thighs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6. No Surgery, No Downtime</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7. Dermatology-Led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8. CQC-Regulated Clinic</a:t>
            </a:r>
            <a:endParaRPr b="0" i="0" sz="1030" u="none" cap="none" strike="noStrike">
              <a:solidFill>
                <a:schemeClr val="dk1"/>
              </a:solidFill>
              <a:latin typeface="Calibri"/>
              <a:ea typeface="Calibri"/>
              <a:cs typeface="Calibri"/>
              <a:sym typeface="Calibri"/>
            </a:endParaRPr>
          </a:p>
        </p:txBody>
      </p:sp>
      <p:sp>
        <p:nvSpPr>
          <p:cNvPr id="516" name="Google Shape;516;p11"/>
          <p:cNvSpPr/>
          <p:nvPr/>
        </p:nvSpPr>
        <p:spPr>
          <a:xfrm>
            <a:off x="3223260"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9. Central London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10. Course of Four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11. Monthly Payment Options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12. EMSCULPT NEO Technology</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13. Medically Supervised</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14. Body Toning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15. Book a Free Consultation</a:t>
            </a:r>
            <a:endParaRPr b="0" i="0" sz="1030" u="none" cap="none" strike="noStrike">
              <a:solidFill>
                <a:schemeClr val="dk1"/>
              </a:solidFill>
              <a:latin typeface="Calibri"/>
              <a:ea typeface="Calibri"/>
              <a:cs typeface="Calibri"/>
              <a:sym typeface="Calibri"/>
            </a:endParaRPr>
          </a:p>
        </p:txBody>
      </p:sp>
      <p:sp>
        <p:nvSpPr>
          <p:cNvPr id="517" name="Google Shape;517;p11"/>
          <p:cNvSpPr/>
          <p:nvPr/>
        </p:nvSpPr>
        <p:spPr>
          <a:xfrm>
            <a:off x="557784" y="4608576"/>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DESCRIPTIONS (≤90 chars)</a:t>
            </a:r>
            <a:endParaRPr b="0" i="0" sz="1050" u="none" cap="none" strike="noStrike">
              <a:solidFill>
                <a:schemeClr val="dk1"/>
              </a:solidFill>
              <a:latin typeface="Calibri"/>
              <a:ea typeface="Calibri"/>
              <a:cs typeface="Calibri"/>
              <a:sym typeface="Calibri"/>
            </a:endParaRPr>
          </a:p>
        </p:txBody>
      </p:sp>
      <p:sp>
        <p:nvSpPr>
          <p:cNvPr id="518" name="Google Shape;518;p11"/>
          <p:cNvSpPr/>
          <p:nvPr/>
        </p:nvSpPr>
        <p:spPr>
          <a:xfrm>
            <a:off x="594360" y="4864608"/>
            <a:ext cx="5303520" cy="146304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HIFEM muscle toning with EMSCULPT NEO at a dermatology-led clinic in Holborn.</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treatment that may help tone muscle in the abdomen, arms and thighs.</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course of four 30-minute sessions, planned at your medical consultation.</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CQC-regulated clinic in central London. Book your free consultation today.</a:t>
            </a:r>
            <a:endParaRPr b="0" i="0" sz="1030" u="none" cap="none" strike="noStrike">
              <a:solidFill>
                <a:schemeClr val="dk1"/>
              </a:solidFill>
              <a:latin typeface="Calibri"/>
              <a:ea typeface="Calibri"/>
              <a:cs typeface="Calibri"/>
              <a:sym typeface="Calibri"/>
            </a:endParaRPr>
          </a:p>
        </p:txBody>
      </p:sp>
      <p:sp>
        <p:nvSpPr>
          <p:cNvPr id="519" name="Google Shape;519;p11"/>
          <p:cNvSpPr/>
          <p:nvPr/>
        </p:nvSpPr>
        <p:spPr>
          <a:xfrm>
            <a:off x="6245352" y="1874520"/>
            <a:ext cx="5440680" cy="457200"/>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11"/>
          <p:cNvSpPr/>
          <p:nvPr/>
        </p:nvSpPr>
        <p:spPr>
          <a:xfrm>
            <a:off x="6391656" y="1975104"/>
            <a:ext cx="256032" cy="256032"/>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11"/>
          <p:cNvSpPr/>
          <p:nvPr/>
        </p:nvSpPr>
        <p:spPr>
          <a:xfrm>
            <a:off x="6391656" y="1975104"/>
            <a:ext cx="256032"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6</a:t>
            </a:r>
            <a:endParaRPr b="0" i="0" sz="1100" u="none" cap="none" strike="noStrike">
              <a:solidFill>
                <a:schemeClr val="dk1"/>
              </a:solidFill>
              <a:latin typeface="Calibri"/>
              <a:ea typeface="Calibri"/>
              <a:cs typeface="Calibri"/>
              <a:sym typeface="Calibri"/>
            </a:endParaRPr>
          </a:p>
        </p:txBody>
      </p:sp>
      <p:sp>
        <p:nvSpPr>
          <p:cNvPr id="522" name="Google Shape;522;p11"/>
          <p:cNvSpPr/>
          <p:nvPr/>
        </p:nvSpPr>
        <p:spPr>
          <a:xfrm>
            <a:off x="6757416" y="1874520"/>
            <a:ext cx="4837176"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Poppins"/>
              <a:buNone/>
            </a:pPr>
            <a:r>
              <a:rPr b="1" i="0" lang="en-US" sz="1250" u="none" cap="none" strike="noStrike">
                <a:solidFill>
                  <a:srgbClr val="FFFFFF"/>
                </a:solidFill>
                <a:latin typeface="Poppins"/>
                <a:ea typeface="Poppins"/>
                <a:cs typeface="Poppins"/>
                <a:sym typeface="Poppins"/>
              </a:rPr>
              <a:t>AD GROUP 6 · Treatment Areas</a:t>
            </a:r>
            <a:endParaRPr b="0" i="0" sz="1250" u="none" cap="none" strike="noStrike">
              <a:solidFill>
                <a:schemeClr val="dk1"/>
              </a:solidFill>
              <a:latin typeface="Calibri"/>
              <a:ea typeface="Calibri"/>
              <a:cs typeface="Calibri"/>
              <a:sym typeface="Calibri"/>
            </a:endParaRPr>
          </a:p>
        </p:txBody>
      </p:sp>
      <p:sp>
        <p:nvSpPr>
          <p:cNvPr id="523" name="Google Shape;523;p11"/>
          <p:cNvSpPr/>
          <p:nvPr/>
        </p:nvSpPr>
        <p:spPr>
          <a:xfrm>
            <a:off x="6300216" y="2468880"/>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HEADLINES (15 · ≤30 chars)</a:t>
            </a:r>
            <a:endParaRPr b="0" i="0" sz="1050" u="none" cap="none" strike="noStrike">
              <a:solidFill>
                <a:schemeClr val="dk1"/>
              </a:solidFill>
              <a:latin typeface="Calibri"/>
              <a:ea typeface="Calibri"/>
              <a:cs typeface="Calibri"/>
              <a:sym typeface="Calibri"/>
            </a:endParaRPr>
          </a:p>
        </p:txBody>
      </p:sp>
      <p:sp>
        <p:nvSpPr>
          <p:cNvPr id="524" name="Google Shape;524;p11"/>
          <p:cNvSpPr/>
          <p:nvPr/>
        </p:nvSpPr>
        <p:spPr>
          <a:xfrm>
            <a:off x="6336792"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 Arm Toning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2. Abdomen Toning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3. Thigh Toning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4. Treats Flanks &amp; Waist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5. Treats Abs, Arms &amp; Thighs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6. 30-Minute Treatments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7. No Surgery, No Downtime</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8. Dermatology-Led Clinic</a:t>
            </a:r>
            <a:endParaRPr b="0" i="0" sz="1030" u="none" cap="none" strike="noStrike">
              <a:solidFill>
                <a:schemeClr val="dk1"/>
              </a:solidFill>
              <a:latin typeface="Calibri"/>
              <a:ea typeface="Calibri"/>
              <a:cs typeface="Calibri"/>
              <a:sym typeface="Calibri"/>
            </a:endParaRPr>
          </a:p>
        </p:txBody>
      </p:sp>
      <p:sp>
        <p:nvSpPr>
          <p:cNvPr id="525" name="Google Shape;525;p11"/>
          <p:cNvSpPr/>
          <p:nvPr/>
        </p:nvSpPr>
        <p:spPr>
          <a:xfrm>
            <a:off x="8965692"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9. CQC-Regulated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10. Central London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11. Course of Four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12. Monthly Payment Options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13. EMSCULPT NEO Technology</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14. Medically Supervised Plan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15. Book a Free Consultation</a:t>
            </a:r>
            <a:endParaRPr b="0" i="0" sz="1030" u="none" cap="none" strike="noStrike">
              <a:solidFill>
                <a:schemeClr val="dk1"/>
              </a:solidFill>
              <a:latin typeface="Calibri"/>
              <a:ea typeface="Calibri"/>
              <a:cs typeface="Calibri"/>
              <a:sym typeface="Calibri"/>
            </a:endParaRPr>
          </a:p>
        </p:txBody>
      </p:sp>
      <p:sp>
        <p:nvSpPr>
          <p:cNvPr id="526" name="Google Shape;526;p11"/>
          <p:cNvSpPr/>
          <p:nvPr/>
        </p:nvSpPr>
        <p:spPr>
          <a:xfrm>
            <a:off x="6300216" y="4608576"/>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DESCRIPTIONS (≤90 chars)</a:t>
            </a:r>
            <a:endParaRPr b="0" i="0" sz="1050" u="none" cap="none" strike="noStrike">
              <a:solidFill>
                <a:schemeClr val="dk1"/>
              </a:solidFill>
              <a:latin typeface="Calibri"/>
              <a:ea typeface="Calibri"/>
              <a:cs typeface="Calibri"/>
              <a:sym typeface="Calibri"/>
            </a:endParaRPr>
          </a:p>
        </p:txBody>
      </p:sp>
      <p:sp>
        <p:nvSpPr>
          <p:cNvPr id="527" name="Google Shape;527;p11"/>
          <p:cNvSpPr/>
          <p:nvPr/>
        </p:nvSpPr>
        <p:spPr>
          <a:xfrm>
            <a:off x="6336792" y="4864608"/>
            <a:ext cx="5303520" cy="146304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Treat the abdomen, arms, thighs, buttocks or calves with EMSCULPT NEO in Holborn.</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Targeted 30-minute sessions with no surgery and no downtime. Book a consultation.</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dermatology-led, CQC-regulated clinic in central London. Monthly payments available.</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Book a free consultation to plan the areas and number of sessions you need.</a:t>
            </a:r>
            <a:endParaRPr b="0" i="0" sz="1030" u="none" cap="none" strike="noStrike">
              <a:solidFill>
                <a:schemeClr val="dk1"/>
              </a:solidFill>
              <a:latin typeface="Calibri"/>
              <a:ea typeface="Calibri"/>
              <a:cs typeface="Calibri"/>
              <a:sym typeface="Calibri"/>
            </a:endParaRPr>
          </a:p>
        </p:txBody>
      </p:sp>
      <p:sp>
        <p:nvSpPr>
          <p:cNvPr id="528" name="Google Shape;528;p11"/>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529" name="Google Shape;529;p11"/>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11</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4" name="Shape 534"/>
        <p:cNvGrpSpPr/>
        <p:nvPr/>
      </p:nvGrpSpPr>
      <p:grpSpPr>
        <a:xfrm>
          <a:off x="0" y="0"/>
          <a:ext cx="0" cy="0"/>
          <a:chOff x="0" y="0"/>
          <a:chExt cx="0" cy="0"/>
        </a:xfrm>
      </p:grpSpPr>
      <p:pic>
        <p:nvPicPr>
          <p:cNvPr descr="unpacked/ppt/media/image11.png" id="535" name="Google Shape;535;p12"/>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536" name="Google Shape;536;p12"/>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Ad Copy</a:t>
            </a:r>
            <a:endParaRPr b="0" i="0" sz="1500" u="none" cap="none" strike="noStrike">
              <a:solidFill>
                <a:schemeClr val="dk1"/>
              </a:solidFill>
              <a:latin typeface="Calibri"/>
              <a:ea typeface="Calibri"/>
              <a:cs typeface="Calibri"/>
              <a:sym typeface="Calibri"/>
            </a:endParaRPr>
          </a:p>
        </p:txBody>
      </p:sp>
      <p:sp>
        <p:nvSpPr>
          <p:cNvPr id="537" name="Google Shape;537;p12"/>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EMBODY / EMSCULPT NEO · AD COPY · SET 4 OF 4</a:t>
            </a:r>
            <a:endParaRPr b="0" i="0" sz="1250" u="none" cap="none" strike="noStrike">
              <a:solidFill>
                <a:schemeClr val="dk1"/>
              </a:solidFill>
              <a:latin typeface="Calibri"/>
              <a:ea typeface="Calibri"/>
              <a:cs typeface="Calibri"/>
              <a:sym typeface="Calibri"/>
            </a:endParaRPr>
          </a:p>
        </p:txBody>
      </p:sp>
      <p:sp>
        <p:nvSpPr>
          <p:cNvPr id="538" name="Google Shape;538;p12"/>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Responsive Search Ad Copy</a:t>
            </a:r>
            <a:endParaRPr b="0" i="0" sz="3300" u="none" cap="none" strike="noStrike">
              <a:solidFill>
                <a:schemeClr val="dk1"/>
              </a:solidFill>
              <a:latin typeface="Calibri"/>
              <a:ea typeface="Calibri"/>
              <a:cs typeface="Calibri"/>
              <a:sym typeface="Calibri"/>
            </a:endParaRPr>
          </a:p>
        </p:txBody>
      </p:sp>
      <p:sp>
        <p:nvSpPr>
          <p:cNvPr id="539" name="Google Shape;539;p12"/>
          <p:cNvSpPr/>
          <p:nvPr/>
        </p:nvSpPr>
        <p:spPr>
          <a:xfrm>
            <a:off x="502920" y="1874520"/>
            <a:ext cx="5440680" cy="457200"/>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12"/>
          <p:cNvSpPr/>
          <p:nvPr/>
        </p:nvSpPr>
        <p:spPr>
          <a:xfrm>
            <a:off x="649224" y="1975104"/>
            <a:ext cx="256032" cy="256032"/>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12"/>
          <p:cNvSpPr/>
          <p:nvPr/>
        </p:nvSpPr>
        <p:spPr>
          <a:xfrm>
            <a:off x="649224" y="1975104"/>
            <a:ext cx="256032"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7</a:t>
            </a:r>
            <a:endParaRPr b="0" i="0" sz="1100" u="none" cap="none" strike="noStrike">
              <a:solidFill>
                <a:schemeClr val="dk1"/>
              </a:solidFill>
              <a:latin typeface="Calibri"/>
              <a:ea typeface="Calibri"/>
              <a:cs typeface="Calibri"/>
              <a:sym typeface="Calibri"/>
            </a:endParaRPr>
          </a:p>
        </p:txBody>
      </p:sp>
      <p:sp>
        <p:nvSpPr>
          <p:cNvPr id="542" name="Google Shape;542;p12"/>
          <p:cNvSpPr/>
          <p:nvPr/>
        </p:nvSpPr>
        <p:spPr>
          <a:xfrm>
            <a:off x="1014984" y="1874520"/>
            <a:ext cx="4837176"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Poppins"/>
              <a:buNone/>
            </a:pPr>
            <a:r>
              <a:rPr b="1" i="0" lang="en-US" sz="1250" u="none" cap="none" strike="noStrike">
                <a:solidFill>
                  <a:srgbClr val="FFFFFF"/>
                </a:solidFill>
                <a:latin typeface="Poppins"/>
                <a:ea typeface="Poppins"/>
                <a:cs typeface="Poppins"/>
                <a:sym typeface="Poppins"/>
              </a:rPr>
              <a:t>AD GROUP 7 · Local (Central London)</a:t>
            </a:r>
            <a:endParaRPr b="0" i="0" sz="1250" u="none" cap="none" strike="noStrike">
              <a:solidFill>
                <a:schemeClr val="dk1"/>
              </a:solidFill>
              <a:latin typeface="Calibri"/>
              <a:ea typeface="Calibri"/>
              <a:cs typeface="Calibri"/>
              <a:sym typeface="Calibri"/>
            </a:endParaRPr>
          </a:p>
        </p:txBody>
      </p:sp>
      <p:sp>
        <p:nvSpPr>
          <p:cNvPr id="543" name="Google Shape;543;p12"/>
          <p:cNvSpPr/>
          <p:nvPr/>
        </p:nvSpPr>
        <p:spPr>
          <a:xfrm>
            <a:off x="557784" y="2468880"/>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HEADLINES (15 · ≤30 chars)</a:t>
            </a:r>
            <a:endParaRPr b="0" i="0" sz="1050" u="none" cap="none" strike="noStrike">
              <a:solidFill>
                <a:schemeClr val="dk1"/>
              </a:solidFill>
              <a:latin typeface="Calibri"/>
              <a:ea typeface="Calibri"/>
              <a:cs typeface="Calibri"/>
              <a:sym typeface="Calibri"/>
            </a:endParaRPr>
          </a:p>
        </p:txBody>
      </p:sp>
      <p:sp>
        <p:nvSpPr>
          <p:cNvPr id="544" name="Google Shape;544;p12"/>
          <p:cNvSpPr/>
          <p:nvPr/>
        </p:nvSpPr>
        <p:spPr>
          <a:xfrm>
            <a:off x="594360"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 Body Sculpting Near You</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2. EMSCULPT NEO Near You</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3. Holborn Skin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4. Clinic in Central London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5. 233 High Holborn, WC1V</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6. Body Contouring Near You</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7. 30-Minute Treatments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8. No Surgery, No Downtime</a:t>
            </a:r>
            <a:endParaRPr b="0" i="0" sz="1030" u="none" cap="none" strike="noStrike">
              <a:solidFill>
                <a:schemeClr val="dk1"/>
              </a:solidFill>
              <a:latin typeface="Calibri"/>
              <a:ea typeface="Calibri"/>
              <a:cs typeface="Calibri"/>
              <a:sym typeface="Calibri"/>
            </a:endParaRPr>
          </a:p>
        </p:txBody>
      </p:sp>
      <p:sp>
        <p:nvSpPr>
          <p:cNvPr id="545" name="Google Shape;545;p12"/>
          <p:cNvSpPr/>
          <p:nvPr/>
        </p:nvSpPr>
        <p:spPr>
          <a:xfrm>
            <a:off x="3223260"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9. Dermatology-Led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10. CQC-Regulated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11. Monthly Payment Options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12. Course of Four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13. Book a Local Consult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14. Medically Supervised</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15. Book a Free Consultation</a:t>
            </a:r>
            <a:endParaRPr b="0" i="0" sz="1030" u="none" cap="none" strike="noStrike">
              <a:solidFill>
                <a:schemeClr val="dk1"/>
              </a:solidFill>
              <a:latin typeface="Calibri"/>
              <a:ea typeface="Calibri"/>
              <a:cs typeface="Calibri"/>
              <a:sym typeface="Calibri"/>
            </a:endParaRPr>
          </a:p>
        </p:txBody>
      </p:sp>
      <p:sp>
        <p:nvSpPr>
          <p:cNvPr id="546" name="Google Shape;546;p12"/>
          <p:cNvSpPr/>
          <p:nvPr/>
        </p:nvSpPr>
        <p:spPr>
          <a:xfrm>
            <a:off x="557784" y="4608576"/>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DESCRIPTIONS (≤90 chars)</a:t>
            </a:r>
            <a:endParaRPr b="0" i="0" sz="1050" u="none" cap="none" strike="noStrike">
              <a:solidFill>
                <a:schemeClr val="dk1"/>
              </a:solidFill>
              <a:latin typeface="Calibri"/>
              <a:ea typeface="Calibri"/>
              <a:cs typeface="Calibri"/>
              <a:sym typeface="Calibri"/>
            </a:endParaRPr>
          </a:p>
        </p:txBody>
      </p:sp>
      <p:sp>
        <p:nvSpPr>
          <p:cNvPr id="547" name="Google Shape;547;p12"/>
          <p:cNvSpPr/>
          <p:nvPr/>
        </p:nvSpPr>
        <p:spPr>
          <a:xfrm>
            <a:off x="594360" y="4864608"/>
            <a:ext cx="5303520" cy="146304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Body sculpting at 233 High Holborn, WC1V — minutes from the City and Midtown.</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dermatology-led, CQC-regulated clinic close to the office. Book a local consult.</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30-minute sessions with no surgery and no downtime. Monthly payment options.</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Book your free consultation at our central London clinic today. Enquire now.</a:t>
            </a:r>
            <a:endParaRPr b="0" i="0" sz="1030" u="none" cap="none" strike="noStrike">
              <a:solidFill>
                <a:schemeClr val="dk1"/>
              </a:solidFill>
              <a:latin typeface="Calibri"/>
              <a:ea typeface="Calibri"/>
              <a:cs typeface="Calibri"/>
              <a:sym typeface="Calibri"/>
            </a:endParaRPr>
          </a:p>
        </p:txBody>
      </p:sp>
      <p:sp>
        <p:nvSpPr>
          <p:cNvPr id="548" name="Google Shape;548;p12"/>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549" name="Google Shape;549;p12"/>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12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4" name="Shape 554"/>
        <p:cNvGrpSpPr/>
        <p:nvPr/>
      </p:nvGrpSpPr>
      <p:grpSpPr>
        <a:xfrm>
          <a:off x="0" y="0"/>
          <a:ext cx="0" cy="0"/>
          <a:chOff x="0" y="0"/>
          <a:chExt cx="0" cy="0"/>
        </a:xfrm>
      </p:grpSpPr>
      <p:pic>
        <p:nvPicPr>
          <p:cNvPr descr="unpacked/ppt/media/image11.png" id="555" name="Google Shape;555;p13"/>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556" name="Google Shape;556;p13"/>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Protect</a:t>
            </a:r>
            <a:endParaRPr b="0" i="0" sz="1500" u="none" cap="none" strike="noStrike">
              <a:solidFill>
                <a:schemeClr val="dk1"/>
              </a:solidFill>
              <a:latin typeface="Calibri"/>
              <a:ea typeface="Calibri"/>
              <a:cs typeface="Calibri"/>
              <a:sym typeface="Calibri"/>
            </a:endParaRPr>
          </a:p>
        </p:txBody>
      </p:sp>
      <p:sp>
        <p:nvSpPr>
          <p:cNvPr id="557" name="Google Shape;557;p13"/>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CAMPAIGN PROTECTION</a:t>
            </a:r>
            <a:endParaRPr b="0" i="0" sz="1250" u="none" cap="none" strike="noStrike">
              <a:solidFill>
                <a:schemeClr val="dk1"/>
              </a:solidFill>
              <a:latin typeface="Calibri"/>
              <a:ea typeface="Calibri"/>
              <a:cs typeface="Calibri"/>
              <a:sym typeface="Calibri"/>
            </a:endParaRPr>
          </a:p>
        </p:txBody>
      </p:sp>
      <p:sp>
        <p:nvSpPr>
          <p:cNvPr id="558" name="Google Shape;558;p13"/>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Negative Keywords</a:t>
            </a:r>
            <a:endParaRPr b="0" i="0" sz="3300" u="none" cap="none" strike="noStrike">
              <a:solidFill>
                <a:schemeClr val="dk1"/>
              </a:solidFill>
              <a:latin typeface="Calibri"/>
              <a:ea typeface="Calibri"/>
              <a:cs typeface="Calibri"/>
              <a:sym typeface="Calibri"/>
            </a:endParaRPr>
          </a:p>
        </p:txBody>
      </p:sp>
      <p:sp>
        <p:nvSpPr>
          <p:cNvPr id="559" name="Google Shape;559;p13"/>
          <p:cNvSpPr/>
          <p:nvPr/>
        </p:nvSpPr>
        <p:spPr>
          <a:xfrm>
            <a:off x="502920" y="1993392"/>
            <a:ext cx="1115568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These exclusions protect budget from weight-loss and GLP-1 traffic, machine buyers, trainees, competitor devices and medical tourism. The full list of 81 broad and 44 phrase negatives is supplied as an importable file.</a:t>
            </a:r>
            <a:endParaRPr b="0" i="0" sz="1350" u="none" cap="none" strike="noStrike">
              <a:solidFill>
                <a:schemeClr val="dk1"/>
              </a:solidFill>
              <a:latin typeface="Calibri"/>
              <a:ea typeface="Calibri"/>
              <a:cs typeface="Calibri"/>
              <a:sym typeface="Calibri"/>
            </a:endParaRPr>
          </a:p>
        </p:txBody>
      </p:sp>
      <p:sp>
        <p:nvSpPr>
          <p:cNvPr id="560" name="Google Shape;560;p13"/>
          <p:cNvSpPr/>
          <p:nvPr/>
        </p:nvSpPr>
        <p:spPr>
          <a:xfrm>
            <a:off x="502920" y="2615184"/>
            <a:ext cx="6537960" cy="3611880"/>
          </a:xfrm>
          <a:prstGeom prst="roundRect">
            <a:avLst>
              <a:gd fmla="val 2532"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13"/>
          <p:cNvSpPr/>
          <p:nvPr/>
        </p:nvSpPr>
        <p:spPr>
          <a:xfrm>
            <a:off x="777240" y="2852928"/>
            <a:ext cx="512064" cy="512064"/>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an_white.png" id="562" name="Google Shape;562;p13"/>
          <p:cNvPicPr preferRelativeResize="0"/>
          <p:nvPr/>
        </p:nvPicPr>
        <p:blipFill rotWithShape="1">
          <a:blip r:embed="rId4">
            <a:alphaModFix/>
          </a:blip>
          <a:srcRect b="0" l="0" r="0" t="0"/>
          <a:stretch/>
        </p:blipFill>
        <p:spPr>
          <a:xfrm>
            <a:off x="905256" y="2980944"/>
            <a:ext cx="256032" cy="256032"/>
          </a:xfrm>
          <a:prstGeom prst="rect">
            <a:avLst/>
          </a:prstGeom>
          <a:noFill/>
          <a:ln>
            <a:noFill/>
          </a:ln>
        </p:spPr>
      </p:pic>
      <p:sp>
        <p:nvSpPr>
          <p:cNvPr id="563" name="Google Shape;563;p13"/>
          <p:cNvSpPr/>
          <p:nvPr/>
        </p:nvSpPr>
        <p:spPr>
          <a:xfrm>
            <a:off x="1417320" y="2852928"/>
            <a:ext cx="4526280" cy="5120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600"/>
              <a:buFont typeface="Poppins"/>
              <a:buNone/>
            </a:pPr>
            <a:r>
              <a:rPr b="1" i="0" lang="en-US" sz="1600" u="none" cap="none" strike="noStrike">
                <a:solidFill>
                  <a:srgbClr val="2B2E2C"/>
                </a:solidFill>
                <a:latin typeface="Poppins"/>
                <a:ea typeface="Poppins"/>
                <a:cs typeface="Poppins"/>
                <a:sym typeface="Poppins"/>
              </a:rPr>
              <a:t>Broad Match Negatives</a:t>
            </a:r>
            <a:endParaRPr b="0" i="0" sz="1600" u="none" cap="none" strike="noStrike">
              <a:solidFill>
                <a:schemeClr val="dk1"/>
              </a:solidFill>
              <a:latin typeface="Calibri"/>
              <a:ea typeface="Calibri"/>
              <a:cs typeface="Calibri"/>
              <a:sym typeface="Calibri"/>
            </a:endParaRPr>
          </a:p>
        </p:txBody>
      </p:sp>
      <p:sp>
        <p:nvSpPr>
          <p:cNvPr id="564" name="Google Shape;564;p13"/>
          <p:cNvSpPr/>
          <p:nvPr/>
        </p:nvSpPr>
        <p:spPr>
          <a:xfrm>
            <a:off x="5577840" y="2852928"/>
            <a:ext cx="1188720" cy="512064"/>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300"/>
              <a:buFont typeface="Poppins"/>
              <a:buNone/>
            </a:pPr>
            <a:r>
              <a:rPr b="1" i="0" lang="en-US" sz="1300" u="none" cap="none" strike="noStrike">
                <a:solidFill>
                  <a:srgbClr val="16A879"/>
                </a:solidFill>
                <a:latin typeface="Poppins"/>
                <a:ea typeface="Poppins"/>
                <a:cs typeface="Poppins"/>
                <a:sym typeface="Poppins"/>
              </a:rPr>
              <a:t>81 terms — 27 shown</a:t>
            </a:r>
            <a:endParaRPr b="0" i="0" sz="1300" u="none" cap="none" strike="noStrike">
              <a:solidFill>
                <a:schemeClr val="dk1"/>
              </a:solidFill>
              <a:latin typeface="Calibri"/>
              <a:ea typeface="Calibri"/>
              <a:cs typeface="Calibri"/>
              <a:sym typeface="Calibri"/>
            </a:endParaRPr>
          </a:p>
        </p:txBody>
      </p:sp>
      <p:sp>
        <p:nvSpPr>
          <p:cNvPr id="565" name="Google Shape;565;p13"/>
          <p:cNvSpPr/>
          <p:nvPr/>
        </p:nvSpPr>
        <p:spPr>
          <a:xfrm>
            <a:off x="795528" y="3511296"/>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13"/>
          <p:cNvSpPr/>
          <p:nvPr/>
        </p:nvSpPr>
        <p:spPr>
          <a:xfrm>
            <a:off x="795528" y="3511296"/>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ozempic</a:t>
            </a:r>
            <a:endParaRPr b="0" i="0" sz="920" u="none" cap="none" strike="noStrike">
              <a:solidFill>
                <a:schemeClr val="dk1"/>
              </a:solidFill>
              <a:latin typeface="Calibri"/>
              <a:ea typeface="Calibri"/>
              <a:cs typeface="Calibri"/>
              <a:sym typeface="Calibri"/>
            </a:endParaRPr>
          </a:p>
        </p:txBody>
      </p:sp>
      <p:sp>
        <p:nvSpPr>
          <p:cNvPr id="567" name="Google Shape;567;p13"/>
          <p:cNvSpPr/>
          <p:nvPr/>
        </p:nvSpPr>
        <p:spPr>
          <a:xfrm>
            <a:off x="2004365" y="3511296"/>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13"/>
          <p:cNvSpPr/>
          <p:nvPr/>
        </p:nvSpPr>
        <p:spPr>
          <a:xfrm>
            <a:off x="2004365" y="3511296"/>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mounjaro</a:t>
            </a:r>
            <a:endParaRPr b="0" i="0" sz="920" u="none" cap="none" strike="noStrike">
              <a:solidFill>
                <a:schemeClr val="dk1"/>
              </a:solidFill>
              <a:latin typeface="Calibri"/>
              <a:ea typeface="Calibri"/>
              <a:cs typeface="Calibri"/>
              <a:sym typeface="Calibri"/>
            </a:endParaRPr>
          </a:p>
        </p:txBody>
      </p:sp>
      <p:sp>
        <p:nvSpPr>
          <p:cNvPr id="569" name="Google Shape;569;p13"/>
          <p:cNvSpPr/>
          <p:nvPr/>
        </p:nvSpPr>
        <p:spPr>
          <a:xfrm>
            <a:off x="3213202" y="3511296"/>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13"/>
          <p:cNvSpPr/>
          <p:nvPr/>
        </p:nvSpPr>
        <p:spPr>
          <a:xfrm>
            <a:off x="3213202" y="3511296"/>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wegovy</a:t>
            </a:r>
            <a:endParaRPr b="0" i="0" sz="920" u="none" cap="none" strike="noStrike">
              <a:solidFill>
                <a:schemeClr val="dk1"/>
              </a:solidFill>
              <a:latin typeface="Calibri"/>
              <a:ea typeface="Calibri"/>
              <a:cs typeface="Calibri"/>
              <a:sym typeface="Calibri"/>
            </a:endParaRPr>
          </a:p>
        </p:txBody>
      </p:sp>
      <p:sp>
        <p:nvSpPr>
          <p:cNvPr id="571" name="Google Shape;571;p13"/>
          <p:cNvSpPr/>
          <p:nvPr/>
        </p:nvSpPr>
        <p:spPr>
          <a:xfrm>
            <a:off x="4422038" y="3511296"/>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13"/>
          <p:cNvSpPr/>
          <p:nvPr/>
        </p:nvSpPr>
        <p:spPr>
          <a:xfrm>
            <a:off x="4422038" y="3511296"/>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semaglutide</a:t>
            </a:r>
            <a:endParaRPr b="0" i="0" sz="920" u="none" cap="none" strike="noStrike">
              <a:solidFill>
                <a:schemeClr val="dk1"/>
              </a:solidFill>
              <a:latin typeface="Calibri"/>
              <a:ea typeface="Calibri"/>
              <a:cs typeface="Calibri"/>
              <a:sym typeface="Calibri"/>
            </a:endParaRPr>
          </a:p>
        </p:txBody>
      </p:sp>
      <p:sp>
        <p:nvSpPr>
          <p:cNvPr id="573" name="Google Shape;573;p13"/>
          <p:cNvSpPr/>
          <p:nvPr/>
        </p:nvSpPr>
        <p:spPr>
          <a:xfrm>
            <a:off x="5630875" y="3511296"/>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13"/>
          <p:cNvSpPr/>
          <p:nvPr/>
        </p:nvSpPr>
        <p:spPr>
          <a:xfrm>
            <a:off x="5630875" y="3511296"/>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pill</a:t>
            </a:r>
            <a:endParaRPr b="0" i="0" sz="920" u="none" cap="none" strike="noStrike">
              <a:solidFill>
                <a:schemeClr val="dk1"/>
              </a:solidFill>
              <a:latin typeface="Calibri"/>
              <a:ea typeface="Calibri"/>
              <a:cs typeface="Calibri"/>
              <a:sym typeface="Calibri"/>
            </a:endParaRPr>
          </a:p>
        </p:txBody>
      </p:sp>
      <p:sp>
        <p:nvSpPr>
          <p:cNvPr id="575" name="Google Shape;575;p13"/>
          <p:cNvSpPr/>
          <p:nvPr/>
        </p:nvSpPr>
        <p:spPr>
          <a:xfrm>
            <a:off x="795528" y="3890772"/>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13"/>
          <p:cNvSpPr/>
          <p:nvPr/>
        </p:nvSpPr>
        <p:spPr>
          <a:xfrm>
            <a:off x="795528" y="3890772"/>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supplement</a:t>
            </a:r>
            <a:endParaRPr b="0" i="0" sz="920" u="none" cap="none" strike="noStrike">
              <a:solidFill>
                <a:schemeClr val="dk1"/>
              </a:solidFill>
              <a:latin typeface="Calibri"/>
              <a:ea typeface="Calibri"/>
              <a:cs typeface="Calibri"/>
              <a:sym typeface="Calibri"/>
            </a:endParaRPr>
          </a:p>
        </p:txBody>
      </p:sp>
      <p:sp>
        <p:nvSpPr>
          <p:cNvPr id="577" name="Google Shape;577;p13"/>
          <p:cNvSpPr/>
          <p:nvPr/>
        </p:nvSpPr>
        <p:spPr>
          <a:xfrm>
            <a:off x="2004365" y="3890772"/>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13"/>
          <p:cNvSpPr/>
          <p:nvPr/>
        </p:nvSpPr>
        <p:spPr>
          <a:xfrm>
            <a:off x="2004365" y="3890772"/>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diet</a:t>
            </a:r>
            <a:endParaRPr b="0" i="0" sz="920" u="none" cap="none" strike="noStrike">
              <a:solidFill>
                <a:schemeClr val="dk1"/>
              </a:solidFill>
              <a:latin typeface="Calibri"/>
              <a:ea typeface="Calibri"/>
              <a:cs typeface="Calibri"/>
              <a:sym typeface="Calibri"/>
            </a:endParaRPr>
          </a:p>
        </p:txBody>
      </p:sp>
      <p:sp>
        <p:nvSpPr>
          <p:cNvPr id="579" name="Google Shape;579;p13"/>
          <p:cNvSpPr/>
          <p:nvPr/>
        </p:nvSpPr>
        <p:spPr>
          <a:xfrm>
            <a:off x="3213202" y="3890772"/>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13"/>
          <p:cNvSpPr/>
          <p:nvPr/>
        </p:nvSpPr>
        <p:spPr>
          <a:xfrm>
            <a:off x="3213202" y="3890772"/>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gym</a:t>
            </a:r>
            <a:endParaRPr b="0" i="0" sz="920" u="none" cap="none" strike="noStrike">
              <a:solidFill>
                <a:schemeClr val="dk1"/>
              </a:solidFill>
              <a:latin typeface="Calibri"/>
              <a:ea typeface="Calibri"/>
              <a:cs typeface="Calibri"/>
              <a:sym typeface="Calibri"/>
            </a:endParaRPr>
          </a:p>
        </p:txBody>
      </p:sp>
      <p:sp>
        <p:nvSpPr>
          <p:cNvPr id="581" name="Google Shape;581;p13"/>
          <p:cNvSpPr/>
          <p:nvPr/>
        </p:nvSpPr>
        <p:spPr>
          <a:xfrm>
            <a:off x="4422038" y="3890772"/>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13"/>
          <p:cNvSpPr/>
          <p:nvPr/>
        </p:nvSpPr>
        <p:spPr>
          <a:xfrm>
            <a:off x="4422038" y="3890772"/>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machine</a:t>
            </a:r>
            <a:endParaRPr b="0" i="0" sz="920" u="none" cap="none" strike="noStrike">
              <a:solidFill>
                <a:schemeClr val="dk1"/>
              </a:solidFill>
              <a:latin typeface="Calibri"/>
              <a:ea typeface="Calibri"/>
              <a:cs typeface="Calibri"/>
              <a:sym typeface="Calibri"/>
            </a:endParaRPr>
          </a:p>
        </p:txBody>
      </p:sp>
      <p:sp>
        <p:nvSpPr>
          <p:cNvPr id="583" name="Google Shape;583;p13"/>
          <p:cNvSpPr/>
          <p:nvPr/>
        </p:nvSpPr>
        <p:spPr>
          <a:xfrm>
            <a:off x="5630875" y="3890772"/>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13"/>
          <p:cNvSpPr/>
          <p:nvPr/>
        </p:nvSpPr>
        <p:spPr>
          <a:xfrm>
            <a:off x="5630875" y="3890772"/>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device</a:t>
            </a:r>
            <a:endParaRPr b="0" i="0" sz="920" u="none" cap="none" strike="noStrike">
              <a:solidFill>
                <a:schemeClr val="dk1"/>
              </a:solidFill>
              <a:latin typeface="Calibri"/>
              <a:ea typeface="Calibri"/>
              <a:cs typeface="Calibri"/>
              <a:sym typeface="Calibri"/>
            </a:endParaRPr>
          </a:p>
        </p:txBody>
      </p:sp>
      <p:sp>
        <p:nvSpPr>
          <p:cNvPr id="585" name="Google Shape;585;p13"/>
          <p:cNvSpPr/>
          <p:nvPr/>
        </p:nvSpPr>
        <p:spPr>
          <a:xfrm>
            <a:off x="795528" y="4270248"/>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13"/>
          <p:cNvSpPr/>
          <p:nvPr/>
        </p:nvSpPr>
        <p:spPr>
          <a:xfrm>
            <a:off x="795528" y="4270248"/>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buy</a:t>
            </a:r>
            <a:endParaRPr b="0" i="0" sz="920" u="none" cap="none" strike="noStrike">
              <a:solidFill>
                <a:schemeClr val="dk1"/>
              </a:solidFill>
              <a:latin typeface="Calibri"/>
              <a:ea typeface="Calibri"/>
              <a:cs typeface="Calibri"/>
              <a:sym typeface="Calibri"/>
            </a:endParaRPr>
          </a:p>
        </p:txBody>
      </p:sp>
      <p:sp>
        <p:nvSpPr>
          <p:cNvPr id="587" name="Google Shape;587;p13"/>
          <p:cNvSpPr/>
          <p:nvPr/>
        </p:nvSpPr>
        <p:spPr>
          <a:xfrm>
            <a:off x="2004365" y="4270248"/>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13"/>
          <p:cNvSpPr/>
          <p:nvPr/>
        </p:nvSpPr>
        <p:spPr>
          <a:xfrm>
            <a:off x="2004365" y="4270248"/>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sale</a:t>
            </a:r>
            <a:endParaRPr b="0" i="0" sz="920" u="none" cap="none" strike="noStrike">
              <a:solidFill>
                <a:schemeClr val="dk1"/>
              </a:solidFill>
              <a:latin typeface="Calibri"/>
              <a:ea typeface="Calibri"/>
              <a:cs typeface="Calibri"/>
              <a:sym typeface="Calibri"/>
            </a:endParaRPr>
          </a:p>
        </p:txBody>
      </p:sp>
      <p:sp>
        <p:nvSpPr>
          <p:cNvPr id="589" name="Google Shape;589;p13"/>
          <p:cNvSpPr/>
          <p:nvPr/>
        </p:nvSpPr>
        <p:spPr>
          <a:xfrm>
            <a:off x="3213202" y="4270248"/>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13"/>
          <p:cNvSpPr/>
          <p:nvPr/>
        </p:nvSpPr>
        <p:spPr>
          <a:xfrm>
            <a:off x="3213202" y="4270248"/>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supplier</a:t>
            </a:r>
            <a:endParaRPr b="0" i="0" sz="920" u="none" cap="none" strike="noStrike">
              <a:solidFill>
                <a:schemeClr val="dk1"/>
              </a:solidFill>
              <a:latin typeface="Calibri"/>
              <a:ea typeface="Calibri"/>
              <a:cs typeface="Calibri"/>
              <a:sym typeface="Calibri"/>
            </a:endParaRPr>
          </a:p>
        </p:txBody>
      </p:sp>
      <p:sp>
        <p:nvSpPr>
          <p:cNvPr id="591" name="Google Shape;591;p13"/>
          <p:cNvSpPr/>
          <p:nvPr/>
        </p:nvSpPr>
        <p:spPr>
          <a:xfrm>
            <a:off x="4422038" y="4270248"/>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13"/>
          <p:cNvSpPr/>
          <p:nvPr/>
        </p:nvSpPr>
        <p:spPr>
          <a:xfrm>
            <a:off x="4422038" y="4270248"/>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training</a:t>
            </a:r>
            <a:endParaRPr b="0" i="0" sz="920" u="none" cap="none" strike="noStrike">
              <a:solidFill>
                <a:schemeClr val="dk1"/>
              </a:solidFill>
              <a:latin typeface="Calibri"/>
              <a:ea typeface="Calibri"/>
              <a:cs typeface="Calibri"/>
              <a:sym typeface="Calibri"/>
            </a:endParaRPr>
          </a:p>
        </p:txBody>
      </p:sp>
      <p:sp>
        <p:nvSpPr>
          <p:cNvPr id="593" name="Google Shape;593;p13"/>
          <p:cNvSpPr/>
          <p:nvPr/>
        </p:nvSpPr>
        <p:spPr>
          <a:xfrm>
            <a:off x="5630875" y="4270248"/>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13"/>
          <p:cNvSpPr/>
          <p:nvPr/>
        </p:nvSpPr>
        <p:spPr>
          <a:xfrm>
            <a:off x="5630875" y="4270248"/>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course</a:t>
            </a:r>
            <a:endParaRPr b="0" i="0" sz="920" u="none" cap="none" strike="noStrike">
              <a:solidFill>
                <a:schemeClr val="dk1"/>
              </a:solidFill>
              <a:latin typeface="Calibri"/>
              <a:ea typeface="Calibri"/>
              <a:cs typeface="Calibri"/>
              <a:sym typeface="Calibri"/>
            </a:endParaRPr>
          </a:p>
        </p:txBody>
      </p:sp>
      <p:sp>
        <p:nvSpPr>
          <p:cNvPr id="595" name="Google Shape;595;p13"/>
          <p:cNvSpPr/>
          <p:nvPr/>
        </p:nvSpPr>
        <p:spPr>
          <a:xfrm>
            <a:off x="795528" y="4649724"/>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13"/>
          <p:cNvSpPr/>
          <p:nvPr/>
        </p:nvSpPr>
        <p:spPr>
          <a:xfrm>
            <a:off x="795528" y="4649724"/>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jobs</a:t>
            </a:r>
            <a:endParaRPr b="0" i="0" sz="920" u="none" cap="none" strike="noStrike">
              <a:solidFill>
                <a:schemeClr val="dk1"/>
              </a:solidFill>
              <a:latin typeface="Calibri"/>
              <a:ea typeface="Calibri"/>
              <a:cs typeface="Calibri"/>
              <a:sym typeface="Calibri"/>
            </a:endParaRPr>
          </a:p>
        </p:txBody>
      </p:sp>
      <p:sp>
        <p:nvSpPr>
          <p:cNvPr id="597" name="Google Shape;597;p13"/>
          <p:cNvSpPr/>
          <p:nvPr/>
        </p:nvSpPr>
        <p:spPr>
          <a:xfrm>
            <a:off x="2004365" y="4649724"/>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13"/>
          <p:cNvSpPr/>
          <p:nvPr/>
        </p:nvSpPr>
        <p:spPr>
          <a:xfrm>
            <a:off x="2004365" y="4649724"/>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coolsculpting</a:t>
            </a:r>
            <a:endParaRPr b="0" i="0" sz="920" u="none" cap="none" strike="noStrike">
              <a:solidFill>
                <a:schemeClr val="dk1"/>
              </a:solidFill>
              <a:latin typeface="Calibri"/>
              <a:ea typeface="Calibri"/>
              <a:cs typeface="Calibri"/>
              <a:sym typeface="Calibri"/>
            </a:endParaRPr>
          </a:p>
        </p:txBody>
      </p:sp>
      <p:sp>
        <p:nvSpPr>
          <p:cNvPr id="599" name="Google Shape;599;p13"/>
          <p:cNvSpPr/>
          <p:nvPr/>
        </p:nvSpPr>
        <p:spPr>
          <a:xfrm>
            <a:off x="3213202" y="4649724"/>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13"/>
          <p:cNvSpPr/>
          <p:nvPr/>
        </p:nvSpPr>
        <p:spPr>
          <a:xfrm>
            <a:off x="3213202" y="4649724"/>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liposuction</a:t>
            </a:r>
            <a:endParaRPr b="0" i="0" sz="920" u="none" cap="none" strike="noStrike">
              <a:solidFill>
                <a:schemeClr val="dk1"/>
              </a:solidFill>
              <a:latin typeface="Calibri"/>
              <a:ea typeface="Calibri"/>
              <a:cs typeface="Calibri"/>
              <a:sym typeface="Calibri"/>
            </a:endParaRPr>
          </a:p>
        </p:txBody>
      </p:sp>
      <p:sp>
        <p:nvSpPr>
          <p:cNvPr id="601" name="Google Shape;601;p13"/>
          <p:cNvSpPr/>
          <p:nvPr/>
        </p:nvSpPr>
        <p:spPr>
          <a:xfrm>
            <a:off x="4422038" y="4649724"/>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13"/>
          <p:cNvSpPr/>
          <p:nvPr/>
        </p:nvSpPr>
        <p:spPr>
          <a:xfrm>
            <a:off x="4422038" y="4649724"/>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lipo</a:t>
            </a:r>
            <a:endParaRPr b="0" i="0" sz="920" u="none" cap="none" strike="noStrike">
              <a:solidFill>
                <a:schemeClr val="dk1"/>
              </a:solidFill>
              <a:latin typeface="Calibri"/>
              <a:ea typeface="Calibri"/>
              <a:cs typeface="Calibri"/>
              <a:sym typeface="Calibri"/>
            </a:endParaRPr>
          </a:p>
        </p:txBody>
      </p:sp>
      <p:sp>
        <p:nvSpPr>
          <p:cNvPr id="603" name="Google Shape;603;p13"/>
          <p:cNvSpPr/>
          <p:nvPr/>
        </p:nvSpPr>
        <p:spPr>
          <a:xfrm>
            <a:off x="5630875" y="4649724"/>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13"/>
          <p:cNvSpPr/>
          <p:nvPr/>
        </p:nvSpPr>
        <p:spPr>
          <a:xfrm>
            <a:off x="5630875" y="4649724"/>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surgeon</a:t>
            </a:r>
            <a:endParaRPr b="0" i="0" sz="920" u="none" cap="none" strike="noStrike">
              <a:solidFill>
                <a:schemeClr val="dk1"/>
              </a:solidFill>
              <a:latin typeface="Calibri"/>
              <a:ea typeface="Calibri"/>
              <a:cs typeface="Calibri"/>
              <a:sym typeface="Calibri"/>
            </a:endParaRPr>
          </a:p>
        </p:txBody>
      </p:sp>
      <p:sp>
        <p:nvSpPr>
          <p:cNvPr id="605" name="Google Shape;605;p13"/>
          <p:cNvSpPr/>
          <p:nvPr/>
        </p:nvSpPr>
        <p:spPr>
          <a:xfrm>
            <a:off x="795528" y="5029200"/>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13"/>
          <p:cNvSpPr/>
          <p:nvPr/>
        </p:nvSpPr>
        <p:spPr>
          <a:xfrm>
            <a:off x="795528" y="5029200"/>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reddit</a:t>
            </a:r>
            <a:endParaRPr b="0" i="0" sz="920" u="none" cap="none" strike="noStrike">
              <a:solidFill>
                <a:schemeClr val="dk1"/>
              </a:solidFill>
              <a:latin typeface="Calibri"/>
              <a:ea typeface="Calibri"/>
              <a:cs typeface="Calibri"/>
              <a:sym typeface="Calibri"/>
            </a:endParaRPr>
          </a:p>
        </p:txBody>
      </p:sp>
      <p:sp>
        <p:nvSpPr>
          <p:cNvPr id="607" name="Google Shape;607;p13"/>
          <p:cNvSpPr/>
          <p:nvPr/>
        </p:nvSpPr>
        <p:spPr>
          <a:xfrm>
            <a:off x="2004365" y="5029200"/>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13"/>
          <p:cNvSpPr/>
          <p:nvPr/>
        </p:nvSpPr>
        <p:spPr>
          <a:xfrm>
            <a:off x="2004365" y="5029200"/>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youtube</a:t>
            </a:r>
            <a:endParaRPr b="0" i="0" sz="920" u="none" cap="none" strike="noStrike">
              <a:solidFill>
                <a:schemeClr val="dk1"/>
              </a:solidFill>
              <a:latin typeface="Calibri"/>
              <a:ea typeface="Calibri"/>
              <a:cs typeface="Calibri"/>
              <a:sym typeface="Calibri"/>
            </a:endParaRPr>
          </a:p>
        </p:txBody>
      </p:sp>
      <p:sp>
        <p:nvSpPr>
          <p:cNvPr id="609" name="Google Shape;609;p13"/>
          <p:cNvSpPr/>
          <p:nvPr/>
        </p:nvSpPr>
        <p:spPr>
          <a:xfrm>
            <a:off x="3213202" y="5029200"/>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13"/>
          <p:cNvSpPr/>
          <p:nvPr/>
        </p:nvSpPr>
        <p:spPr>
          <a:xfrm>
            <a:off x="3213202" y="5029200"/>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tiktok</a:t>
            </a:r>
            <a:endParaRPr b="0" i="0" sz="920" u="none" cap="none" strike="noStrike">
              <a:solidFill>
                <a:schemeClr val="dk1"/>
              </a:solidFill>
              <a:latin typeface="Calibri"/>
              <a:ea typeface="Calibri"/>
              <a:cs typeface="Calibri"/>
              <a:sym typeface="Calibri"/>
            </a:endParaRPr>
          </a:p>
        </p:txBody>
      </p:sp>
      <p:sp>
        <p:nvSpPr>
          <p:cNvPr id="611" name="Google Shape;611;p13"/>
          <p:cNvSpPr/>
          <p:nvPr/>
        </p:nvSpPr>
        <p:spPr>
          <a:xfrm>
            <a:off x="4422038" y="5029200"/>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13"/>
          <p:cNvSpPr/>
          <p:nvPr/>
        </p:nvSpPr>
        <p:spPr>
          <a:xfrm>
            <a:off x="4422038" y="5029200"/>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wikipedia</a:t>
            </a:r>
            <a:endParaRPr b="0" i="0" sz="920" u="none" cap="none" strike="noStrike">
              <a:solidFill>
                <a:schemeClr val="dk1"/>
              </a:solidFill>
              <a:latin typeface="Calibri"/>
              <a:ea typeface="Calibri"/>
              <a:cs typeface="Calibri"/>
              <a:sym typeface="Calibri"/>
            </a:endParaRPr>
          </a:p>
        </p:txBody>
      </p:sp>
      <p:sp>
        <p:nvSpPr>
          <p:cNvPr id="613" name="Google Shape;613;p13"/>
          <p:cNvSpPr/>
          <p:nvPr/>
        </p:nvSpPr>
        <p:spPr>
          <a:xfrm>
            <a:off x="5630875" y="5029200"/>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13"/>
          <p:cNvSpPr/>
          <p:nvPr/>
        </p:nvSpPr>
        <p:spPr>
          <a:xfrm>
            <a:off x="5630875" y="5029200"/>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turkey</a:t>
            </a:r>
            <a:endParaRPr b="0" i="0" sz="920" u="none" cap="none" strike="noStrike">
              <a:solidFill>
                <a:schemeClr val="dk1"/>
              </a:solidFill>
              <a:latin typeface="Calibri"/>
              <a:ea typeface="Calibri"/>
              <a:cs typeface="Calibri"/>
              <a:sym typeface="Calibri"/>
            </a:endParaRPr>
          </a:p>
        </p:txBody>
      </p:sp>
      <p:sp>
        <p:nvSpPr>
          <p:cNvPr id="615" name="Google Shape;615;p13"/>
          <p:cNvSpPr/>
          <p:nvPr/>
        </p:nvSpPr>
        <p:spPr>
          <a:xfrm>
            <a:off x="795528" y="5408676"/>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13"/>
          <p:cNvSpPr/>
          <p:nvPr/>
        </p:nvSpPr>
        <p:spPr>
          <a:xfrm>
            <a:off x="795528" y="5408676"/>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abroad</a:t>
            </a:r>
            <a:endParaRPr b="0" i="0" sz="920" u="none" cap="none" strike="noStrike">
              <a:solidFill>
                <a:schemeClr val="dk1"/>
              </a:solidFill>
              <a:latin typeface="Calibri"/>
              <a:ea typeface="Calibri"/>
              <a:cs typeface="Calibri"/>
              <a:sym typeface="Calibri"/>
            </a:endParaRPr>
          </a:p>
        </p:txBody>
      </p:sp>
      <p:sp>
        <p:nvSpPr>
          <p:cNvPr id="617" name="Google Shape;617;p13"/>
          <p:cNvSpPr/>
          <p:nvPr/>
        </p:nvSpPr>
        <p:spPr>
          <a:xfrm>
            <a:off x="2004365" y="5408676"/>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13"/>
          <p:cNvSpPr/>
          <p:nvPr/>
        </p:nvSpPr>
        <p:spPr>
          <a:xfrm>
            <a:off x="2004365" y="5408676"/>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cheap</a:t>
            </a:r>
            <a:endParaRPr b="0" i="0" sz="920" u="none" cap="none" strike="noStrike">
              <a:solidFill>
                <a:schemeClr val="dk1"/>
              </a:solidFill>
              <a:latin typeface="Calibri"/>
              <a:ea typeface="Calibri"/>
              <a:cs typeface="Calibri"/>
              <a:sym typeface="Calibri"/>
            </a:endParaRPr>
          </a:p>
        </p:txBody>
      </p:sp>
      <p:sp>
        <p:nvSpPr>
          <p:cNvPr id="619" name="Google Shape;619;p13"/>
          <p:cNvSpPr/>
          <p:nvPr/>
        </p:nvSpPr>
        <p:spPr>
          <a:xfrm>
            <a:off x="7269480" y="2615184"/>
            <a:ext cx="4416552" cy="3611880"/>
          </a:xfrm>
          <a:prstGeom prst="roundRect">
            <a:avLst>
              <a:gd fmla="val 2532" name="adj"/>
            </a:avLst>
          </a:prstGeom>
          <a:solidFill>
            <a:srgbClr val="1A2620"/>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13"/>
          <p:cNvSpPr/>
          <p:nvPr/>
        </p:nvSpPr>
        <p:spPr>
          <a:xfrm>
            <a:off x="7525512" y="2852928"/>
            <a:ext cx="512064" cy="512064"/>
          </a:xfrm>
          <a:prstGeom prst="ellipse">
            <a:avLst/>
          </a:prstGeom>
          <a:solidFill>
            <a:srgbClr val="3BE2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an_dark.png" id="621" name="Google Shape;621;p13"/>
          <p:cNvPicPr preferRelativeResize="0"/>
          <p:nvPr/>
        </p:nvPicPr>
        <p:blipFill rotWithShape="1">
          <a:blip r:embed="rId5">
            <a:alphaModFix/>
          </a:blip>
          <a:srcRect b="0" l="0" r="0" t="0"/>
          <a:stretch/>
        </p:blipFill>
        <p:spPr>
          <a:xfrm>
            <a:off x="7653528" y="2980944"/>
            <a:ext cx="256032" cy="256032"/>
          </a:xfrm>
          <a:prstGeom prst="rect">
            <a:avLst/>
          </a:prstGeom>
          <a:noFill/>
          <a:ln>
            <a:noFill/>
          </a:ln>
        </p:spPr>
      </p:pic>
      <p:sp>
        <p:nvSpPr>
          <p:cNvPr id="622" name="Google Shape;622;p13"/>
          <p:cNvSpPr/>
          <p:nvPr/>
        </p:nvSpPr>
        <p:spPr>
          <a:xfrm>
            <a:off x="8147304" y="2834640"/>
            <a:ext cx="331927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50"/>
              <a:buFont typeface="Poppins"/>
              <a:buNone/>
            </a:pPr>
            <a:r>
              <a:rPr b="1" i="0" lang="en-US" sz="1450" u="none" cap="none" strike="noStrike">
                <a:solidFill>
                  <a:srgbClr val="FFFFFF"/>
                </a:solidFill>
                <a:latin typeface="Poppins"/>
                <a:ea typeface="Poppins"/>
                <a:cs typeface="Poppins"/>
                <a:sym typeface="Poppins"/>
              </a:rPr>
              <a:t>Phrase Match Negatives</a:t>
            </a:r>
            <a:endParaRPr b="0" i="0" sz="1450" u="none" cap="none" strike="noStrike">
              <a:solidFill>
                <a:schemeClr val="dk1"/>
              </a:solidFill>
              <a:latin typeface="Calibri"/>
              <a:ea typeface="Calibri"/>
              <a:cs typeface="Calibri"/>
              <a:sym typeface="Calibri"/>
            </a:endParaRPr>
          </a:p>
        </p:txBody>
      </p:sp>
      <p:sp>
        <p:nvSpPr>
          <p:cNvPr id="623" name="Google Shape;623;p13"/>
          <p:cNvSpPr/>
          <p:nvPr/>
        </p:nvSpPr>
        <p:spPr>
          <a:xfrm>
            <a:off x="7580376" y="3401568"/>
            <a:ext cx="3813048" cy="2715768"/>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"weight loss"</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"lose weight"</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"slimming treatment"</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"fat burning"</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"fat freezing"</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"fat dissolving"</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"tummy tuck"</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"cosmetic surgery"</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"at home"</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"how to"</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"does it work"</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"before and after"</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"emsculpt machine"</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"vs coolsculpting"</a:t>
            </a:r>
            <a:endParaRPr b="0" i="0" sz="960" u="none" cap="none" strike="noStrike">
              <a:solidFill>
                <a:schemeClr val="dk1"/>
              </a:solidFill>
              <a:latin typeface="Calibri"/>
              <a:ea typeface="Calibri"/>
              <a:cs typeface="Calibri"/>
              <a:sym typeface="Calibri"/>
            </a:endParaRPr>
          </a:p>
        </p:txBody>
      </p:sp>
      <p:sp>
        <p:nvSpPr>
          <p:cNvPr id="624" name="Google Shape;624;p13"/>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625" name="Google Shape;625;p13"/>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13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0" name="Shape 630"/>
        <p:cNvGrpSpPr/>
        <p:nvPr/>
      </p:nvGrpSpPr>
      <p:grpSpPr>
        <a:xfrm>
          <a:off x="0" y="0"/>
          <a:ext cx="0" cy="0"/>
          <a:chOff x="0" y="0"/>
          <a:chExt cx="0" cy="0"/>
        </a:xfrm>
      </p:grpSpPr>
      <p:pic>
        <p:nvPicPr>
          <p:cNvPr descr="unpacked/ppt/media/image11.png" id="631" name="Google Shape;631;p14"/>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632" name="Google Shape;632;p14"/>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Audience</a:t>
            </a:r>
            <a:endParaRPr b="0" i="0" sz="1500" u="none" cap="none" strike="noStrike">
              <a:solidFill>
                <a:schemeClr val="dk1"/>
              </a:solidFill>
              <a:latin typeface="Calibri"/>
              <a:ea typeface="Calibri"/>
              <a:cs typeface="Calibri"/>
              <a:sym typeface="Calibri"/>
            </a:endParaRPr>
          </a:p>
        </p:txBody>
      </p:sp>
      <p:sp>
        <p:nvSpPr>
          <p:cNvPr id="633" name="Google Shape;633;p14"/>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EMFACE · TARGET AUDIENCE</a:t>
            </a:r>
            <a:endParaRPr b="0" i="0" sz="1250" u="none" cap="none" strike="noStrike">
              <a:solidFill>
                <a:schemeClr val="dk1"/>
              </a:solidFill>
              <a:latin typeface="Calibri"/>
              <a:ea typeface="Calibri"/>
              <a:cs typeface="Calibri"/>
              <a:sym typeface="Calibri"/>
            </a:endParaRPr>
          </a:p>
        </p:txBody>
      </p:sp>
      <p:sp>
        <p:nvSpPr>
          <p:cNvPr id="634" name="Google Shape;634;p14"/>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Who We're Speaking To</a:t>
            </a:r>
            <a:endParaRPr b="0" i="0" sz="3300" u="none" cap="none" strike="noStrike">
              <a:solidFill>
                <a:schemeClr val="dk1"/>
              </a:solidFill>
              <a:latin typeface="Calibri"/>
              <a:ea typeface="Calibri"/>
              <a:cs typeface="Calibri"/>
              <a:sym typeface="Calibri"/>
            </a:endParaRPr>
          </a:p>
        </p:txBody>
      </p:sp>
      <p:sp>
        <p:nvSpPr>
          <p:cNvPr id="635" name="Google Shape;635;p14"/>
          <p:cNvSpPr/>
          <p:nvPr/>
        </p:nvSpPr>
        <p:spPr>
          <a:xfrm>
            <a:off x="502920" y="1993392"/>
            <a:ext cx="1115568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Two EmFace audiences drive this campaign — both needle-free, both seeking a natural lift rather than an obvious change. Every ad group maps back to one of these personas.</a:t>
            </a:r>
            <a:endParaRPr b="0" i="0" sz="1350" u="none" cap="none" strike="noStrike">
              <a:solidFill>
                <a:schemeClr val="dk1"/>
              </a:solidFill>
              <a:latin typeface="Calibri"/>
              <a:ea typeface="Calibri"/>
              <a:cs typeface="Calibri"/>
              <a:sym typeface="Calibri"/>
            </a:endParaRPr>
          </a:p>
        </p:txBody>
      </p:sp>
      <p:sp>
        <p:nvSpPr>
          <p:cNvPr id="636" name="Google Shape;636;p14"/>
          <p:cNvSpPr/>
          <p:nvPr/>
        </p:nvSpPr>
        <p:spPr>
          <a:xfrm>
            <a:off x="502920" y="2697480"/>
            <a:ext cx="5440680" cy="3429000"/>
          </a:xfrm>
          <a:prstGeom prst="roundRect">
            <a:avLst>
              <a:gd fmla="val 2667"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14"/>
          <p:cNvSpPr/>
          <p:nvPr/>
        </p:nvSpPr>
        <p:spPr>
          <a:xfrm>
            <a:off x="813816" y="3026664"/>
            <a:ext cx="786384" cy="786384"/>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mile_white.png" id="638" name="Google Shape;638;p14"/>
          <p:cNvPicPr preferRelativeResize="0"/>
          <p:nvPr/>
        </p:nvPicPr>
        <p:blipFill rotWithShape="1">
          <a:blip r:embed="rId4">
            <a:alphaModFix/>
          </a:blip>
          <a:srcRect b="0" l="0" r="0" t="0"/>
          <a:stretch/>
        </p:blipFill>
        <p:spPr>
          <a:xfrm>
            <a:off x="1014984" y="3227832"/>
            <a:ext cx="384048" cy="384048"/>
          </a:xfrm>
          <a:prstGeom prst="rect">
            <a:avLst/>
          </a:prstGeom>
          <a:noFill/>
          <a:ln>
            <a:noFill/>
          </a:ln>
        </p:spPr>
      </p:pic>
      <p:sp>
        <p:nvSpPr>
          <p:cNvPr id="639" name="Google Shape;639;p14"/>
          <p:cNvSpPr/>
          <p:nvPr/>
        </p:nvSpPr>
        <p:spPr>
          <a:xfrm>
            <a:off x="1746504" y="3063240"/>
            <a:ext cx="397764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PERSONA 01</a:t>
            </a:r>
            <a:endParaRPr b="0" i="0" sz="1100" u="none" cap="none" strike="noStrike">
              <a:solidFill>
                <a:schemeClr val="dk1"/>
              </a:solidFill>
              <a:latin typeface="Calibri"/>
              <a:ea typeface="Calibri"/>
              <a:cs typeface="Calibri"/>
              <a:sym typeface="Calibri"/>
            </a:endParaRPr>
          </a:p>
        </p:txBody>
      </p:sp>
      <p:sp>
        <p:nvSpPr>
          <p:cNvPr id="640" name="Google Shape;640;p14"/>
          <p:cNvSpPr/>
          <p:nvPr/>
        </p:nvSpPr>
        <p:spPr>
          <a:xfrm>
            <a:off x="1746504" y="3300984"/>
            <a:ext cx="39776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2000"/>
              <a:buFont typeface="Poppins"/>
              <a:buNone/>
            </a:pPr>
            <a:r>
              <a:rPr b="1" i="0" lang="en-US" sz="2000" u="none" cap="none" strike="noStrike">
                <a:solidFill>
                  <a:srgbClr val="2B2E2C"/>
                </a:solidFill>
                <a:latin typeface="Poppins"/>
                <a:ea typeface="Poppins"/>
                <a:cs typeface="Poppins"/>
                <a:sym typeface="Poppins"/>
              </a:rPr>
              <a:t>The Needle-Free Refiner</a:t>
            </a:r>
            <a:endParaRPr b="0" i="0" sz="2000" u="none" cap="none" strike="noStrike">
              <a:solidFill>
                <a:schemeClr val="dk1"/>
              </a:solidFill>
              <a:latin typeface="Calibri"/>
              <a:ea typeface="Calibri"/>
              <a:cs typeface="Calibri"/>
              <a:sym typeface="Calibri"/>
            </a:endParaRPr>
          </a:p>
        </p:txBody>
      </p:sp>
      <p:sp>
        <p:nvSpPr>
          <p:cNvPr id="641" name="Google Shape;641;p14"/>
          <p:cNvSpPr/>
          <p:nvPr/>
        </p:nvSpPr>
        <p:spPr>
          <a:xfrm>
            <a:off x="832104" y="4032504"/>
            <a:ext cx="4800600" cy="31089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1150"/>
              <a:buFont typeface="Calibri"/>
              <a:buNone/>
            </a:pPr>
            <a:r>
              <a:rPr b="0" i="1" lang="en-US" sz="1150" u="none" cap="none" strike="noStrike">
                <a:solidFill>
                  <a:srgbClr val="6E7873"/>
                </a:solidFill>
                <a:latin typeface="Calibri"/>
                <a:ea typeface="Calibri"/>
                <a:cs typeface="Calibri"/>
                <a:sym typeface="Calibri"/>
              </a:rPr>
              <a:t>Lift without injectables · 35–55 · mostly female</a:t>
            </a:r>
            <a:endParaRPr b="0" i="0" sz="1150" u="none" cap="none" strike="noStrike">
              <a:solidFill>
                <a:schemeClr val="dk1"/>
              </a:solidFill>
              <a:latin typeface="Calibri"/>
              <a:ea typeface="Calibri"/>
              <a:cs typeface="Calibri"/>
              <a:sym typeface="Calibri"/>
            </a:endParaRPr>
          </a:p>
        </p:txBody>
      </p:sp>
      <p:sp>
        <p:nvSpPr>
          <p:cNvPr id="642" name="Google Shape;642;p14"/>
          <p:cNvSpPr/>
          <p:nvPr/>
        </p:nvSpPr>
        <p:spPr>
          <a:xfrm>
            <a:off x="832104" y="4398264"/>
            <a:ext cx="4782312" cy="118872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0000"/>
              </a:lnSpc>
              <a:spcBef>
                <a:spcPts val="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Wants lift but not filler or surgery</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Worried about looking overfilled or altered</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Has tried facials with little lasting change</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Drawn to tightening and muscle tone</a:t>
            </a:r>
            <a:endParaRPr b="0" i="0" sz="1200" u="none" cap="none" strike="noStrike">
              <a:solidFill>
                <a:schemeClr val="dk1"/>
              </a:solidFill>
              <a:latin typeface="Calibri"/>
              <a:ea typeface="Calibri"/>
              <a:cs typeface="Calibri"/>
              <a:sym typeface="Calibri"/>
            </a:endParaRPr>
          </a:p>
        </p:txBody>
      </p:sp>
      <p:sp>
        <p:nvSpPr>
          <p:cNvPr id="643" name="Google Shape;643;p14"/>
          <p:cNvSpPr/>
          <p:nvPr/>
        </p:nvSpPr>
        <p:spPr>
          <a:xfrm>
            <a:off x="813816" y="5522976"/>
            <a:ext cx="4818888" cy="457200"/>
          </a:xfrm>
          <a:prstGeom prst="roundRect">
            <a:avLst>
              <a:gd fmla="val 14000" name="adj"/>
            </a:avLst>
          </a:prstGeom>
          <a:solidFill>
            <a:srgbClr val="E2F5EF"/>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14"/>
          <p:cNvSpPr/>
          <p:nvPr/>
        </p:nvSpPr>
        <p:spPr>
          <a:xfrm>
            <a:off x="813816" y="5522976"/>
            <a:ext cx="481888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1250"/>
              <a:buFont typeface="Poppins"/>
              <a:buNone/>
            </a:pPr>
            <a:r>
              <a:rPr b="1" i="1" lang="en-US" sz="1250" u="none" cap="none" strike="noStrike">
                <a:solidFill>
                  <a:srgbClr val="2B2E2C"/>
                </a:solidFill>
                <a:latin typeface="Poppins"/>
                <a:ea typeface="Poppins"/>
                <a:cs typeface="Poppins"/>
                <a:sym typeface="Poppins"/>
              </a:rPr>
              <a:t>“Change, without needles.”</a:t>
            </a:r>
            <a:endParaRPr b="0" i="0" sz="1250" u="none" cap="none" strike="noStrike">
              <a:solidFill>
                <a:schemeClr val="dk1"/>
              </a:solidFill>
              <a:latin typeface="Calibri"/>
              <a:ea typeface="Calibri"/>
              <a:cs typeface="Calibri"/>
              <a:sym typeface="Calibri"/>
            </a:endParaRPr>
          </a:p>
        </p:txBody>
      </p:sp>
      <p:sp>
        <p:nvSpPr>
          <p:cNvPr id="645" name="Google Shape;645;p14"/>
          <p:cNvSpPr/>
          <p:nvPr/>
        </p:nvSpPr>
        <p:spPr>
          <a:xfrm>
            <a:off x="6245352" y="2697480"/>
            <a:ext cx="5440680" cy="3429000"/>
          </a:xfrm>
          <a:prstGeom prst="roundRect">
            <a:avLst>
              <a:gd fmla="val 2667"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14"/>
          <p:cNvSpPr/>
          <p:nvPr/>
        </p:nvSpPr>
        <p:spPr>
          <a:xfrm>
            <a:off x="6556248" y="3026664"/>
            <a:ext cx="786384" cy="786384"/>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s_white.png" id="647" name="Google Shape;647;p14"/>
          <p:cNvPicPr preferRelativeResize="0"/>
          <p:nvPr/>
        </p:nvPicPr>
        <p:blipFill rotWithShape="1">
          <a:blip r:embed="rId5">
            <a:alphaModFix/>
          </a:blip>
          <a:srcRect b="0" l="0" r="0" t="0"/>
          <a:stretch/>
        </p:blipFill>
        <p:spPr>
          <a:xfrm>
            <a:off x="6757416" y="3227832"/>
            <a:ext cx="384048" cy="384048"/>
          </a:xfrm>
          <a:prstGeom prst="rect">
            <a:avLst/>
          </a:prstGeom>
          <a:noFill/>
          <a:ln>
            <a:noFill/>
          </a:ln>
        </p:spPr>
      </p:pic>
      <p:sp>
        <p:nvSpPr>
          <p:cNvPr id="648" name="Google Shape;648;p14"/>
          <p:cNvSpPr/>
          <p:nvPr/>
        </p:nvSpPr>
        <p:spPr>
          <a:xfrm>
            <a:off x="7488936" y="3063240"/>
            <a:ext cx="397764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PERSONA 02</a:t>
            </a:r>
            <a:endParaRPr b="0" i="0" sz="1100" u="none" cap="none" strike="noStrike">
              <a:solidFill>
                <a:schemeClr val="dk1"/>
              </a:solidFill>
              <a:latin typeface="Calibri"/>
              <a:ea typeface="Calibri"/>
              <a:cs typeface="Calibri"/>
              <a:sym typeface="Calibri"/>
            </a:endParaRPr>
          </a:p>
        </p:txBody>
      </p:sp>
      <p:sp>
        <p:nvSpPr>
          <p:cNvPr id="649" name="Google Shape;649;p14"/>
          <p:cNvSpPr/>
          <p:nvPr/>
        </p:nvSpPr>
        <p:spPr>
          <a:xfrm>
            <a:off x="7488936" y="3300984"/>
            <a:ext cx="39776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2000"/>
              <a:buFont typeface="Poppins"/>
              <a:buNone/>
            </a:pPr>
            <a:r>
              <a:rPr b="1" i="0" lang="en-US" sz="2000" u="none" cap="none" strike="noStrike">
                <a:solidFill>
                  <a:srgbClr val="2B2E2C"/>
                </a:solidFill>
                <a:latin typeface="Poppins"/>
                <a:ea typeface="Poppins"/>
                <a:cs typeface="Poppins"/>
                <a:sym typeface="Poppins"/>
              </a:rPr>
              <a:t>The Early Intervener</a:t>
            </a:r>
            <a:endParaRPr b="0" i="0" sz="2000" u="none" cap="none" strike="noStrike">
              <a:solidFill>
                <a:schemeClr val="dk1"/>
              </a:solidFill>
              <a:latin typeface="Calibri"/>
              <a:ea typeface="Calibri"/>
              <a:cs typeface="Calibri"/>
              <a:sym typeface="Calibri"/>
            </a:endParaRPr>
          </a:p>
        </p:txBody>
      </p:sp>
      <p:sp>
        <p:nvSpPr>
          <p:cNvPr id="650" name="Google Shape;650;p14"/>
          <p:cNvSpPr/>
          <p:nvPr/>
        </p:nvSpPr>
        <p:spPr>
          <a:xfrm>
            <a:off x="6574536" y="4032504"/>
            <a:ext cx="4800600" cy="31089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1150"/>
              <a:buFont typeface="Calibri"/>
              <a:buNone/>
            </a:pPr>
            <a:r>
              <a:rPr b="0" i="1" lang="en-US" sz="1150" u="none" cap="none" strike="noStrike">
                <a:solidFill>
                  <a:srgbClr val="6E7873"/>
                </a:solidFill>
                <a:latin typeface="Calibri"/>
                <a:ea typeface="Calibri"/>
                <a:cs typeface="Calibri"/>
                <a:sym typeface="Calibri"/>
              </a:rPr>
              <a:t>Preventative · maintain structure · 30–45 · mostly female</a:t>
            </a:r>
            <a:endParaRPr b="0" i="0" sz="1150" u="none" cap="none" strike="noStrike">
              <a:solidFill>
                <a:schemeClr val="dk1"/>
              </a:solidFill>
              <a:latin typeface="Calibri"/>
              <a:ea typeface="Calibri"/>
              <a:cs typeface="Calibri"/>
              <a:sym typeface="Calibri"/>
            </a:endParaRPr>
          </a:p>
        </p:txBody>
      </p:sp>
      <p:sp>
        <p:nvSpPr>
          <p:cNvPr id="651" name="Google Shape;651;p14"/>
          <p:cNvSpPr/>
          <p:nvPr/>
        </p:nvSpPr>
        <p:spPr>
          <a:xfrm>
            <a:off x="6574536" y="4398264"/>
            <a:ext cx="4782312" cy="118872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0000"/>
              </a:lnSpc>
              <a:spcBef>
                <a:spcPts val="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Starting to notice early laxity</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Wants to maintain, not correct later</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Prefers a regular maintenance routine</a:t>
            </a:r>
            <a:endParaRPr b="0" i="0" sz="1200" u="none" cap="none" strike="noStrike">
              <a:solidFill>
                <a:schemeClr val="dk1"/>
              </a:solidFill>
              <a:latin typeface="Calibri"/>
              <a:ea typeface="Calibri"/>
              <a:cs typeface="Calibri"/>
              <a:sym typeface="Calibri"/>
            </a:endParaRPr>
          </a:p>
          <a:p>
            <a:pPr indent="-177800" lvl="0" marL="177800" marR="0" rtl="0" algn="l">
              <a:lnSpc>
                <a:spcPct val="100000"/>
              </a:lnSpc>
              <a:spcBef>
                <a:spcPts val="500"/>
              </a:spcBef>
              <a:spcAft>
                <a:spcPts val="0"/>
              </a:spcAft>
              <a:buClr>
                <a:srgbClr val="2B2E2C"/>
              </a:buClr>
              <a:buSzPts val="1200"/>
              <a:buFont typeface="Calibri"/>
              <a:buChar char="•"/>
            </a:pPr>
            <a:r>
              <a:rPr b="0" i="0" lang="en-US" sz="1200" u="none" cap="none" strike="noStrike">
                <a:solidFill>
                  <a:srgbClr val="2B2E2C"/>
                </a:solidFill>
                <a:latin typeface="Calibri"/>
                <a:ea typeface="Calibri"/>
                <a:cs typeface="Calibri"/>
                <a:sym typeface="Calibri"/>
              </a:rPr>
              <a:t>Thinks in years, not single appointments</a:t>
            </a:r>
            <a:endParaRPr b="0" i="0" sz="1200" u="none" cap="none" strike="noStrike">
              <a:solidFill>
                <a:schemeClr val="dk1"/>
              </a:solidFill>
              <a:latin typeface="Calibri"/>
              <a:ea typeface="Calibri"/>
              <a:cs typeface="Calibri"/>
              <a:sym typeface="Calibri"/>
            </a:endParaRPr>
          </a:p>
        </p:txBody>
      </p:sp>
      <p:sp>
        <p:nvSpPr>
          <p:cNvPr id="652" name="Google Shape;652;p14"/>
          <p:cNvSpPr/>
          <p:nvPr/>
        </p:nvSpPr>
        <p:spPr>
          <a:xfrm>
            <a:off x="6556248" y="5522976"/>
            <a:ext cx="4818888" cy="457200"/>
          </a:xfrm>
          <a:prstGeom prst="roundRect">
            <a:avLst>
              <a:gd fmla="val 14000" name="adj"/>
            </a:avLst>
          </a:prstGeom>
          <a:solidFill>
            <a:srgbClr val="E2F5EF"/>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14"/>
          <p:cNvSpPr/>
          <p:nvPr/>
        </p:nvSpPr>
        <p:spPr>
          <a:xfrm>
            <a:off x="6556248" y="5522976"/>
            <a:ext cx="4818888"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1250"/>
              <a:buFont typeface="Poppins"/>
              <a:buNone/>
            </a:pPr>
            <a:r>
              <a:rPr b="1" i="1" lang="en-US" sz="1250" u="none" cap="none" strike="noStrike">
                <a:solidFill>
                  <a:srgbClr val="2B2E2C"/>
                </a:solidFill>
                <a:latin typeface="Poppins"/>
                <a:ea typeface="Poppins"/>
                <a:cs typeface="Poppins"/>
                <a:sym typeface="Poppins"/>
              </a:rPr>
              <a:t>“Start early, maintain later.”</a:t>
            </a:r>
            <a:endParaRPr b="0" i="0" sz="1250" u="none" cap="none" strike="noStrike">
              <a:solidFill>
                <a:schemeClr val="dk1"/>
              </a:solidFill>
              <a:latin typeface="Calibri"/>
              <a:ea typeface="Calibri"/>
              <a:cs typeface="Calibri"/>
              <a:sym typeface="Calibri"/>
            </a:endParaRPr>
          </a:p>
        </p:txBody>
      </p:sp>
      <p:sp>
        <p:nvSpPr>
          <p:cNvPr id="654" name="Google Shape;654;p14"/>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655" name="Google Shape;655;p14"/>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14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0" name="Shape 660"/>
        <p:cNvGrpSpPr/>
        <p:nvPr/>
      </p:nvGrpSpPr>
      <p:grpSpPr>
        <a:xfrm>
          <a:off x="0" y="0"/>
          <a:ext cx="0" cy="0"/>
          <a:chOff x="0" y="0"/>
          <a:chExt cx="0" cy="0"/>
        </a:xfrm>
      </p:grpSpPr>
      <p:pic>
        <p:nvPicPr>
          <p:cNvPr descr="unpacked/ppt/media/image11.png" id="661" name="Google Shape;661;p15"/>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662" name="Google Shape;662;p15"/>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Persona</a:t>
            </a:r>
            <a:endParaRPr b="0" i="0" sz="1500" u="none" cap="none" strike="noStrike">
              <a:solidFill>
                <a:schemeClr val="dk1"/>
              </a:solidFill>
              <a:latin typeface="Calibri"/>
              <a:ea typeface="Calibri"/>
              <a:cs typeface="Calibri"/>
              <a:sym typeface="Calibri"/>
            </a:endParaRPr>
          </a:p>
        </p:txBody>
      </p:sp>
      <p:sp>
        <p:nvSpPr>
          <p:cNvPr id="663" name="Google Shape;663;p15"/>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PERSONA 01 · EMFACE</a:t>
            </a:r>
            <a:endParaRPr b="0" i="0" sz="1250" u="none" cap="none" strike="noStrike">
              <a:solidFill>
                <a:schemeClr val="dk1"/>
              </a:solidFill>
              <a:latin typeface="Calibri"/>
              <a:ea typeface="Calibri"/>
              <a:cs typeface="Calibri"/>
              <a:sym typeface="Calibri"/>
            </a:endParaRPr>
          </a:p>
        </p:txBody>
      </p:sp>
      <p:sp>
        <p:nvSpPr>
          <p:cNvPr id="664" name="Google Shape;664;p15"/>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The Needle-Free Refiner</a:t>
            </a:r>
            <a:endParaRPr b="0" i="0" sz="3300" u="none" cap="none" strike="noStrike">
              <a:solidFill>
                <a:schemeClr val="dk1"/>
              </a:solidFill>
              <a:latin typeface="Calibri"/>
              <a:ea typeface="Calibri"/>
              <a:cs typeface="Calibri"/>
              <a:sym typeface="Calibri"/>
            </a:endParaRPr>
          </a:p>
        </p:txBody>
      </p:sp>
      <p:sp>
        <p:nvSpPr>
          <p:cNvPr id="665" name="Google Shape;665;p15"/>
          <p:cNvSpPr/>
          <p:nvPr/>
        </p:nvSpPr>
        <p:spPr>
          <a:xfrm>
            <a:off x="502920" y="2011680"/>
            <a:ext cx="11183112" cy="658368"/>
          </a:xfrm>
          <a:prstGeom prst="roundRect">
            <a:avLst>
              <a:gd fmla="val 13889" name="adj"/>
            </a:avLst>
          </a:prstGeom>
          <a:solidFill>
            <a:srgbClr val="1A2620"/>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15"/>
          <p:cNvSpPr/>
          <p:nvPr/>
        </p:nvSpPr>
        <p:spPr>
          <a:xfrm>
            <a:off x="713232" y="2130552"/>
            <a:ext cx="420624" cy="420624"/>
          </a:xfrm>
          <a:prstGeom prst="ellipse">
            <a:avLst/>
          </a:prstGeom>
          <a:solidFill>
            <a:srgbClr val="3BE2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mile_dark.png" id="667" name="Google Shape;667;p15"/>
          <p:cNvPicPr preferRelativeResize="0"/>
          <p:nvPr/>
        </p:nvPicPr>
        <p:blipFill rotWithShape="1">
          <a:blip r:embed="rId4">
            <a:alphaModFix/>
          </a:blip>
          <a:srcRect b="0" l="0" r="0" t="0"/>
          <a:stretch/>
        </p:blipFill>
        <p:spPr>
          <a:xfrm>
            <a:off x="813816" y="2231136"/>
            <a:ext cx="219456" cy="219456"/>
          </a:xfrm>
          <a:prstGeom prst="rect">
            <a:avLst/>
          </a:prstGeom>
          <a:noFill/>
          <a:ln>
            <a:noFill/>
          </a:ln>
        </p:spPr>
      </p:pic>
      <p:sp>
        <p:nvSpPr>
          <p:cNvPr id="668" name="Google Shape;668;p15"/>
          <p:cNvSpPr/>
          <p:nvPr/>
        </p:nvSpPr>
        <p:spPr>
          <a:xfrm>
            <a:off x="1325880" y="2011680"/>
            <a:ext cx="78638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Poppins"/>
              <a:buNone/>
            </a:pPr>
            <a:r>
              <a:rPr b="1" i="1" lang="en-US" sz="1600" u="none" cap="none" strike="noStrike">
                <a:solidFill>
                  <a:srgbClr val="FFFFFF"/>
                </a:solidFill>
                <a:latin typeface="Poppins"/>
                <a:ea typeface="Poppins"/>
                <a:cs typeface="Poppins"/>
                <a:sym typeface="Poppins"/>
              </a:rPr>
              <a:t>“Change, without needles.”</a:t>
            </a:r>
            <a:endParaRPr b="0" i="0" sz="1600" u="none" cap="none" strike="noStrike">
              <a:solidFill>
                <a:schemeClr val="dk1"/>
              </a:solidFill>
              <a:latin typeface="Calibri"/>
              <a:ea typeface="Calibri"/>
              <a:cs typeface="Calibri"/>
              <a:sym typeface="Calibri"/>
            </a:endParaRPr>
          </a:p>
        </p:txBody>
      </p:sp>
      <p:sp>
        <p:nvSpPr>
          <p:cNvPr id="669" name="Google Shape;669;p15"/>
          <p:cNvSpPr/>
          <p:nvPr/>
        </p:nvSpPr>
        <p:spPr>
          <a:xfrm>
            <a:off x="9052560" y="2011680"/>
            <a:ext cx="2423160" cy="65836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Age 35–55</a:t>
            </a:r>
            <a:endParaRPr b="0" i="0" sz="1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Mostly female</a:t>
            </a:r>
            <a:endParaRPr b="0" i="0" sz="1200" u="none" cap="none" strike="noStrike">
              <a:solidFill>
                <a:schemeClr val="dk1"/>
              </a:solidFill>
              <a:latin typeface="Calibri"/>
              <a:ea typeface="Calibri"/>
              <a:cs typeface="Calibri"/>
              <a:sym typeface="Calibri"/>
            </a:endParaRPr>
          </a:p>
        </p:txBody>
      </p:sp>
      <p:sp>
        <p:nvSpPr>
          <p:cNvPr id="670" name="Google Shape;670;p15"/>
          <p:cNvSpPr/>
          <p:nvPr/>
        </p:nvSpPr>
        <p:spPr>
          <a:xfrm>
            <a:off x="502920"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15"/>
          <p:cNvSpPr/>
          <p:nvPr/>
        </p:nvSpPr>
        <p:spPr>
          <a:xfrm>
            <a:off x="777240" y="3127248"/>
            <a:ext cx="548640" cy="548640"/>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list_white.png" id="672" name="Google Shape;672;p15"/>
          <p:cNvPicPr preferRelativeResize="0"/>
          <p:nvPr/>
        </p:nvPicPr>
        <p:blipFill rotWithShape="1">
          <a:blip r:embed="rId5">
            <a:alphaModFix/>
          </a:blip>
          <a:srcRect b="0" l="0" r="0" t="0"/>
          <a:stretch/>
        </p:blipFill>
        <p:spPr>
          <a:xfrm>
            <a:off x="914400" y="3264408"/>
            <a:ext cx="274320" cy="274320"/>
          </a:xfrm>
          <a:prstGeom prst="rect">
            <a:avLst/>
          </a:prstGeom>
          <a:noFill/>
          <a:ln>
            <a:noFill/>
          </a:ln>
        </p:spPr>
      </p:pic>
      <p:sp>
        <p:nvSpPr>
          <p:cNvPr id="673" name="Google Shape;673;p15"/>
          <p:cNvSpPr/>
          <p:nvPr/>
        </p:nvSpPr>
        <p:spPr>
          <a:xfrm>
            <a:off x="1453896" y="3127248"/>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Lifestyle Traits</a:t>
            </a:r>
            <a:endParaRPr b="0" i="0" sz="1500" u="none" cap="none" strike="noStrike">
              <a:solidFill>
                <a:schemeClr val="dk1"/>
              </a:solidFill>
              <a:latin typeface="Calibri"/>
              <a:ea typeface="Calibri"/>
              <a:cs typeface="Calibri"/>
              <a:sym typeface="Calibri"/>
            </a:endParaRPr>
          </a:p>
        </p:txBody>
      </p:sp>
      <p:sp>
        <p:nvSpPr>
          <p:cNvPr id="674" name="Google Shape;674;p15"/>
          <p:cNvSpPr/>
          <p:nvPr/>
        </p:nvSpPr>
        <p:spPr>
          <a:xfrm>
            <a:off x="813816" y="3730752"/>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Image-aware; on camera for work</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Has researched filler and dismissed it</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Spends steadily on skincare</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Asks what the evidence actually shows</a:t>
            </a:r>
            <a:endParaRPr b="0" i="0" sz="1100" u="none" cap="none" strike="noStrike">
              <a:solidFill>
                <a:schemeClr val="dk1"/>
              </a:solidFill>
              <a:latin typeface="Calibri"/>
              <a:ea typeface="Calibri"/>
              <a:cs typeface="Calibri"/>
              <a:sym typeface="Calibri"/>
            </a:endParaRPr>
          </a:p>
        </p:txBody>
      </p:sp>
      <p:sp>
        <p:nvSpPr>
          <p:cNvPr id="675" name="Google Shape;675;p15"/>
          <p:cNvSpPr/>
          <p:nvPr/>
        </p:nvSpPr>
        <p:spPr>
          <a:xfrm>
            <a:off x="6245352"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15"/>
          <p:cNvSpPr/>
          <p:nvPr/>
        </p:nvSpPr>
        <p:spPr>
          <a:xfrm>
            <a:off x="6519672" y="3127248"/>
            <a:ext cx="548640" cy="54864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target_white.png" id="677" name="Google Shape;677;p15"/>
          <p:cNvPicPr preferRelativeResize="0"/>
          <p:nvPr/>
        </p:nvPicPr>
        <p:blipFill rotWithShape="1">
          <a:blip r:embed="rId6">
            <a:alphaModFix/>
          </a:blip>
          <a:srcRect b="0" l="0" r="0" t="0"/>
          <a:stretch/>
        </p:blipFill>
        <p:spPr>
          <a:xfrm>
            <a:off x="6656832" y="3264408"/>
            <a:ext cx="274320" cy="274320"/>
          </a:xfrm>
          <a:prstGeom prst="rect">
            <a:avLst/>
          </a:prstGeom>
          <a:noFill/>
          <a:ln>
            <a:noFill/>
          </a:ln>
        </p:spPr>
      </p:pic>
      <p:sp>
        <p:nvSpPr>
          <p:cNvPr id="678" name="Google Shape;678;p15"/>
          <p:cNvSpPr/>
          <p:nvPr/>
        </p:nvSpPr>
        <p:spPr>
          <a:xfrm>
            <a:off x="7196328" y="3127248"/>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Goals</a:t>
            </a:r>
            <a:endParaRPr b="0" i="0" sz="1500" u="none" cap="none" strike="noStrike">
              <a:solidFill>
                <a:schemeClr val="dk1"/>
              </a:solidFill>
              <a:latin typeface="Calibri"/>
              <a:ea typeface="Calibri"/>
              <a:cs typeface="Calibri"/>
              <a:sym typeface="Calibri"/>
            </a:endParaRPr>
          </a:p>
        </p:txBody>
      </p:sp>
      <p:sp>
        <p:nvSpPr>
          <p:cNvPr id="679" name="Google Shape;679;p15"/>
          <p:cNvSpPr/>
          <p:nvPr/>
        </p:nvSpPr>
        <p:spPr>
          <a:xfrm>
            <a:off x="6556248" y="3730752"/>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lifted, rested look that is still hers</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Firmer jawline and cheek definition</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No needles, no surgery, no downtime</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result that builds over a course</a:t>
            </a:r>
            <a:endParaRPr b="0" i="0" sz="1100" u="none" cap="none" strike="noStrike">
              <a:solidFill>
                <a:schemeClr val="dk1"/>
              </a:solidFill>
              <a:latin typeface="Calibri"/>
              <a:ea typeface="Calibri"/>
              <a:cs typeface="Calibri"/>
              <a:sym typeface="Calibri"/>
            </a:endParaRPr>
          </a:p>
        </p:txBody>
      </p:sp>
      <p:sp>
        <p:nvSpPr>
          <p:cNvPr id="680" name="Google Shape;680;p15"/>
          <p:cNvSpPr/>
          <p:nvPr/>
        </p:nvSpPr>
        <p:spPr>
          <a:xfrm>
            <a:off x="502920"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15"/>
          <p:cNvSpPr/>
          <p:nvPr/>
        </p:nvSpPr>
        <p:spPr>
          <a:xfrm>
            <a:off x="777240" y="4974336"/>
            <a:ext cx="548640" cy="548640"/>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warning_white.png" id="682" name="Google Shape;682;p15"/>
          <p:cNvPicPr preferRelativeResize="0"/>
          <p:nvPr/>
        </p:nvPicPr>
        <p:blipFill rotWithShape="1">
          <a:blip r:embed="rId7">
            <a:alphaModFix/>
          </a:blip>
          <a:srcRect b="0" l="0" r="0" t="0"/>
          <a:stretch/>
        </p:blipFill>
        <p:spPr>
          <a:xfrm>
            <a:off x="914400" y="5111496"/>
            <a:ext cx="274320" cy="274320"/>
          </a:xfrm>
          <a:prstGeom prst="rect">
            <a:avLst/>
          </a:prstGeom>
          <a:noFill/>
          <a:ln>
            <a:noFill/>
          </a:ln>
        </p:spPr>
      </p:pic>
      <p:sp>
        <p:nvSpPr>
          <p:cNvPr id="683" name="Google Shape;683;p15"/>
          <p:cNvSpPr/>
          <p:nvPr/>
        </p:nvSpPr>
        <p:spPr>
          <a:xfrm>
            <a:off x="1453896" y="4974336"/>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Pain Points</a:t>
            </a:r>
            <a:endParaRPr b="0" i="0" sz="1500" u="none" cap="none" strike="noStrike">
              <a:solidFill>
                <a:schemeClr val="dk1"/>
              </a:solidFill>
              <a:latin typeface="Calibri"/>
              <a:ea typeface="Calibri"/>
              <a:cs typeface="Calibri"/>
              <a:sym typeface="Calibri"/>
            </a:endParaRPr>
          </a:p>
        </p:txBody>
      </p:sp>
      <p:sp>
        <p:nvSpPr>
          <p:cNvPr id="684" name="Google Shape;684;p15"/>
          <p:cNvSpPr/>
          <p:nvPr/>
        </p:nvSpPr>
        <p:spPr>
          <a:xfrm>
            <a:off x="813816" y="5577840"/>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Fear of an overdone, filled appearance</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Facials that fade within days</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Confused by competing device names</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Unsure what is safe long term</a:t>
            </a:r>
            <a:endParaRPr b="0" i="0" sz="1100" u="none" cap="none" strike="noStrike">
              <a:solidFill>
                <a:schemeClr val="dk1"/>
              </a:solidFill>
              <a:latin typeface="Calibri"/>
              <a:ea typeface="Calibri"/>
              <a:cs typeface="Calibri"/>
              <a:sym typeface="Calibri"/>
            </a:endParaRPr>
          </a:p>
        </p:txBody>
      </p:sp>
      <p:sp>
        <p:nvSpPr>
          <p:cNvPr id="685" name="Google Shape;685;p15"/>
          <p:cNvSpPr/>
          <p:nvPr/>
        </p:nvSpPr>
        <p:spPr>
          <a:xfrm>
            <a:off x="6245352"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15"/>
          <p:cNvSpPr/>
          <p:nvPr/>
        </p:nvSpPr>
        <p:spPr>
          <a:xfrm>
            <a:off x="6519672" y="4974336"/>
            <a:ext cx="548640" cy="54864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olt_white.png" id="687" name="Google Shape;687;p15"/>
          <p:cNvPicPr preferRelativeResize="0"/>
          <p:nvPr/>
        </p:nvPicPr>
        <p:blipFill rotWithShape="1">
          <a:blip r:embed="rId8">
            <a:alphaModFix/>
          </a:blip>
          <a:srcRect b="0" l="0" r="0" t="0"/>
          <a:stretch/>
        </p:blipFill>
        <p:spPr>
          <a:xfrm>
            <a:off x="6656832" y="5111496"/>
            <a:ext cx="274320" cy="274320"/>
          </a:xfrm>
          <a:prstGeom prst="rect">
            <a:avLst/>
          </a:prstGeom>
          <a:noFill/>
          <a:ln>
            <a:noFill/>
          </a:ln>
        </p:spPr>
      </p:pic>
      <p:sp>
        <p:nvSpPr>
          <p:cNvPr id="688" name="Google Shape;688;p15"/>
          <p:cNvSpPr/>
          <p:nvPr/>
        </p:nvSpPr>
        <p:spPr>
          <a:xfrm>
            <a:off x="7196328" y="4974336"/>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Motivators</a:t>
            </a:r>
            <a:endParaRPr b="0" i="0" sz="1500" u="none" cap="none" strike="noStrike">
              <a:solidFill>
                <a:schemeClr val="dk1"/>
              </a:solidFill>
              <a:latin typeface="Calibri"/>
              <a:ea typeface="Calibri"/>
              <a:cs typeface="Calibri"/>
              <a:sym typeface="Calibri"/>
            </a:endParaRPr>
          </a:p>
        </p:txBody>
      </p:sp>
      <p:sp>
        <p:nvSpPr>
          <p:cNvPr id="689" name="Google Shape;689;p15"/>
          <p:cNvSpPr/>
          <p:nvPr/>
        </p:nvSpPr>
        <p:spPr>
          <a:xfrm>
            <a:off x="6556248" y="5577840"/>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Tones facial muscle, not just skin</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No needles and no downtime</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Dermatology-led, CQC-regulated clinic</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Consultant-planned course of sessions</a:t>
            </a:r>
            <a:endParaRPr b="0" i="0" sz="1100" u="none" cap="none" strike="noStrike">
              <a:solidFill>
                <a:schemeClr val="dk1"/>
              </a:solidFill>
              <a:latin typeface="Calibri"/>
              <a:ea typeface="Calibri"/>
              <a:cs typeface="Calibri"/>
              <a:sym typeface="Calibri"/>
            </a:endParaRPr>
          </a:p>
        </p:txBody>
      </p:sp>
      <p:sp>
        <p:nvSpPr>
          <p:cNvPr id="690" name="Google Shape;690;p15"/>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691" name="Google Shape;691;p15"/>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15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6" name="Shape 696"/>
        <p:cNvGrpSpPr/>
        <p:nvPr/>
      </p:nvGrpSpPr>
      <p:grpSpPr>
        <a:xfrm>
          <a:off x="0" y="0"/>
          <a:ext cx="0" cy="0"/>
          <a:chOff x="0" y="0"/>
          <a:chExt cx="0" cy="0"/>
        </a:xfrm>
      </p:grpSpPr>
      <p:pic>
        <p:nvPicPr>
          <p:cNvPr descr="unpacked/ppt/media/image11.png" id="697" name="Google Shape;697;p16"/>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698" name="Google Shape;698;p16"/>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Persona</a:t>
            </a:r>
            <a:endParaRPr b="0" i="0" sz="1500" u="none" cap="none" strike="noStrike">
              <a:solidFill>
                <a:schemeClr val="dk1"/>
              </a:solidFill>
              <a:latin typeface="Calibri"/>
              <a:ea typeface="Calibri"/>
              <a:cs typeface="Calibri"/>
              <a:sym typeface="Calibri"/>
            </a:endParaRPr>
          </a:p>
        </p:txBody>
      </p:sp>
      <p:sp>
        <p:nvSpPr>
          <p:cNvPr id="699" name="Google Shape;699;p16"/>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PERSONA 02 · EMFACE</a:t>
            </a:r>
            <a:endParaRPr b="0" i="0" sz="1250" u="none" cap="none" strike="noStrike">
              <a:solidFill>
                <a:schemeClr val="dk1"/>
              </a:solidFill>
              <a:latin typeface="Calibri"/>
              <a:ea typeface="Calibri"/>
              <a:cs typeface="Calibri"/>
              <a:sym typeface="Calibri"/>
            </a:endParaRPr>
          </a:p>
        </p:txBody>
      </p:sp>
      <p:sp>
        <p:nvSpPr>
          <p:cNvPr id="700" name="Google Shape;700;p16"/>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The Early Intervener</a:t>
            </a:r>
            <a:endParaRPr b="0" i="0" sz="3300" u="none" cap="none" strike="noStrike">
              <a:solidFill>
                <a:schemeClr val="dk1"/>
              </a:solidFill>
              <a:latin typeface="Calibri"/>
              <a:ea typeface="Calibri"/>
              <a:cs typeface="Calibri"/>
              <a:sym typeface="Calibri"/>
            </a:endParaRPr>
          </a:p>
        </p:txBody>
      </p:sp>
      <p:sp>
        <p:nvSpPr>
          <p:cNvPr id="701" name="Google Shape;701;p16"/>
          <p:cNvSpPr/>
          <p:nvPr/>
        </p:nvSpPr>
        <p:spPr>
          <a:xfrm>
            <a:off x="502920" y="2011680"/>
            <a:ext cx="11183112" cy="658368"/>
          </a:xfrm>
          <a:prstGeom prst="roundRect">
            <a:avLst>
              <a:gd fmla="val 13889" name="adj"/>
            </a:avLst>
          </a:prstGeom>
          <a:solidFill>
            <a:srgbClr val="16A879"/>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16"/>
          <p:cNvSpPr/>
          <p:nvPr/>
        </p:nvSpPr>
        <p:spPr>
          <a:xfrm>
            <a:off x="713232" y="2130552"/>
            <a:ext cx="420624" cy="420624"/>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s_green.png" id="703" name="Google Shape;703;p16"/>
          <p:cNvPicPr preferRelativeResize="0"/>
          <p:nvPr/>
        </p:nvPicPr>
        <p:blipFill rotWithShape="1">
          <a:blip r:embed="rId4">
            <a:alphaModFix/>
          </a:blip>
          <a:srcRect b="0" l="0" r="0" t="0"/>
          <a:stretch/>
        </p:blipFill>
        <p:spPr>
          <a:xfrm>
            <a:off x="813816" y="2231136"/>
            <a:ext cx="219456" cy="219456"/>
          </a:xfrm>
          <a:prstGeom prst="rect">
            <a:avLst/>
          </a:prstGeom>
          <a:noFill/>
          <a:ln>
            <a:noFill/>
          </a:ln>
        </p:spPr>
      </p:pic>
      <p:sp>
        <p:nvSpPr>
          <p:cNvPr id="704" name="Google Shape;704;p16"/>
          <p:cNvSpPr/>
          <p:nvPr/>
        </p:nvSpPr>
        <p:spPr>
          <a:xfrm>
            <a:off x="1325880" y="2011680"/>
            <a:ext cx="786384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620"/>
              </a:buClr>
              <a:buSzPts val="1600"/>
              <a:buFont typeface="Poppins"/>
              <a:buNone/>
            </a:pPr>
            <a:r>
              <a:rPr b="1" i="1" lang="en-US" sz="1600" u="none" cap="none" strike="noStrike">
                <a:solidFill>
                  <a:srgbClr val="1A2620"/>
                </a:solidFill>
                <a:latin typeface="Poppins"/>
                <a:ea typeface="Poppins"/>
                <a:cs typeface="Poppins"/>
                <a:sym typeface="Poppins"/>
              </a:rPr>
              <a:t>“Start early, maintain later.”</a:t>
            </a:r>
            <a:endParaRPr b="0" i="0" sz="1600" u="none" cap="none" strike="noStrike">
              <a:solidFill>
                <a:schemeClr val="dk1"/>
              </a:solidFill>
              <a:latin typeface="Calibri"/>
              <a:ea typeface="Calibri"/>
              <a:cs typeface="Calibri"/>
              <a:sym typeface="Calibri"/>
            </a:endParaRPr>
          </a:p>
        </p:txBody>
      </p:sp>
      <p:sp>
        <p:nvSpPr>
          <p:cNvPr id="705" name="Google Shape;705;p16"/>
          <p:cNvSpPr/>
          <p:nvPr/>
        </p:nvSpPr>
        <p:spPr>
          <a:xfrm>
            <a:off x="9052560" y="2011680"/>
            <a:ext cx="2423160" cy="65836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A2620"/>
              </a:buClr>
              <a:buSzPts val="1200"/>
              <a:buFont typeface="Poppins"/>
              <a:buNone/>
            </a:pPr>
            <a:r>
              <a:rPr b="1" i="0" lang="en-US" sz="1200" u="none" cap="none" strike="noStrike">
                <a:solidFill>
                  <a:srgbClr val="1A2620"/>
                </a:solidFill>
                <a:latin typeface="Poppins"/>
                <a:ea typeface="Poppins"/>
                <a:cs typeface="Poppins"/>
                <a:sym typeface="Poppins"/>
              </a:rPr>
              <a:t>Age 30–45</a:t>
            </a:r>
            <a:endParaRPr b="0" i="0" sz="1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1A2620"/>
              </a:buClr>
              <a:buSzPts val="1200"/>
              <a:buFont typeface="Poppins"/>
              <a:buNone/>
            </a:pPr>
            <a:r>
              <a:rPr b="1" i="0" lang="en-US" sz="1200" u="none" cap="none" strike="noStrike">
                <a:solidFill>
                  <a:srgbClr val="1A2620"/>
                </a:solidFill>
                <a:latin typeface="Poppins"/>
                <a:ea typeface="Poppins"/>
                <a:cs typeface="Poppins"/>
                <a:sym typeface="Poppins"/>
              </a:rPr>
              <a:t>Preventative</a:t>
            </a:r>
            <a:endParaRPr b="0" i="0" sz="1200" u="none" cap="none" strike="noStrike">
              <a:solidFill>
                <a:schemeClr val="dk1"/>
              </a:solidFill>
              <a:latin typeface="Calibri"/>
              <a:ea typeface="Calibri"/>
              <a:cs typeface="Calibri"/>
              <a:sym typeface="Calibri"/>
            </a:endParaRPr>
          </a:p>
        </p:txBody>
      </p:sp>
      <p:sp>
        <p:nvSpPr>
          <p:cNvPr id="706" name="Google Shape;706;p16"/>
          <p:cNvSpPr/>
          <p:nvPr/>
        </p:nvSpPr>
        <p:spPr>
          <a:xfrm>
            <a:off x="502920"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16"/>
          <p:cNvSpPr/>
          <p:nvPr/>
        </p:nvSpPr>
        <p:spPr>
          <a:xfrm>
            <a:off x="777240" y="3127248"/>
            <a:ext cx="548640" cy="548640"/>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list_white.png" id="708" name="Google Shape;708;p16"/>
          <p:cNvPicPr preferRelativeResize="0"/>
          <p:nvPr/>
        </p:nvPicPr>
        <p:blipFill rotWithShape="1">
          <a:blip r:embed="rId5">
            <a:alphaModFix/>
          </a:blip>
          <a:srcRect b="0" l="0" r="0" t="0"/>
          <a:stretch/>
        </p:blipFill>
        <p:spPr>
          <a:xfrm>
            <a:off x="914400" y="3264408"/>
            <a:ext cx="274320" cy="274320"/>
          </a:xfrm>
          <a:prstGeom prst="rect">
            <a:avLst/>
          </a:prstGeom>
          <a:noFill/>
          <a:ln>
            <a:noFill/>
          </a:ln>
        </p:spPr>
      </p:pic>
      <p:sp>
        <p:nvSpPr>
          <p:cNvPr id="709" name="Google Shape;709;p16"/>
          <p:cNvSpPr/>
          <p:nvPr/>
        </p:nvSpPr>
        <p:spPr>
          <a:xfrm>
            <a:off x="1453896" y="3127248"/>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Lifestyle Traits</a:t>
            </a:r>
            <a:endParaRPr b="0" i="0" sz="1500" u="none" cap="none" strike="noStrike">
              <a:solidFill>
                <a:schemeClr val="dk1"/>
              </a:solidFill>
              <a:latin typeface="Calibri"/>
              <a:ea typeface="Calibri"/>
              <a:cs typeface="Calibri"/>
              <a:sym typeface="Calibri"/>
            </a:endParaRPr>
          </a:p>
        </p:txBody>
      </p:sp>
      <p:sp>
        <p:nvSpPr>
          <p:cNvPr id="710" name="Google Shape;710;p16"/>
          <p:cNvSpPr/>
          <p:nvPr/>
        </p:nvSpPr>
        <p:spPr>
          <a:xfrm>
            <a:off x="813816" y="3730752"/>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Consistent skincare and SPF routine</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Follows aesthetic medicine closely</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Prefers gradual, unnoticeable change</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Budgets for ongoing treatment</a:t>
            </a:r>
            <a:endParaRPr b="0" i="0" sz="1100" u="none" cap="none" strike="noStrike">
              <a:solidFill>
                <a:schemeClr val="dk1"/>
              </a:solidFill>
              <a:latin typeface="Calibri"/>
              <a:ea typeface="Calibri"/>
              <a:cs typeface="Calibri"/>
              <a:sym typeface="Calibri"/>
            </a:endParaRPr>
          </a:p>
        </p:txBody>
      </p:sp>
      <p:sp>
        <p:nvSpPr>
          <p:cNvPr id="711" name="Google Shape;711;p16"/>
          <p:cNvSpPr/>
          <p:nvPr/>
        </p:nvSpPr>
        <p:spPr>
          <a:xfrm>
            <a:off x="6245352" y="2889504"/>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16"/>
          <p:cNvSpPr/>
          <p:nvPr/>
        </p:nvSpPr>
        <p:spPr>
          <a:xfrm>
            <a:off x="6519672" y="3127248"/>
            <a:ext cx="548640" cy="54864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target_white.png" id="713" name="Google Shape;713;p16"/>
          <p:cNvPicPr preferRelativeResize="0"/>
          <p:nvPr/>
        </p:nvPicPr>
        <p:blipFill rotWithShape="1">
          <a:blip r:embed="rId6">
            <a:alphaModFix/>
          </a:blip>
          <a:srcRect b="0" l="0" r="0" t="0"/>
          <a:stretch/>
        </p:blipFill>
        <p:spPr>
          <a:xfrm>
            <a:off x="6656832" y="3264408"/>
            <a:ext cx="274320" cy="274320"/>
          </a:xfrm>
          <a:prstGeom prst="rect">
            <a:avLst/>
          </a:prstGeom>
          <a:noFill/>
          <a:ln>
            <a:noFill/>
          </a:ln>
        </p:spPr>
      </p:pic>
      <p:sp>
        <p:nvSpPr>
          <p:cNvPr id="714" name="Google Shape;714;p16"/>
          <p:cNvSpPr/>
          <p:nvPr/>
        </p:nvSpPr>
        <p:spPr>
          <a:xfrm>
            <a:off x="7196328" y="3127248"/>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Goals</a:t>
            </a:r>
            <a:endParaRPr b="0" i="0" sz="1500" u="none" cap="none" strike="noStrike">
              <a:solidFill>
                <a:schemeClr val="dk1"/>
              </a:solidFill>
              <a:latin typeface="Calibri"/>
              <a:ea typeface="Calibri"/>
              <a:cs typeface="Calibri"/>
              <a:sym typeface="Calibri"/>
            </a:endParaRPr>
          </a:p>
        </p:txBody>
      </p:sp>
      <p:sp>
        <p:nvSpPr>
          <p:cNvPr id="715" name="Google Shape;715;p16"/>
          <p:cNvSpPr/>
          <p:nvPr/>
        </p:nvSpPr>
        <p:spPr>
          <a:xfrm>
            <a:off x="6556248" y="3730752"/>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Hold facial structure for longer</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Avoid needing surgery later</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A sustainable maintenance schedule</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Subtle change nobody can name</a:t>
            </a:r>
            <a:endParaRPr b="0" i="0" sz="1100" u="none" cap="none" strike="noStrike">
              <a:solidFill>
                <a:schemeClr val="dk1"/>
              </a:solidFill>
              <a:latin typeface="Calibri"/>
              <a:ea typeface="Calibri"/>
              <a:cs typeface="Calibri"/>
              <a:sym typeface="Calibri"/>
            </a:endParaRPr>
          </a:p>
        </p:txBody>
      </p:sp>
      <p:sp>
        <p:nvSpPr>
          <p:cNvPr id="716" name="Google Shape;716;p16"/>
          <p:cNvSpPr/>
          <p:nvPr/>
        </p:nvSpPr>
        <p:spPr>
          <a:xfrm>
            <a:off x="502920"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16"/>
          <p:cNvSpPr/>
          <p:nvPr/>
        </p:nvSpPr>
        <p:spPr>
          <a:xfrm>
            <a:off x="777240" y="4974336"/>
            <a:ext cx="548640" cy="548640"/>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warning_white.png" id="718" name="Google Shape;718;p16"/>
          <p:cNvPicPr preferRelativeResize="0"/>
          <p:nvPr/>
        </p:nvPicPr>
        <p:blipFill rotWithShape="1">
          <a:blip r:embed="rId7">
            <a:alphaModFix/>
          </a:blip>
          <a:srcRect b="0" l="0" r="0" t="0"/>
          <a:stretch/>
        </p:blipFill>
        <p:spPr>
          <a:xfrm>
            <a:off x="914400" y="5111496"/>
            <a:ext cx="274320" cy="274320"/>
          </a:xfrm>
          <a:prstGeom prst="rect">
            <a:avLst/>
          </a:prstGeom>
          <a:noFill/>
          <a:ln>
            <a:noFill/>
          </a:ln>
        </p:spPr>
      </p:pic>
      <p:sp>
        <p:nvSpPr>
          <p:cNvPr id="719" name="Google Shape;719;p16"/>
          <p:cNvSpPr/>
          <p:nvPr/>
        </p:nvSpPr>
        <p:spPr>
          <a:xfrm>
            <a:off x="1453896" y="4974336"/>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Pain Points</a:t>
            </a:r>
            <a:endParaRPr b="0" i="0" sz="1500" u="none" cap="none" strike="noStrike">
              <a:solidFill>
                <a:schemeClr val="dk1"/>
              </a:solidFill>
              <a:latin typeface="Calibri"/>
              <a:ea typeface="Calibri"/>
              <a:cs typeface="Calibri"/>
              <a:sym typeface="Calibri"/>
            </a:endParaRPr>
          </a:p>
        </p:txBody>
      </p:sp>
      <p:sp>
        <p:nvSpPr>
          <p:cNvPr id="720" name="Google Shape;720;p16"/>
          <p:cNvSpPr/>
          <p:nvPr/>
        </p:nvSpPr>
        <p:spPr>
          <a:xfrm>
            <a:off x="813816" y="5577840"/>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Unsure when to start treatment</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Does not want to look 'done' at 35</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Worried about wasting money too early</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Too many conflicting recommendations</a:t>
            </a:r>
            <a:endParaRPr b="0" i="0" sz="1100" u="none" cap="none" strike="noStrike">
              <a:solidFill>
                <a:schemeClr val="dk1"/>
              </a:solidFill>
              <a:latin typeface="Calibri"/>
              <a:ea typeface="Calibri"/>
              <a:cs typeface="Calibri"/>
              <a:sym typeface="Calibri"/>
            </a:endParaRPr>
          </a:p>
        </p:txBody>
      </p:sp>
      <p:sp>
        <p:nvSpPr>
          <p:cNvPr id="721" name="Google Shape;721;p16"/>
          <p:cNvSpPr/>
          <p:nvPr/>
        </p:nvSpPr>
        <p:spPr>
          <a:xfrm>
            <a:off x="6245352" y="4736592"/>
            <a:ext cx="5440680" cy="1737360"/>
          </a:xfrm>
          <a:prstGeom prst="roundRect">
            <a:avLst>
              <a:gd fmla="val 5263"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16"/>
          <p:cNvSpPr/>
          <p:nvPr/>
        </p:nvSpPr>
        <p:spPr>
          <a:xfrm>
            <a:off x="6519672" y="4974336"/>
            <a:ext cx="548640" cy="54864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olt_white.png" id="723" name="Google Shape;723;p16"/>
          <p:cNvPicPr preferRelativeResize="0"/>
          <p:nvPr/>
        </p:nvPicPr>
        <p:blipFill rotWithShape="1">
          <a:blip r:embed="rId8">
            <a:alphaModFix/>
          </a:blip>
          <a:srcRect b="0" l="0" r="0" t="0"/>
          <a:stretch/>
        </p:blipFill>
        <p:spPr>
          <a:xfrm>
            <a:off x="6656832" y="5111496"/>
            <a:ext cx="274320" cy="274320"/>
          </a:xfrm>
          <a:prstGeom prst="rect">
            <a:avLst/>
          </a:prstGeom>
          <a:noFill/>
          <a:ln>
            <a:noFill/>
          </a:ln>
        </p:spPr>
      </p:pic>
      <p:sp>
        <p:nvSpPr>
          <p:cNvPr id="724" name="Google Shape;724;p16"/>
          <p:cNvSpPr/>
          <p:nvPr/>
        </p:nvSpPr>
        <p:spPr>
          <a:xfrm>
            <a:off x="7196328" y="4974336"/>
            <a:ext cx="434340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Motivators</a:t>
            </a:r>
            <a:endParaRPr b="0" i="0" sz="1500" u="none" cap="none" strike="noStrike">
              <a:solidFill>
                <a:schemeClr val="dk1"/>
              </a:solidFill>
              <a:latin typeface="Calibri"/>
              <a:ea typeface="Calibri"/>
              <a:cs typeface="Calibri"/>
              <a:sym typeface="Calibri"/>
            </a:endParaRPr>
          </a:p>
        </p:txBody>
      </p:sp>
      <p:sp>
        <p:nvSpPr>
          <p:cNvPr id="725" name="Google Shape;725;p16"/>
          <p:cNvSpPr/>
          <p:nvPr/>
        </p:nvSpPr>
        <p:spPr>
          <a:xfrm>
            <a:off x="6556248" y="5577840"/>
            <a:ext cx="4837176" cy="82296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Preventative, non-invasive approach</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Maintenance sessions after the course</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Dermatology-led medical assessment</a:t>
            </a:r>
            <a:endParaRPr b="0" i="0" sz="1100" u="none" cap="none" strike="noStrike">
              <a:solidFill>
                <a:schemeClr val="dk1"/>
              </a:solidFill>
              <a:latin typeface="Calibri"/>
              <a:ea typeface="Calibri"/>
              <a:cs typeface="Calibri"/>
              <a:sym typeface="Calibri"/>
            </a:endParaRPr>
          </a:p>
          <a:p>
            <a:pPr indent="-152400" lvl="0" marL="152400" marR="0" rtl="0" algn="l">
              <a:lnSpc>
                <a:spcPct val="100000"/>
              </a:lnSpc>
              <a:spcBef>
                <a:spcPts val="300"/>
              </a:spcBef>
              <a:spcAft>
                <a:spcPts val="0"/>
              </a:spcAft>
              <a:buClr>
                <a:srgbClr val="2B2E2C"/>
              </a:buClr>
              <a:buSzPts val="1100"/>
              <a:buFont typeface="Calibri"/>
              <a:buChar char="•"/>
            </a:pPr>
            <a:r>
              <a:rPr b="0" i="0" lang="en-US" sz="1100" u="none" cap="none" strike="noStrike">
                <a:solidFill>
                  <a:srgbClr val="2B2E2C"/>
                </a:solidFill>
                <a:latin typeface="Calibri"/>
                <a:ea typeface="Calibri"/>
                <a:cs typeface="Calibri"/>
                <a:sym typeface="Calibri"/>
              </a:rPr>
              <a:t>Combines with Exion and skin protocols</a:t>
            </a:r>
            <a:endParaRPr b="0" i="0" sz="1100" u="none" cap="none" strike="noStrike">
              <a:solidFill>
                <a:schemeClr val="dk1"/>
              </a:solidFill>
              <a:latin typeface="Calibri"/>
              <a:ea typeface="Calibri"/>
              <a:cs typeface="Calibri"/>
              <a:sym typeface="Calibri"/>
            </a:endParaRPr>
          </a:p>
        </p:txBody>
      </p:sp>
      <p:sp>
        <p:nvSpPr>
          <p:cNvPr id="726" name="Google Shape;726;p16"/>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727" name="Google Shape;727;p16"/>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16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2" name="Shape 732"/>
        <p:cNvGrpSpPr/>
        <p:nvPr/>
      </p:nvGrpSpPr>
      <p:grpSpPr>
        <a:xfrm>
          <a:off x="0" y="0"/>
          <a:ext cx="0" cy="0"/>
          <a:chOff x="0" y="0"/>
          <a:chExt cx="0" cy="0"/>
        </a:xfrm>
      </p:grpSpPr>
      <p:pic>
        <p:nvPicPr>
          <p:cNvPr descr="unpacked/ppt/media/image11.png" id="733" name="Google Shape;733;p17"/>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734" name="Google Shape;734;p17"/>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Keywords</a:t>
            </a:r>
            <a:endParaRPr b="0" i="0" sz="1500" u="none" cap="none" strike="noStrike">
              <a:solidFill>
                <a:schemeClr val="dk1"/>
              </a:solidFill>
              <a:latin typeface="Calibri"/>
              <a:ea typeface="Calibri"/>
              <a:cs typeface="Calibri"/>
              <a:sym typeface="Calibri"/>
            </a:endParaRPr>
          </a:p>
        </p:txBody>
      </p:sp>
      <p:sp>
        <p:nvSpPr>
          <p:cNvPr id="735" name="Google Shape;735;p17"/>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EMFACE · KEYWORDS &amp; AD GROUPS</a:t>
            </a:r>
            <a:endParaRPr b="0" i="0" sz="1250" u="none" cap="none" strike="noStrike">
              <a:solidFill>
                <a:schemeClr val="dk1"/>
              </a:solidFill>
              <a:latin typeface="Calibri"/>
              <a:ea typeface="Calibri"/>
              <a:cs typeface="Calibri"/>
              <a:sym typeface="Calibri"/>
            </a:endParaRPr>
          </a:p>
        </p:txBody>
      </p:sp>
      <p:sp>
        <p:nvSpPr>
          <p:cNvPr id="736" name="Google Shape;736;p17"/>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Six Intent-Based Ad Groups</a:t>
            </a:r>
            <a:endParaRPr b="0" i="0" sz="3300" u="none" cap="none" strike="noStrike">
              <a:solidFill>
                <a:schemeClr val="dk1"/>
              </a:solidFill>
              <a:latin typeface="Calibri"/>
              <a:ea typeface="Calibri"/>
              <a:cs typeface="Calibri"/>
              <a:sym typeface="Calibri"/>
            </a:endParaRPr>
          </a:p>
        </p:txBody>
      </p:sp>
      <p:sp>
        <p:nvSpPr>
          <p:cNvPr id="737" name="Google Shape;737;p17"/>
          <p:cNvSpPr/>
          <p:nvPr/>
        </p:nvSpPr>
        <p:spPr>
          <a:xfrm>
            <a:off x="502920" y="1993392"/>
            <a:ext cx="1115568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EmFace is a newer term with less established volume, so the campaign is built around non-surgical lifting, skin tightening and jawline intent alongside the branded terms. Phrase and Exact match only.</a:t>
            </a:r>
            <a:endParaRPr b="0" i="0" sz="1350" u="none" cap="none" strike="noStrike">
              <a:solidFill>
                <a:schemeClr val="dk1"/>
              </a:solidFill>
              <a:latin typeface="Calibri"/>
              <a:ea typeface="Calibri"/>
              <a:cs typeface="Calibri"/>
              <a:sym typeface="Calibri"/>
            </a:endParaRPr>
          </a:p>
        </p:txBody>
      </p:sp>
      <p:graphicFrame>
        <p:nvGraphicFramePr>
          <p:cNvPr id="738" name="Google Shape;738;p17"/>
          <p:cNvGraphicFramePr/>
          <p:nvPr/>
        </p:nvGraphicFramePr>
        <p:xfrm>
          <a:off x="502920" y="2542032"/>
          <a:ext cx="3000000" cy="3000000"/>
        </p:xfrm>
        <a:graphic>
          <a:graphicData uri="http://schemas.openxmlformats.org/drawingml/2006/table">
            <a:tbl>
              <a:tblPr>
                <a:noFill/>
                <a:tableStyleId>{410B05DD-16F8-4F00-A4F7-33E39A4E558B}</a:tableStyleId>
              </a:tblPr>
              <a:tblGrid>
                <a:gridCol w="640075"/>
                <a:gridCol w="3200400"/>
                <a:gridCol w="3200400"/>
                <a:gridCol w="914400"/>
                <a:gridCol w="1581900"/>
                <a:gridCol w="1645925"/>
              </a:tblGrid>
              <a:tr h="420625">
                <a:tc>
                  <a:txBody>
                    <a:bodyPr/>
                    <a:lstStyle/>
                    <a:p>
                      <a:pPr indent="0" lvl="0" marL="0" marR="0" rtl="0" algn="ctr">
                        <a:lnSpc>
                          <a:spcPct val="100000"/>
                        </a:lnSpc>
                        <a:spcBef>
                          <a:spcPts val="0"/>
                        </a:spcBef>
                        <a:spcAft>
                          <a:spcPts val="0"/>
                        </a:spcAft>
                        <a:buClr>
                          <a:srgbClr val="FFFFFF"/>
                        </a:buClr>
                        <a:buSzPts val="1250"/>
                        <a:buFont typeface="Poppins"/>
                        <a:buNone/>
                      </a:pPr>
                      <a:r>
                        <a:rPr b="1" lang="en-US" sz="1250" u="none" cap="none" strike="noStrike">
                          <a:solidFill>
                            <a:srgbClr val="FFFFFF"/>
                          </a:solidFill>
                          <a:latin typeface="Poppins"/>
                          <a:ea typeface="Poppins"/>
                          <a:cs typeface="Poppins"/>
                          <a:sym typeface="Poppins"/>
                        </a:rPr>
                        <a:t>#</a:t>
                      </a:r>
                      <a:endParaRPr sz="12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l">
                        <a:lnSpc>
                          <a:spcPct val="100000"/>
                        </a:lnSpc>
                        <a:spcBef>
                          <a:spcPts val="0"/>
                        </a:spcBef>
                        <a:spcAft>
                          <a:spcPts val="0"/>
                        </a:spcAft>
                        <a:buClr>
                          <a:srgbClr val="FFFFFF"/>
                        </a:buClr>
                        <a:buSzPts val="1250"/>
                        <a:buFont typeface="Poppins"/>
                        <a:buNone/>
                      </a:pPr>
                      <a:r>
                        <a:rPr b="1" lang="en-US" sz="1250" u="none" cap="none" strike="noStrike">
                          <a:solidFill>
                            <a:srgbClr val="FFFFFF"/>
                          </a:solidFill>
                          <a:latin typeface="Poppins"/>
                          <a:ea typeface="Poppins"/>
                          <a:cs typeface="Poppins"/>
                          <a:sym typeface="Poppins"/>
                        </a:rPr>
                        <a:t>Ad Group</a:t>
                      </a:r>
                      <a:endParaRPr sz="12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l">
                        <a:lnSpc>
                          <a:spcPct val="100000"/>
                        </a:lnSpc>
                        <a:spcBef>
                          <a:spcPts val="0"/>
                        </a:spcBef>
                        <a:spcAft>
                          <a:spcPts val="0"/>
                        </a:spcAft>
                        <a:buClr>
                          <a:srgbClr val="FFFFFF"/>
                        </a:buClr>
                        <a:buSzPts val="1250"/>
                        <a:buFont typeface="Poppins"/>
                        <a:buNone/>
                      </a:pPr>
                      <a:r>
                        <a:rPr b="1" lang="en-US" sz="1250" u="none" cap="none" strike="noStrike">
                          <a:solidFill>
                            <a:srgbClr val="FFFFFF"/>
                          </a:solidFill>
                          <a:latin typeface="Poppins"/>
                          <a:ea typeface="Poppins"/>
                          <a:cs typeface="Poppins"/>
                          <a:sym typeface="Poppins"/>
                        </a:rPr>
                        <a:t>Search Intent</a:t>
                      </a:r>
                      <a:endParaRPr sz="12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ctr">
                        <a:lnSpc>
                          <a:spcPct val="100000"/>
                        </a:lnSpc>
                        <a:spcBef>
                          <a:spcPts val="0"/>
                        </a:spcBef>
                        <a:spcAft>
                          <a:spcPts val="0"/>
                        </a:spcAft>
                        <a:buClr>
                          <a:srgbClr val="FFFFFF"/>
                        </a:buClr>
                        <a:buSzPts val="1250"/>
                        <a:buFont typeface="Poppins"/>
                        <a:buNone/>
                      </a:pPr>
                      <a:r>
                        <a:rPr b="1" lang="en-US" sz="1250" u="none" cap="none" strike="noStrike">
                          <a:solidFill>
                            <a:srgbClr val="FFFFFF"/>
                          </a:solidFill>
                          <a:latin typeface="Poppins"/>
                          <a:ea typeface="Poppins"/>
                          <a:cs typeface="Poppins"/>
                          <a:sym typeface="Poppins"/>
                        </a:rPr>
                        <a:t>KWs</a:t>
                      </a:r>
                      <a:endParaRPr sz="12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l">
                        <a:lnSpc>
                          <a:spcPct val="100000"/>
                        </a:lnSpc>
                        <a:spcBef>
                          <a:spcPts val="0"/>
                        </a:spcBef>
                        <a:spcAft>
                          <a:spcPts val="0"/>
                        </a:spcAft>
                        <a:buClr>
                          <a:srgbClr val="FFFFFF"/>
                        </a:buClr>
                        <a:buSzPts val="1250"/>
                        <a:buFont typeface="Poppins"/>
                        <a:buNone/>
                      </a:pPr>
                      <a:r>
                        <a:rPr b="1" lang="en-US" sz="1250" u="none" cap="none" strike="noStrike">
                          <a:solidFill>
                            <a:srgbClr val="FFFFFF"/>
                          </a:solidFill>
                          <a:latin typeface="Poppins"/>
                          <a:ea typeface="Poppins"/>
                          <a:cs typeface="Poppins"/>
                          <a:sym typeface="Poppins"/>
                        </a:rPr>
                        <a:t>Est. Vol.*</a:t>
                      </a:r>
                      <a:endParaRPr sz="12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l">
                        <a:lnSpc>
                          <a:spcPct val="100000"/>
                        </a:lnSpc>
                        <a:spcBef>
                          <a:spcPts val="0"/>
                        </a:spcBef>
                        <a:spcAft>
                          <a:spcPts val="0"/>
                        </a:spcAft>
                        <a:buClr>
                          <a:srgbClr val="FFFFFF"/>
                        </a:buClr>
                        <a:buSzPts val="1250"/>
                        <a:buFont typeface="Poppins"/>
                        <a:buNone/>
                      </a:pPr>
                      <a:r>
                        <a:rPr b="1" lang="en-US" sz="1250" u="none" cap="none" strike="noStrike">
                          <a:solidFill>
                            <a:srgbClr val="FFFFFF"/>
                          </a:solidFill>
                          <a:latin typeface="Poppins"/>
                          <a:ea typeface="Poppins"/>
                          <a:cs typeface="Poppins"/>
                          <a:sym typeface="Poppins"/>
                        </a:rPr>
                        <a:t>Bid Range</a:t>
                      </a:r>
                      <a:endParaRPr sz="12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r>
              <a:tr h="420625">
                <a:tc>
                  <a:txBody>
                    <a:bodyPr/>
                    <a:lstStyle/>
                    <a:p>
                      <a:pPr indent="0" lvl="0" marL="0" marR="0" rtl="0" algn="ctr">
                        <a:lnSpc>
                          <a:spcPct val="100000"/>
                        </a:lnSpc>
                        <a:spcBef>
                          <a:spcPts val="0"/>
                        </a:spcBef>
                        <a:spcAft>
                          <a:spcPts val="0"/>
                        </a:spcAft>
                        <a:buClr>
                          <a:srgbClr val="16A879"/>
                        </a:buClr>
                        <a:buSzPts val="1200"/>
                        <a:buFont typeface="Poppins"/>
                        <a:buNone/>
                      </a:pPr>
                      <a:r>
                        <a:rPr b="1" lang="en-US" sz="1200" u="none" cap="none" strike="noStrike">
                          <a:solidFill>
                            <a:srgbClr val="16A879"/>
                          </a:solidFill>
                          <a:latin typeface="Poppins"/>
                          <a:ea typeface="Poppins"/>
                          <a:cs typeface="Poppins"/>
                          <a:sym typeface="Poppins"/>
                        </a:rPr>
                        <a:t>1</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2B2E2C"/>
                        </a:buClr>
                        <a:buSzPts val="1200"/>
                        <a:buFont typeface="Poppins"/>
                        <a:buNone/>
                      </a:pPr>
                      <a:r>
                        <a:rPr b="1" lang="en-US" sz="1200" u="none" cap="none" strike="noStrike">
                          <a:solidFill>
                            <a:srgbClr val="2B2E2C"/>
                          </a:solidFill>
                          <a:latin typeface="Poppins"/>
                          <a:ea typeface="Poppins"/>
                          <a:cs typeface="Poppins"/>
                          <a:sym typeface="Poppins"/>
                        </a:rPr>
                        <a:t>EmFace</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873"/>
                        </a:buClr>
                        <a:buSzPts val="1200"/>
                        <a:buFont typeface="Calibri"/>
                        <a:buNone/>
                      </a:pPr>
                      <a:r>
                        <a:rPr lang="en-US" sz="1200" u="none" cap="none" strike="noStrike">
                          <a:solidFill>
                            <a:srgbClr val="6E7873"/>
                          </a:solidFill>
                          <a:latin typeface="Calibri"/>
                          <a:ea typeface="Calibri"/>
                          <a:cs typeface="Calibri"/>
                          <a:sym typeface="Calibri"/>
                        </a:rPr>
                        <a:t>Branded device terms</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8</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2,440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£0.90–£6.00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r>
              <a:tr h="420625">
                <a:tc>
                  <a:txBody>
                    <a:bodyPr/>
                    <a:lstStyle/>
                    <a:p>
                      <a:pPr indent="0" lvl="0" marL="0" marR="0" rtl="0" algn="ctr">
                        <a:lnSpc>
                          <a:spcPct val="100000"/>
                        </a:lnSpc>
                        <a:spcBef>
                          <a:spcPts val="0"/>
                        </a:spcBef>
                        <a:spcAft>
                          <a:spcPts val="0"/>
                        </a:spcAft>
                        <a:buClr>
                          <a:srgbClr val="16A879"/>
                        </a:buClr>
                        <a:buSzPts val="1200"/>
                        <a:buFont typeface="Poppins"/>
                        <a:buNone/>
                      </a:pPr>
                      <a:r>
                        <a:rPr b="1" lang="en-US" sz="1200" u="none" cap="none" strike="noStrike">
                          <a:solidFill>
                            <a:srgbClr val="16A879"/>
                          </a:solidFill>
                          <a:latin typeface="Poppins"/>
                          <a:ea typeface="Poppins"/>
                          <a:cs typeface="Poppins"/>
                          <a:sym typeface="Poppins"/>
                        </a:rPr>
                        <a:t>2</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l">
                        <a:lnSpc>
                          <a:spcPct val="100000"/>
                        </a:lnSpc>
                        <a:spcBef>
                          <a:spcPts val="0"/>
                        </a:spcBef>
                        <a:spcAft>
                          <a:spcPts val="0"/>
                        </a:spcAft>
                        <a:buClr>
                          <a:srgbClr val="2B2E2C"/>
                        </a:buClr>
                        <a:buSzPts val="1200"/>
                        <a:buFont typeface="Poppins"/>
                        <a:buNone/>
                      </a:pPr>
                      <a:r>
                        <a:rPr b="1" lang="en-US" sz="1200" u="none" cap="none" strike="noStrike">
                          <a:solidFill>
                            <a:srgbClr val="2B2E2C"/>
                          </a:solidFill>
                          <a:latin typeface="Poppins"/>
                          <a:ea typeface="Poppins"/>
                          <a:cs typeface="Poppins"/>
                          <a:sym typeface="Poppins"/>
                        </a:rPr>
                        <a:t>Non-Surgical Facelift</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l">
                        <a:lnSpc>
                          <a:spcPct val="100000"/>
                        </a:lnSpc>
                        <a:spcBef>
                          <a:spcPts val="0"/>
                        </a:spcBef>
                        <a:spcAft>
                          <a:spcPts val="0"/>
                        </a:spcAft>
                        <a:buClr>
                          <a:srgbClr val="6E7873"/>
                        </a:buClr>
                        <a:buSzPts val="1200"/>
                        <a:buFont typeface="Calibri"/>
                        <a:buNone/>
                      </a:pPr>
                      <a:r>
                        <a:rPr lang="en-US" sz="1200" u="none" cap="none" strike="noStrike">
                          <a:solidFill>
                            <a:srgbClr val="6E7873"/>
                          </a:solidFill>
                          <a:latin typeface="Calibri"/>
                          <a:ea typeface="Calibri"/>
                          <a:cs typeface="Calibri"/>
                          <a:sym typeface="Calibri"/>
                        </a:rPr>
                        <a:t>Primary non-surgical intent</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6</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1,830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£1.20–£6.50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r>
              <a:tr h="420625">
                <a:tc>
                  <a:txBody>
                    <a:bodyPr/>
                    <a:lstStyle/>
                    <a:p>
                      <a:pPr indent="0" lvl="0" marL="0" marR="0" rtl="0" algn="ctr">
                        <a:lnSpc>
                          <a:spcPct val="100000"/>
                        </a:lnSpc>
                        <a:spcBef>
                          <a:spcPts val="0"/>
                        </a:spcBef>
                        <a:spcAft>
                          <a:spcPts val="0"/>
                        </a:spcAft>
                        <a:buClr>
                          <a:srgbClr val="16A879"/>
                        </a:buClr>
                        <a:buSzPts val="1200"/>
                        <a:buFont typeface="Poppins"/>
                        <a:buNone/>
                      </a:pPr>
                      <a:r>
                        <a:rPr b="1" lang="en-US" sz="1200" u="none" cap="none" strike="noStrike">
                          <a:solidFill>
                            <a:srgbClr val="16A879"/>
                          </a:solidFill>
                          <a:latin typeface="Poppins"/>
                          <a:ea typeface="Poppins"/>
                          <a:cs typeface="Poppins"/>
                          <a:sym typeface="Poppins"/>
                        </a:rPr>
                        <a:t>3</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2B2E2C"/>
                        </a:buClr>
                        <a:buSzPts val="1200"/>
                        <a:buFont typeface="Poppins"/>
                        <a:buNone/>
                      </a:pPr>
                      <a:r>
                        <a:rPr b="1" lang="en-US" sz="1200" u="none" cap="none" strike="noStrike">
                          <a:solidFill>
                            <a:srgbClr val="2B2E2C"/>
                          </a:solidFill>
                          <a:latin typeface="Poppins"/>
                          <a:ea typeface="Poppins"/>
                          <a:cs typeface="Poppins"/>
                          <a:sym typeface="Poppins"/>
                        </a:rPr>
                        <a:t>Facial Skin Tightening</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873"/>
                        </a:buClr>
                        <a:buSzPts val="1200"/>
                        <a:buFont typeface="Calibri"/>
                        <a:buNone/>
                      </a:pPr>
                      <a:r>
                        <a:rPr lang="en-US" sz="1200" u="none" cap="none" strike="noStrike">
                          <a:solidFill>
                            <a:srgbClr val="6E7873"/>
                          </a:solidFill>
                          <a:latin typeface="Calibri"/>
                          <a:ea typeface="Calibri"/>
                          <a:cs typeface="Calibri"/>
                          <a:sym typeface="Calibri"/>
                        </a:rPr>
                        <a:t>Tightening &amp; collagen intent</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8</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2,240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£0.80–£4.50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r>
              <a:tr h="420625">
                <a:tc>
                  <a:txBody>
                    <a:bodyPr/>
                    <a:lstStyle/>
                    <a:p>
                      <a:pPr indent="0" lvl="0" marL="0" marR="0" rtl="0" algn="ctr">
                        <a:lnSpc>
                          <a:spcPct val="100000"/>
                        </a:lnSpc>
                        <a:spcBef>
                          <a:spcPts val="0"/>
                        </a:spcBef>
                        <a:spcAft>
                          <a:spcPts val="0"/>
                        </a:spcAft>
                        <a:buClr>
                          <a:srgbClr val="16A879"/>
                        </a:buClr>
                        <a:buSzPts val="1200"/>
                        <a:buFont typeface="Poppins"/>
                        <a:buNone/>
                      </a:pPr>
                      <a:r>
                        <a:rPr b="1" lang="en-US" sz="1200" u="none" cap="none" strike="noStrike">
                          <a:solidFill>
                            <a:srgbClr val="16A879"/>
                          </a:solidFill>
                          <a:latin typeface="Poppins"/>
                          <a:ea typeface="Poppins"/>
                          <a:cs typeface="Poppins"/>
                          <a:sym typeface="Poppins"/>
                        </a:rPr>
                        <a:t>4</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l">
                        <a:lnSpc>
                          <a:spcPct val="100000"/>
                        </a:lnSpc>
                        <a:spcBef>
                          <a:spcPts val="0"/>
                        </a:spcBef>
                        <a:spcAft>
                          <a:spcPts val="0"/>
                        </a:spcAft>
                        <a:buClr>
                          <a:srgbClr val="2B2E2C"/>
                        </a:buClr>
                        <a:buSzPts val="1200"/>
                        <a:buFont typeface="Poppins"/>
                        <a:buNone/>
                      </a:pPr>
                      <a:r>
                        <a:rPr b="1" lang="en-US" sz="1200" u="none" cap="none" strike="noStrike">
                          <a:solidFill>
                            <a:srgbClr val="2B2E2C"/>
                          </a:solidFill>
                          <a:latin typeface="Poppins"/>
                          <a:ea typeface="Poppins"/>
                          <a:cs typeface="Poppins"/>
                          <a:sym typeface="Poppins"/>
                        </a:rPr>
                        <a:t>Jawline &amp; Jowls</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l">
                        <a:lnSpc>
                          <a:spcPct val="100000"/>
                        </a:lnSpc>
                        <a:spcBef>
                          <a:spcPts val="0"/>
                        </a:spcBef>
                        <a:spcAft>
                          <a:spcPts val="0"/>
                        </a:spcAft>
                        <a:buClr>
                          <a:srgbClr val="6E7873"/>
                        </a:buClr>
                        <a:buSzPts val="1200"/>
                        <a:buFont typeface="Calibri"/>
                        <a:buNone/>
                      </a:pPr>
                      <a:r>
                        <a:rPr lang="en-US" sz="1200" u="none" cap="none" strike="noStrike">
                          <a:solidFill>
                            <a:srgbClr val="6E7873"/>
                          </a:solidFill>
                          <a:latin typeface="Calibri"/>
                          <a:ea typeface="Calibri"/>
                          <a:cs typeface="Calibri"/>
                          <a:sym typeface="Calibri"/>
                        </a:rPr>
                        <a:t>Area-specific intent</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8</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1,460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£0.90–£4.00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r>
              <a:tr h="420625">
                <a:tc>
                  <a:txBody>
                    <a:bodyPr/>
                    <a:lstStyle/>
                    <a:p>
                      <a:pPr indent="0" lvl="0" marL="0" marR="0" rtl="0" algn="ctr">
                        <a:lnSpc>
                          <a:spcPct val="100000"/>
                        </a:lnSpc>
                        <a:spcBef>
                          <a:spcPts val="0"/>
                        </a:spcBef>
                        <a:spcAft>
                          <a:spcPts val="0"/>
                        </a:spcAft>
                        <a:buClr>
                          <a:srgbClr val="16A879"/>
                        </a:buClr>
                        <a:buSzPts val="1200"/>
                        <a:buFont typeface="Poppins"/>
                        <a:buNone/>
                      </a:pPr>
                      <a:r>
                        <a:rPr b="1" lang="en-US" sz="1200" u="none" cap="none" strike="noStrike">
                          <a:solidFill>
                            <a:srgbClr val="16A879"/>
                          </a:solidFill>
                          <a:latin typeface="Poppins"/>
                          <a:ea typeface="Poppins"/>
                          <a:cs typeface="Poppins"/>
                          <a:sym typeface="Poppins"/>
                        </a:rPr>
                        <a:t>5</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2B2E2C"/>
                        </a:buClr>
                        <a:buSzPts val="1200"/>
                        <a:buFont typeface="Poppins"/>
                        <a:buNone/>
                      </a:pPr>
                      <a:r>
                        <a:rPr b="1" lang="en-US" sz="1200" u="none" cap="none" strike="noStrike">
                          <a:solidFill>
                            <a:srgbClr val="2B2E2C"/>
                          </a:solidFill>
                          <a:latin typeface="Poppins"/>
                          <a:ea typeface="Poppins"/>
                          <a:cs typeface="Poppins"/>
                          <a:sym typeface="Poppins"/>
                        </a:rPr>
                        <a:t>Facial Muscle Toning</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873"/>
                        </a:buClr>
                        <a:buSzPts val="1200"/>
                        <a:buFont typeface="Calibri"/>
                        <a:buNone/>
                      </a:pPr>
                      <a:r>
                        <a:rPr lang="en-US" sz="1200" u="none" cap="none" strike="noStrike">
                          <a:solidFill>
                            <a:srgbClr val="6E7873"/>
                          </a:solidFill>
                          <a:latin typeface="Calibri"/>
                          <a:ea typeface="Calibri"/>
                          <a:cs typeface="Calibri"/>
                          <a:sym typeface="Calibri"/>
                        </a:rPr>
                        <a:t>USP-led · HIFES</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7</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670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£0.70–£3.60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r>
              <a:tr h="420625">
                <a:tc>
                  <a:txBody>
                    <a:bodyPr/>
                    <a:lstStyle/>
                    <a:p>
                      <a:pPr indent="0" lvl="0" marL="0" marR="0" rtl="0" algn="ctr">
                        <a:lnSpc>
                          <a:spcPct val="100000"/>
                        </a:lnSpc>
                        <a:spcBef>
                          <a:spcPts val="0"/>
                        </a:spcBef>
                        <a:spcAft>
                          <a:spcPts val="0"/>
                        </a:spcAft>
                        <a:buClr>
                          <a:srgbClr val="16A879"/>
                        </a:buClr>
                        <a:buSzPts val="1200"/>
                        <a:buFont typeface="Poppins"/>
                        <a:buNone/>
                      </a:pPr>
                      <a:r>
                        <a:rPr b="1" lang="en-US" sz="1200" u="none" cap="none" strike="noStrike">
                          <a:solidFill>
                            <a:srgbClr val="16A879"/>
                          </a:solidFill>
                          <a:latin typeface="Poppins"/>
                          <a:ea typeface="Poppins"/>
                          <a:cs typeface="Poppins"/>
                          <a:sym typeface="Poppins"/>
                        </a:rPr>
                        <a:t>6</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l">
                        <a:lnSpc>
                          <a:spcPct val="100000"/>
                        </a:lnSpc>
                        <a:spcBef>
                          <a:spcPts val="0"/>
                        </a:spcBef>
                        <a:spcAft>
                          <a:spcPts val="0"/>
                        </a:spcAft>
                        <a:buClr>
                          <a:srgbClr val="2B2E2C"/>
                        </a:buClr>
                        <a:buSzPts val="1200"/>
                        <a:buFont typeface="Poppins"/>
                        <a:buNone/>
                      </a:pPr>
                      <a:r>
                        <a:rPr b="1" lang="en-US" sz="1200" u="none" cap="none" strike="noStrike">
                          <a:solidFill>
                            <a:srgbClr val="2B2E2C"/>
                          </a:solidFill>
                          <a:latin typeface="Poppins"/>
                          <a:ea typeface="Poppins"/>
                          <a:cs typeface="Poppins"/>
                          <a:sym typeface="Poppins"/>
                        </a:rPr>
                        <a:t>Local (Central London)</a:t>
                      </a:r>
                      <a:endParaRPr sz="120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l">
                        <a:lnSpc>
                          <a:spcPct val="100000"/>
                        </a:lnSpc>
                        <a:spcBef>
                          <a:spcPts val="0"/>
                        </a:spcBef>
                        <a:spcAft>
                          <a:spcPts val="0"/>
                        </a:spcAft>
                        <a:buClr>
                          <a:srgbClr val="6E7873"/>
                        </a:buClr>
                        <a:buSzPts val="1200"/>
                        <a:buFont typeface="Calibri"/>
                        <a:buNone/>
                      </a:pPr>
                      <a:r>
                        <a:rPr lang="en-US" sz="1200" u="none" cap="none" strike="noStrike">
                          <a:solidFill>
                            <a:srgbClr val="6E7873"/>
                          </a:solidFill>
                          <a:latin typeface="Calibri"/>
                          <a:ea typeface="Calibri"/>
                          <a:cs typeface="Calibri"/>
                          <a:sym typeface="Calibri"/>
                        </a:rPr>
                        <a:t>Local intent</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5</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770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200"/>
                        <a:buFont typeface="Calibri"/>
                        <a:buNone/>
                      </a:pPr>
                      <a:r>
                        <a:rPr lang="en-US" sz="1200" u="none" cap="none" strike="noStrike">
                          <a:solidFill>
                            <a:srgbClr val="2B2E2C"/>
                          </a:solidFill>
                          <a:latin typeface="Calibri"/>
                          <a:ea typeface="Calibri"/>
                          <a:cs typeface="Calibri"/>
                          <a:sym typeface="Calibri"/>
                        </a:rPr>
                        <a:t>£1.30–£5.40</a:t>
                      </a:r>
                      <a:endParaRPr sz="120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r>
            </a:tbl>
          </a:graphicData>
        </a:graphic>
      </p:graphicFrame>
      <p:sp>
        <p:nvSpPr>
          <p:cNvPr id="739" name="Google Shape;739;p17"/>
          <p:cNvSpPr/>
          <p:nvPr/>
        </p:nvSpPr>
        <p:spPr>
          <a:xfrm>
            <a:off x="502920" y="6053328"/>
            <a:ext cx="10972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50"/>
              <a:buFont typeface="Calibri"/>
              <a:buNone/>
            </a:pPr>
            <a:r>
              <a:rPr b="0" i="1" lang="en-US" sz="950" u="none" cap="none" strike="noStrike">
                <a:solidFill>
                  <a:srgbClr val="6E7873"/>
                </a:solidFill>
                <a:latin typeface="Calibri"/>
                <a:ea typeface="Calibri"/>
                <a:cs typeface="Calibri"/>
                <a:sym typeface="Calibri"/>
              </a:rPr>
              <a:t>* EmFace volumes are estimates pending a live Keyword Planner pull; branded device demand is still building in the UK.</a:t>
            </a:r>
            <a:endParaRPr b="0" i="0" sz="950" u="none" cap="none" strike="noStrike">
              <a:solidFill>
                <a:schemeClr val="dk1"/>
              </a:solidFill>
              <a:latin typeface="Calibri"/>
              <a:ea typeface="Calibri"/>
              <a:cs typeface="Calibri"/>
              <a:sym typeface="Calibri"/>
            </a:endParaRPr>
          </a:p>
        </p:txBody>
      </p:sp>
      <p:sp>
        <p:nvSpPr>
          <p:cNvPr id="740" name="Google Shape;740;p17"/>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741" name="Google Shape;741;p17"/>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17</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6" name="Shape 746"/>
        <p:cNvGrpSpPr/>
        <p:nvPr/>
      </p:nvGrpSpPr>
      <p:grpSpPr>
        <a:xfrm>
          <a:off x="0" y="0"/>
          <a:ext cx="0" cy="0"/>
          <a:chOff x="0" y="0"/>
          <a:chExt cx="0" cy="0"/>
        </a:xfrm>
      </p:grpSpPr>
      <p:pic>
        <p:nvPicPr>
          <p:cNvPr descr="unpacked/ppt/media/image11.png" id="747" name="Google Shape;747;p18"/>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748" name="Google Shape;748;p18"/>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Keywords</a:t>
            </a:r>
            <a:endParaRPr b="0" i="0" sz="1500" u="none" cap="none" strike="noStrike">
              <a:solidFill>
                <a:schemeClr val="dk1"/>
              </a:solidFill>
              <a:latin typeface="Calibri"/>
              <a:ea typeface="Calibri"/>
              <a:cs typeface="Calibri"/>
              <a:sym typeface="Calibri"/>
            </a:endParaRPr>
          </a:p>
        </p:txBody>
      </p:sp>
      <p:sp>
        <p:nvSpPr>
          <p:cNvPr id="749" name="Google Shape;749;p18"/>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EMFACE · KEYWORDS &amp; AD GROUPS</a:t>
            </a:r>
            <a:endParaRPr b="0" i="0" sz="1250" u="none" cap="none" strike="noStrike">
              <a:solidFill>
                <a:schemeClr val="dk1"/>
              </a:solidFill>
              <a:latin typeface="Calibri"/>
              <a:ea typeface="Calibri"/>
              <a:cs typeface="Calibri"/>
              <a:sym typeface="Calibri"/>
            </a:endParaRPr>
          </a:p>
        </p:txBody>
      </p:sp>
      <p:sp>
        <p:nvSpPr>
          <p:cNvPr id="750" name="Google Shape;750;p18"/>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2700" u="none" cap="none" strike="noStrike">
                <a:solidFill>
                  <a:srgbClr val="2B2E2C"/>
                </a:solidFill>
                <a:latin typeface="Poppins"/>
                <a:ea typeface="Poppins"/>
                <a:cs typeface="Poppins"/>
                <a:sym typeface="Poppins"/>
              </a:rPr>
              <a:t>Full Keyword List &amp; Bids</a:t>
            </a:r>
            <a:endParaRPr b="0" i="0" sz="3300" u="none" cap="none" strike="noStrike">
              <a:solidFill>
                <a:schemeClr val="dk1"/>
              </a:solidFill>
              <a:latin typeface="Calibri"/>
              <a:ea typeface="Calibri"/>
              <a:cs typeface="Calibri"/>
              <a:sym typeface="Calibri"/>
            </a:endParaRPr>
          </a:p>
        </p:txBody>
      </p:sp>
      <p:sp>
        <p:nvSpPr>
          <p:cNvPr id="751" name="Google Shape;751;p18"/>
          <p:cNvSpPr/>
          <p:nvPr/>
        </p:nvSpPr>
        <p:spPr>
          <a:xfrm>
            <a:off x="502920" y="1810512"/>
            <a:ext cx="3584448" cy="283464"/>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18"/>
          <p:cNvSpPr/>
          <p:nvPr/>
        </p:nvSpPr>
        <p:spPr>
          <a:xfrm>
            <a:off x="612648" y="1810512"/>
            <a:ext cx="3401568" cy="2834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Poppins"/>
              <a:buNone/>
            </a:pPr>
            <a:r>
              <a:rPr b="1" i="0" lang="en-US" sz="1050" u="none" cap="none" strike="noStrike">
                <a:solidFill>
                  <a:srgbClr val="FFFFFF"/>
                </a:solidFill>
                <a:latin typeface="Poppins"/>
                <a:ea typeface="Poppins"/>
                <a:cs typeface="Poppins"/>
                <a:sym typeface="Poppins"/>
              </a:rPr>
              <a:t>1  EmFace</a:t>
            </a:r>
            <a:endParaRPr b="0" i="0" sz="1050" u="none" cap="none" strike="noStrike">
              <a:solidFill>
                <a:schemeClr val="dk1"/>
              </a:solidFill>
              <a:latin typeface="Calibri"/>
              <a:ea typeface="Calibri"/>
              <a:cs typeface="Calibri"/>
              <a:sym typeface="Calibri"/>
            </a:endParaRPr>
          </a:p>
        </p:txBody>
      </p:sp>
      <p:sp>
        <p:nvSpPr>
          <p:cNvPr id="753" name="Google Shape;753;p18"/>
          <p:cNvSpPr/>
          <p:nvPr/>
        </p:nvSpPr>
        <p:spPr>
          <a:xfrm>
            <a:off x="502920" y="2093976"/>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18"/>
          <p:cNvSpPr/>
          <p:nvPr/>
        </p:nvSpPr>
        <p:spPr>
          <a:xfrm>
            <a:off x="594360" y="2093976"/>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emface</a:t>
            </a:r>
            <a:endParaRPr b="0" i="0" sz="880" u="none" cap="none" strike="noStrike">
              <a:solidFill>
                <a:schemeClr val="dk1"/>
              </a:solidFill>
              <a:latin typeface="Calibri"/>
              <a:ea typeface="Calibri"/>
              <a:cs typeface="Calibri"/>
              <a:sym typeface="Calibri"/>
            </a:endParaRPr>
          </a:p>
        </p:txBody>
      </p:sp>
      <p:sp>
        <p:nvSpPr>
          <p:cNvPr id="755" name="Google Shape;755;p18"/>
          <p:cNvSpPr/>
          <p:nvPr/>
        </p:nvSpPr>
        <p:spPr>
          <a:xfrm>
            <a:off x="2258568" y="2093976"/>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1,900</a:t>
            </a:r>
            <a:endParaRPr b="0" i="0" sz="820" u="none" cap="none" strike="noStrike">
              <a:solidFill>
                <a:schemeClr val="dk1"/>
              </a:solidFill>
              <a:latin typeface="Calibri"/>
              <a:ea typeface="Calibri"/>
              <a:cs typeface="Calibri"/>
              <a:sym typeface="Calibri"/>
            </a:endParaRPr>
          </a:p>
        </p:txBody>
      </p:sp>
      <p:sp>
        <p:nvSpPr>
          <p:cNvPr id="756" name="Google Shape;756;p18"/>
          <p:cNvSpPr/>
          <p:nvPr/>
        </p:nvSpPr>
        <p:spPr>
          <a:xfrm>
            <a:off x="2788920" y="2093976"/>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757" name="Google Shape;757;p18"/>
          <p:cNvSpPr/>
          <p:nvPr/>
        </p:nvSpPr>
        <p:spPr>
          <a:xfrm>
            <a:off x="2990088" y="2093976"/>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£1.20–£4.50</a:t>
            </a:r>
            <a:endParaRPr b="0" i="0" sz="760" u="none" cap="none" strike="noStrike">
              <a:solidFill>
                <a:schemeClr val="dk1"/>
              </a:solidFill>
              <a:latin typeface="Calibri"/>
              <a:ea typeface="Calibri"/>
              <a:cs typeface="Calibri"/>
              <a:sym typeface="Calibri"/>
            </a:endParaRPr>
          </a:p>
        </p:txBody>
      </p:sp>
      <p:sp>
        <p:nvSpPr>
          <p:cNvPr id="758" name="Google Shape;758;p18"/>
          <p:cNvSpPr/>
          <p:nvPr/>
        </p:nvSpPr>
        <p:spPr>
          <a:xfrm>
            <a:off x="502920" y="2326234"/>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18"/>
          <p:cNvSpPr/>
          <p:nvPr/>
        </p:nvSpPr>
        <p:spPr>
          <a:xfrm>
            <a:off x="594360" y="2326234"/>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emface london</a:t>
            </a:r>
            <a:endParaRPr b="0" i="0" sz="880" u="none" cap="none" strike="noStrike">
              <a:solidFill>
                <a:schemeClr val="dk1"/>
              </a:solidFill>
              <a:latin typeface="Calibri"/>
              <a:ea typeface="Calibri"/>
              <a:cs typeface="Calibri"/>
              <a:sym typeface="Calibri"/>
            </a:endParaRPr>
          </a:p>
        </p:txBody>
      </p:sp>
      <p:sp>
        <p:nvSpPr>
          <p:cNvPr id="760" name="Google Shape;760;p18"/>
          <p:cNvSpPr/>
          <p:nvPr/>
        </p:nvSpPr>
        <p:spPr>
          <a:xfrm>
            <a:off x="2258568" y="2326234"/>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170</a:t>
            </a:r>
            <a:endParaRPr b="0" i="0" sz="820" u="none" cap="none" strike="noStrike">
              <a:solidFill>
                <a:schemeClr val="dk1"/>
              </a:solidFill>
              <a:latin typeface="Calibri"/>
              <a:ea typeface="Calibri"/>
              <a:cs typeface="Calibri"/>
              <a:sym typeface="Calibri"/>
            </a:endParaRPr>
          </a:p>
        </p:txBody>
      </p:sp>
      <p:sp>
        <p:nvSpPr>
          <p:cNvPr id="761" name="Google Shape;761;p18"/>
          <p:cNvSpPr/>
          <p:nvPr/>
        </p:nvSpPr>
        <p:spPr>
          <a:xfrm>
            <a:off x="2788920" y="2326234"/>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762" name="Google Shape;762;p18"/>
          <p:cNvSpPr/>
          <p:nvPr/>
        </p:nvSpPr>
        <p:spPr>
          <a:xfrm>
            <a:off x="2990088" y="2326234"/>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£1.80–£6.00</a:t>
            </a:r>
            <a:endParaRPr b="0" i="0" sz="760" u="none" cap="none" strike="noStrike">
              <a:solidFill>
                <a:schemeClr val="dk1"/>
              </a:solidFill>
              <a:latin typeface="Calibri"/>
              <a:ea typeface="Calibri"/>
              <a:cs typeface="Calibri"/>
              <a:sym typeface="Calibri"/>
            </a:endParaRPr>
          </a:p>
        </p:txBody>
      </p:sp>
      <p:sp>
        <p:nvSpPr>
          <p:cNvPr id="763" name="Google Shape;763;p18"/>
          <p:cNvSpPr/>
          <p:nvPr/>
        </p:nvSpPr>
        <p:spPr>
          <a:xfrm>
            <a:off x="502920" y="2558491"/>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18"/>
          <p:cNvSpPr/>
          <p:nvPr/>
        </p:nvSpPr>
        <p:spPr>
          <a:xfrm>
            <a:off x="594360" y="2558491"/>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emface near me</a:t>
            </a:r>
            <a:endParaRPr b="0" i="0" sz="880" u="none" cap="none" strike="noStrike">
              <a:solidFill>
                <a:schemeClr val="dk1"/>
              </a:solidFill>
              <a:latin typeface="Calibri"/>
              <a:ea typeface="Calibri"/>
              <a:cs typeface="Calibri"/>
              <a:sym typeface="Calibri"/>
            </a:endParaRPr>
          </a:p>
        </p:txBody>
      </p:sp>
      <p:sp>
        <p:nvSpPr>
          <p:cNvPr id="765" name="Google Shape;765;p18"/>
          <p:cNvSpPr/>
          <p:nvPr/>
        </p:nvSpPr>
        <p:spPr>
          <a:xfrm>
            <a:off x="2258568" y="2558491"/>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110</a:t>
            </a:r>
            <a:endParaRPr b="0" i="0" sz="820" u="none" cap="none" strike="noStrike">
              <a:solidFill>
                <a:schemeClr val="dk1"/>
              </a:solidFill>
              <a:latin typeface="Calibri"/>
              <a:ea typeface="Calibri"/>
              <a:cs typeface="Calibri"/>
              <a:sym typeface="Calibri"/>
            </a:endParaRPr>
          </a:p>
        </p:txBody>
      </p:sp>
      <p:sp>
        <p:nvSpPr>
          <p:cNvPr id="766" name="Google Shape;766;p18"/>
          <p:cNvSpPr/>
          <p:nvPr/>
        </p:nvSpPr>
        <p:spPr>
          <a:xfrm>
            <a:off x="2788920" y="2558491"/>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767" name="Google Shape;767;p18"/>
          <p:cNvSpPr/>
          <p:nvPr/>
        </p:nvSpPr>
        <p:spPr>
          <a:xfrm>
            <a:off x="2990088" y="2558491"/>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£1.60–£5.50</a:t>
            </a:r>
            <a:endParaRPr b="0" i="0" sz="760" u="none" cap="none" strike="noStrike">
              <a:solidFill>
                <a:schemeClr val="dk1"/>
              </a:solidFill>
              <a:latin typeface="Calibri"/>
              <a:ea typeface="Calibri"/>
              <a:cs typeface="Calibri"/>
              <a:sym typeface="Calibri"/>
            </a:endParaRPr>
          </a:p>
        </p:txBody>
      </p:sp>
      <p:sp>
        <p:nvSpPr>
          <p:cNvPr id="768" name="Google Shape;768;p18"/>
          <p:cNvSpPr/>
          <p:nvPr/>
        </p:nvSpPr>
        <p:spPr>
          <a:xfrm>
            <a:off x="502920" y="2790749"/>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18"/>
          <p:cNvSpPr/>
          <p:nvPr/>
        </p:nvSpPr>
        <p:spPr>
          <a:xfrm>
            <a:off x="594360" y="2790749"/>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emface treatment</a:t>
            </a:r>
            <a:endParaRPr b="0" i="0" sz="880" u="none" cap="none" strike="noStrike">
              <a:solidFill>
                <a:schemeClr val="dk1"/>
              </a:solidFill>
              <a:latin typeface="Calibri"/>
              <a:ea typeface="Calibri"/>
              <a:cs typeface="Calibri"/>
              <a:sym typeface="Calibri"/>
            </a:endParaRPr>
          </a:p>
        </p:txBody>
      </p:sp>
      <p:sp>
        <p:nvSpPr>
          <p:cNvPr id="770" name="Google Shape;770;p18"/>
          <p:cNvSpPr/>
          <p:nvPr/>
        </p:nvSpPr>
        <p:spPr>
          <a:xfrm>
            <a:off x="2258568" y="2790749"/>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90</a:t>
            </a:r>
            <a:endParaRPr b="0" i="0" sz="820" u="none" cap="none" strike="noStrike">
              <a:solidFill>
                <a:schemeClr val="dk1"/>
              </a:solidFill>
              <a:latin typeface="Calibri"/>
              <a:ea typeface="Calibri"/>
              <a:cs typeface="Calibri"/>
              <a:sym typeface="Calibri"/>
            </a:endParaRPr>
          </a:p>
        </p:txBody>
      </p:sp>
      <p:sp>
        <p:nvSpPr>
          <p:cNvPr id="771" name="Google Shape;771;p18"/>
          <p:cNvSpPr/>
          <p:nvPr/>
        </p:nvSpPr>
        <p:spPr>
          <a:xfrm>
            <a:off x="2788920" y="2790749"/>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772" name="Google Shape;772;p18"/>
          <p:cNvSpPr/>
          <p:nvPr/>
        </p:nvSpPr>
        <p:spPr>
          <a:xfrm>
            <a:off x="2990088" y="2790749"/>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£1.20–£4.00</a:t>
            </a:r>
            <a:endParaRPr b="0" i="0" sz="760" u="none" cap="none" strike="noStrike">
              <a:solidFill>
                <a:schemeClr val="dk1"/>
              </a:solidFill>
              <a:latin typeface="Calibri"/>
              <a:ea typeface="Calibri"/>
              <a:cs typeface="Calibri"/>
              <a:sym typeface="Calibri"/>
            </a:endParaRPr>
          </a:p>
        </p:txBody>
      </p:sp>
      <p:sp>
        <p:nvSpPr>
          <p:cNvPr id="773" name="Google Shape;773;p18"/>
          <p:cNvSpPr/>
          <p:nvPr/>
        </p:nvSpPr>
        <p:spPr>
          <a:xfrm>
            <a:off x="502920" y="3023006"/>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18"/>
          <p:cNvSpPr/>
          <p:nvPr/>
        </p:nvSpPr>
        <p:spPr>
          <a:xfrm>
            <a:off x="594360" y="3023006"/>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emface cost</a:t>
            </a:r>
            <a:endParaRPr b="0" i="0" sz="880" u="none" cap="none" strike="noStrike">
              <a:solidFill>
                <a:schemeClr val="dk1"/>
              </a:solidFill>
              <a:latin typeface="Calibri"/>
              <a:ea typeface="Calibri"/>
              <a:cs typeface="Calibri"/>
              <a:sym typeface="Calibri"/>
            </a:endParaRPr>
          </a:p>
        </p:txBody>
      </p:sp>
      <p:sp>
        <p:nvSpPr>
          <p:cNvPr id="775" name="Google Shape;775;p18"/>
          <p:cNvSpPr/>
          <p:nvPr/>
        </p:nvSpPr>
        <p:spPr>
          <a:xfrm>
            <a:off x="2258568" y="3023006"/>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70</a:t>
            </a:r>
            <a:endParaRPr b="0" i="0" sz="820" u="none" cap="none" strike="noStrike">
              <a:solidFill>
                <a:schemeClr val="dk1"/>
              </a:solidFill>
              <a:latin typeface="Calibri"/>
              <a:ea typeface="Calibri"/>
              <a:cs typeface="Calibri"/>
              <a:sym typeface="Calibri"/>
            </a:endParaRPr>
          </a:p>
        </p:txBody>
      </p:sp>
      <p:sp>
        <p:nvSpPr>
          <p:cNvPr id="776" name="Google Shape;776;p18"/>
          <p:cNvSpPr/>
          <p:nvPr/>
        </p:nvSpPr>
        <p:spPr>
          <a:xfrm>
            <a:off x="2788920" y="3023006"/>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777" name="Google Shape;777;p18"/>
          <p:cNvSpPr/>
          <p:nvPr/>
        </p:nvSpPr>
        <p:spPr>
          <a:xfrm>
            <a:off x="2990088" y="3023006"/>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£0.90–£3.00</a:t>
            </a:r>
            <a:endParaRPr b="0" i="0" sz="760" u="none" cap="none" strike="noStrike">
              <a:solidFill>
                <a:schemeClr val="dk1"/>
              </a:solidFill>
              <a:latin typeface="Calibri"/>
              <a:ea typeface="Calibri"/>
              <a:cs typeface="Calibri"/>
              <a:sym typeface="Calibri"/>
            </a:endParaRPr>
          </a:p>
        </p:txBody>
      </p:sp>
      <p:sp>
        <p:nvSpPr>
          <p:cNvPr id="778" name="Google Shape;778;p18"/>
          <p:cNvSpPr/>
          <p:nvPr/>
        </p:nvSpPr>
        <p:spPr>
          <a:xfrm>
            <a:off x="502920" y="3255264"/>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18"/>
          <p:cNvSpPr/>
          <p:nvPr/>
        </p:nvSpPr>
        <p:spPr>
          <a:xfrm>
            <a:off x="594360" y="3255264"/>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emface price</a:t>
            </a:r>
            <a:endParaRPr b="0" i="0" sz="880" u="none" cap="none" strike="noStrike">
              <a:solidFill>
                <a:schemeClr val="dk1"/>
              </a:solidFill>
              <a:latin typeface="Calibri"/>
              <a:ea typeface="Calibri"/>
              <a:cs typeface="Calibri"/>
              <a:sym typeface="Calibri"/>
            </a:endParaRPr>
          </a:p>
        </p:txBody>
      </p:sp>
      <p:sp>
        <p:nvSpPr>
          <p:cNvPr id="780" name="Google Shape;780;p18"/>
          <p:cNvSpPr/>
          <p:nvPr/>
        </p:nvSpPr>
        <p:spPr>
          <a:xfrm>
            <a:off x="2258568" y="3255264"/>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50</a:t>
            </a:r>
            <a:endParaRPr b="0" i="0" sz="820" u="none" cap="none" strike="noStrike">
              <a:solidFill>
                <a:schemeClr val="dk1"/>
              </a:solidFill>
              <a:latin typeface="Calibri"/>
              <a:ea typeface="Calibri"/>
              <a:cs typeface="Calibri"/>
              <a:sym typeface="Calibri"/>
            </a:endParaRPr>
          </a:p>
        </p:txBody>
      </p:sp>
      <p:sp>
        <p:nvSpPr>
          <p:cNvPr id="781" name="Google Shape;781;p18"/>
          <p:cNvSpPr/>
          <p:nvPr/>
        </p:nvSpPr>
        <p:spPr>
          <a:xfrm>
            <a:off x="2788920" y="3255264"/>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782" name="Google Shape;782;p18"/>
          <p:cNvSpPr/>
          <p:nvPr/>
        </p:nvSpPr>
        <p:spPr>
          <a:xfrm>
            <a:off x="2990088" y="3255264"/>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£0.90–£3.00</a:t>
            </a:r>
            <a:endParaRPr b="0" i="0" sz="760" u="none" cap="none" strike="noStrike">
              <a:solidFill>
                <a:schemeClr val="dk1"/>
              </a:solidFill>
              <a:latin typeface="Calibri"/>
              <a:ea typeface="Calibri"/>
              <a:cs typeface="Calibri"/>
              <a:sym typeface="Calibri"/>
            </a:endParaRPr>
          </a:p>
        </p:txBody>
      </p:sp>
      <p:sp>
        <p:nvSpPr>
          <p:cNvPr id="783" name="Google Shape;783;p18"/>
          <p:cNvSpPr/>
          <p:nvPr/>
        </p:nvSpPr>
        <p:spPr>
          <a:xfrm>
            <a:off x="502920" y="3487522"/>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18"/>
          <p:cNvSpPr/>
          <p:nvPr/>
        </p:nvSpPr>
        <p:spPr>
          <a:xfrm>
            <a:off x="594360" y="3487522"/>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emface facial</a:t>
            </a:r>
            <a:endParaRPr b="0" i="0" sz="880" u="none" cap="none" strike="noStrike">
              <a:solidFill>
                <a:schemeClr val="dk1"/>
              </a:solidFill>
              <a:latin typeface="Calibri"/>
              <a:ea typeface="Calibri"/>
              <a:cs typeface="Calibri"/>
              <a:sym typeface="Calibri"/>
            </a:endParaRPr>
          </a:p>
        </p:txBody>
      </p:sp>
      <p:sp>
        <p:nvSpPr>
          <p:cNvPr id="785" name="Google Shape;785;p18"/>
          <p:cNvSpPr/>
          <p:nvPr/>
        </p:nvSpPr>
        <p:spPr>
          <a:xfrm>
            <a:off x="2258568" y="3487522"/>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30</a:t>
            </a:r>
            <a:endParaRPr b="0" i="0" sz="820" u="none" cap="none" strike="noStrike">
              <a:solidFill>
                <a:schemeClr val="dk1"/>
              </a:solidFill>
              <a:latin typeface="Calibri"/>
              <a:ea typeface="Calibri"/>
              <a:cs typeface="Calibri"/>
              <a:sym typeface="Calibri"/>
            </a:endParaRPr>
          </a:p>
        </p:txBody>
      </p:sp>
      <p:sp>
        <p:nvSpPr>
          <p:cNvPr id="786" name="Google Shape;786;p18"/>
          <p:cNvSpPr/>
          <p:nvPr/>
        </p:nvSpPr>
        <p:spPr>
          <a:xfrm>
            <a:off x="2788920" y="3487522"/>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787" name="Google Shape;787;p18"/>
          <p:cNvSpPr/>
          <p:nvPr/>
        </p:nvSpPr>
        <p:spPr>
          <a:xfrm>
            <a:off x="2990088" y="3487522"/>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£1.00–£3.50</a:t>
            </a:r>
            <a:endParaRPr b="0" i="0" sz="760" u="none" cap="none" strike="noStrike">
              <a:solidFill>
                <a:schemeClr val="dk1"/>
              </a:solidFill>
              <a:latin typeface="Calibri"/>
              <a:ea typeface="Calibri"/>
              <a:cs typeface="Calibri"/>
              <a:sym typeface="Calibri"/>
            </a:endParaRPr>
          </a:p>
        </p:txBody>
      </p:sp>
      <p:sp>
        <p:nvSpPr>
          <p:cNvPr id="788" name="Google Shape;788;p18"/>
          <p:cNvSpPr/>
          <p:nvPr/>
        </p:nvSpPr>
        <p:spPr>
          <a:xfrm>
            <a:off x="502920" y="3719779"/>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18"/>
          <p:cNvSpPr/>
          <p:nvPr/>
        </p:nvSpPr>
        <p:spPr>
          <a:xfrm>
            <a:off x="594360" y="3719779"/>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btl emface</a:t>
            </a:r>
            <a:endParaRPr b="0" i="0" sz="880" u="none" cap="none" strike="noStrike">
              <a:solidFill>
                <a:schemeClr val="dk1"/>
              </a:solidFill>
              <a:latin typeface="Calibri"/>
              <a:ea typeface="Calibri"/>
              <a:cs typeface="Calibri"/>
              <a:sym typeface="Calibri"/>
            </a:endParaRPr>
          </a:p>
        </p:txBody>
      </p:sp>
      <p:sp>
        <p:nvSpPr>
          <p:cNvPr id="790" name="Google Shape;790;p18"/>
          <p:cNvSpPr/>
          <p:nvPr/>
        </p:nvSpPr>
        <p:spPr>
          <a:xfrm>
            <a:off x="2258568" y="3719779"/>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20</a:t>
            </a:r>
            <a:endParaRPr b="0" i="0" sz="820" u="none" cap="none" strike="noStrike">
              <a:solidFill>
                <a:schemeClr val="dk1"/>
              </a:solidFill>
              <a:latin typeface="Calibri"/>
              <a:ea typeface="Calibri"/>
              <a:cs typeface="Calibri"/>
              <a:sym typeface="Calibri"/>
            </a:endParaRPr>
          </a:p>
        </p:txBody>
      </p:sp>
      <p:sp>
        <p:nvSpPr>
          <p:cNvPr id="791" name="Google Shape;791;p18"/>
          <p:cNvSpPr/>
          <p:nvPr/>
        </p:nvSpPr>
        <p:spPr>
          <a:xfrm>
            <a:off x="2788920" y="3719779"/>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792" name="Google Shape;792;p18"/>
          <p:cNvSpPr/>
          <p:nvPr/>
        </p:nvSpPr>
        <p:spPr>
          <a:xfrm>
            <a:off x="2990088" y="3719779"/>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£1.00–£3.50</a:t>
            </a:r>
            <a:endParaRPr b="0" i="0" sz="760" u="none" cap="none" strike="noStrike">
              <a:solidFill>
                <a:schemeClr val="dk1"/>
              </a:solidFill>
              <a:latin typeface="Calibri"/>
              <a:ea typeface="Calibri"/>
              <a:cs typeface="Calibri"/>
              <a:sym typeface="Calibri"/>
            </a:endParaRPr>
          </a:p>
        </p:txBody>
      </p:sp>
      <p:sp>
        <p:nvSpPr>
          <p:cNvPr id="793" name="Google Shape;793;p18"/>
          <p:cNvSpPr/>
          <p:nvPr/>
        </p:nvSpPr>
        <p:spPr>
          <a:xfrm>
            <a:off x="502920" y="4080053"/>
            <a:ext cx="3584448" cy="283464"/>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18"/>
          <p:cNvSpPr/>
          <p:nvPr/>
        </p:nvSpPr>
        <p:spPr>
          <a:xfrm>
            <a:off x="612648" y="4080053"/>
            <a:ext cx="3401568" cy="2834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Poppins"/>
              <a:buNone/>
            </a:pPr>
            <a:r>
              <a:rPr b="1" i="0" lang="en-US" sz="1050" u="none" cap="none" strike="noStrike">
                <a:solidFill>
                  <a:srgbClr val="FFFFFF"/>
                </a:solidFill>
                <a:latin typeface="Poppins"/>
                <a:ea typeface="Poppins"/>
                <a:cs typeface="Poppins"/>
                <a:sym typeface="Poppins"/>
              </a:rPr>
              <a:t>2  Non-Surgical Facelift</a:t>
            </a:r>
            <a:endParaRPr b="0" i="0" sz="1050" u="none" cap="none" strike="noStrike">
              <a:solidFill>
                <a:schemeClr val="dk1"/>
              </a:solidFill>
              <a:latin typeface="Calibri"/>
              <a:ea typeface="Calibri"/>
              <a:cs typeface="Calibri"/>
              <a:sym typeface="Calibri"/>
            </a:endParaRPr>
          </a:p>
        </p:txBody>
      </p:sp>
      <p:sp>
        <p:nvSpPr>
          <p:cNvPr id="795" name="Google Shape;795;p18"/>
          <p:cNvSpPr/>
          <p:nvPr/>
        </p:nvSpPr>
        <p:spPr>
          <a:xfrm>
            <a:off x="502920" y="4363517"/>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18"/>
          <p:cNvSpPr/>
          <p:nvPr/>
        </p:nvSpPr>
        <p:spPr>
          <a:xfrm>
            <a:off x="594360" y="4363517"/>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non surgical facelift</a:t>
            </a:r>
            <a:endParaRPr b="0" i="0" sz="880" u="none" cap="none" strike="noStrike">
              <a:solidFill>
                <a:schemeClr val="dk1"/>
              </a:solidFill>
              <a:latin typeface="Calibri"/>
              <a:ea typeface="Calibri"/>
              <a:cs typeface="Calibri"/>
              <a:sym typeface="Calibri"/>
            </a:endParaRPr>
          </a:p>
        </p:txBody>
      </p:sp>
      <p:sp>
        <p:nvSpPr>
          <p:cNvPr id="797" name="Google Shape;797;p18"/>
          <p:cNvSpPr/>
          <p:nvPr/>
        </p:nvSpPr>
        <p:spPr>
          <a:xfrm>
            <a:off x="2258568" y="4363517"/>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1,300</a:t>
            </a:r>
            <a:endParaRPr b="0" i="0" sz="820" u="none" cap="none" strike="noStrike">
              <a:solidFill>
                <a:schemeClr val="dk1"/>
              </a:solidFill>
              <a:latin typeface="Calibri"/>
              <a:ea typeface="Calibri"/>
              <a:cs typeface="Calibri"/>
              <a:sym typeface="Calibri"/>
            </a:endParaRPr>
          </a:p>
        </p:txBody>
      </p:sp>
      <p:sp>
        <p:nvSpPr>
          <p:cNvPr id="798" name="Google Shape;798;p18"/>
          <p:cNvSpPr/>
          <p:nvPr/>
        </p:nvSpPr>
        <p:spPr>
          <a:xfrm>
            <a:off x="2788920" y="4363517"/>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799" name="Google Shape;799;p18"/>
          <p:cNvSpPr/>
          <p:nvPr/>
        </p:nvSpPr>
        <p:spPr>
          <a:xfrm>
            <a:off x="2990088" y="4363517"/>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£1.50–£5.00</a:t>
            </a:r>
            <a:endParaRPr b="0" i="0" sz="760" u="none" cap="none" strike="noStrike">
              <a:solidFill>
                <a:schemeClr val="dk1"/>
              </a:solidFill>
              <a:latin typeface="Calibri"/>
              <a:ea typeface="Calibri"/>
              <a:cs typeface="Calibri"/>
              <a:sym typeface="Calibri"/>
            </a:endParaRPr>
          </a:p>
        </p:txBody>
      </p:sp>
      <p:sp>
        <p:nvSpPr>
          <p:cNvPr id="800" name="Google Shape;800;p18"/>
          <p:cNvSpPr/>
          <p:nvPr/>
        </p:nvSpPr>
        <p:spPr>
          <a:xfrm>
            <a:off x="502920" y="4595774"/>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18"/>
          <p:cNvSpPr/>
          <p:nvPr/>
        </p:nvSpPr>
        <p:spPr>
          <a:xfrm>
            <a:off x="594360" y="4595774"/>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non surgical face lift london</a:t>
            </a:r>
            <a:endParaRPr b="0" i="0" sz="880" u="none" cap="none" strike="noStrike">
              <a:solidFill>
                <a:schemeClr val="dk1"/>
              </a:solidFill>
              <a:latin typeface="Calibri"/>
              <a:ea typeface="Calibri"/>
              <a:cs typeface="Calibri"/>
              <a:sym typeface="Calibri"/>
            </a:endParaRPr>
          </a:p>
        </p:txBody>
      </p:sp>
      <p:sp>
        <p:nvSpPr>
          <p:cNvPr id="802" name="Google Shape;802;p18"/>
          <p:cNvSpPr/>
          <p:nvPr/>
        </p:nvSpPr>
        <p:spPr>
          <a:xfrm>
            <a:off x="2258568" y="4595774"/>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170</a:t>
            </a:r>
            <a:endParaRPr b="0" i="0" sz="820" u="none" cap="none" strike="noStrike">
              <a:solidFill>
                <a:schemeClr val="dk1"/>
              </a:solidFill>
              <a:latin typeface="Calibri"/>
              <a:ea typeface="Calibri"/>
              <a:cs typeface="Calibri"/>
              <a:sym typeface="Calibri"/>
            </a:endParaRPr>
          </a:p>
        </p:txBody>
      </p:sp>
      <p:sp>
        <p:nvSpPr>
          <p:cNvPr id="803" name="Google Shape;803;p18"/>
          <p:cNvSpPr/>
          <p:nvPr/>
        </p:nvSpPr>
        <p:spPr>
          <a:xfrm>
            <a:off x="2788920" y="4595774"/>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804" name="Google Shape;804;p18"/>
          <p:cNvSpPr/>
          <p:nvPr/>
        </p:nvSpPr>
        <p:spPr>
          <a:xfrm>
            <a:off x="2990088" y="4595774"/>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£2.00–£6.50</a:t>
            </a:r>
            <a:endParaRPr b="0" i="0" sz="760" u="none" cap="none" strike="noStrike">
              <a:solidFill>
                <a:schemeClr val="dk1"/>
              </a:solidFill>
              <a:latin typeface="Calibri"/>
              <a:ea typeface="Calibri"/>
              <a:cs typeface="Calibri"/>
              <a:sym typeface="Calibri"/>
            </a:endParaRPr>
          </a:p>
        </p:txBody>
      </p:sp>
      <p:sp>
        <p:nvSpPr>
          <p:cNvPr id="805" name="Google Shape;805;p18"/>
          <p:cNvSpPr/>
          <p:nvPr/>
        </p:nvSpPr>
        <p:spPr>
          <a:xfrm>
            <a:off x="502920" y="4828032"/>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18"/>
          <p:cNvSpPr/>
          <p:nvPr/>
        </p:nvSpPr>
        <p:spPr>
          <a:xfrm>
            <a:off x="594360" y="4828032"/>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facelift without surgery</a:t>
            </a:r>
            <a:endParaRPr b="0" i="0" sz="880" u="none" cap="none" strike="noStrike">
              <a:solidFill>
                <a:schemeClr val="dk1"/>
              </a:solidFill>
              <a:latin typeface="Calibri"/>
              <a:ea typeface="Calibri"/>
              <a:cs typeface="Calibri"/>
              <a:sym typeface="Calibri"/>
            </a:endParaRPr>
          </a:p>
        </p:txBody>
      </p:sp>
      <p:sp>
        <p:nvSpPr>
          <p:cNvPr id="807" name="Google Shape;807;p18"/>
          <p:cNvSpPr/>
          <p:nvPr/>
        </p:nvSpPr>
        <p:spPr>
          <a:xfrm>
            <a:off x="2258568" y="4828032"/>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140</a:t>
            </a:r>
            <a:endParaRPr b="0" i="0" sz="820" u="none" cap="none" strike="noStrike">
              <a:solidFill>
                <a:schemeClr val="dk1"/>
              </a:solidFill>
              <a:latin typeface="Calibri"/>
              <a:ea typeface="Calibri"/>
              <a:cs typeface="Calibri"/>
              <a:sym typeface="Calibri"/>
            </a:endParaRPr>
          </a:p>
        </p:txBody>
      </p:sp>
      <p:sp>
        <p:nvSpPr>
          <p:cNvPr id="808" name="Google Shape;808;p18"/>
          <p:cNvSpPr/>
          <p:nvPr/>
        </p:nvSpPr>
        <p:spPr>
          <a:xfrm>
            <a:off x="2788920" y="4828032"/>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809" name="Google Shape;809;p18"/>
          <p:cNvSpPr/>
          <p:nvPr/>
        </p:nvSpPr>
        <p:spPr>
          <a:xfrm>
            <a:off x="2990088" y="4828032"/>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£1.30–£4.20</a:t>
            </a:r>
            <a:endParaRPr b="0" i="0" sz="760" u="none" cap="none" strike="noStrike">
              <a:solidFill>
                <a:schemeClr val="dk1"/>
              </a:solidFill>
              <a:latin typeface="Calibri"/>
              <a:ea typeface="Calibri"/>
              <a:cs typeface="Calibri"/>
              <a:sym typeface="Calibri"/>
            </a:endParaRPr>
          </a:p>
        </p:txBody>
      </p:sp>
      <p:sp>
        <p:nvSpPr>
          <p:cNvPr id="810" name="Google Shape;810;p18"/>
          <p:cNvSpPr/>
          <p:nvPr/>
        </p:nvSpPr>
        <p:spPr>
          <a:xfrm>
            <a:off x="502920" y="5060290"/>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18"/>
          <p:cNvSpPr/>
          <p:nvPr/>
        </p:nvSpPr>
        <p:spPr>
          <a:xfrm>
            <a:off x="594360" y="5060290"/>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non surgical facelift near me</a:t>
            </a:r>
            <a:endParaRPr b="0" i="0" sz="880" u="none" cap="none" strike="noStrike">
              <a:solidFill>
                <a:schemeClr val="dk1"/>
              </a:solidFill>
              <a:latin typeface="Calibri"/>
              <a:ea typeface="Calibri"/>
              <a:cs typeface="Calibri"/>
              <a:sym typeface="Calibri"/>
            </a:endParaRPr>
          </a:p>
        </p:txBody>
      </p:sp>
      <p:sp>
        <p:nvSpPr>
          <p:cNvPr id="812" name="Google Shape;812;p18"/>
          <p:cNvSpPr/>
          <p:nvPr/>
        </p:nvSpPr>
        <p:spPr>
          <a:xfrm>
            <a:off x="2258568" y="5060290"/>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110</a:t>
            </a:r>
            <a:endParaRPr b="0" i="0" sz="820" u="none" cap="none" strike="noStrike">
              <a:solidFill>
                <a:schemeClr val="dk1"/>
              </a:solidFill>
              <a:latin typeface="Calibri"/>
              <a:ea typeface="Calibri"/>
              <a:cs typeface="Calibri"/>
              <a:sym typeface="Calibri"/>
            </a:endParaRPr>
          </a:p>
        </p:txBody>
      </p:sp>
      <p:sp>
        <p:nvSpPr>
          <p:cNvPr id="813" name="Google Shape;813;p18"/>
          <p:cNvSpPr/>
          <p:nvPr/>
        </p:nvSpPr>
        <p:spPr>
          <a:xfrm>
            <a:off x="2788920" y="5060290"/>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814" name="Google Shape;814;p18"/>
          <p:cNvSpPr/>
          <p:nvPr/>
        </p:nvSpPr>
        <p:spPr>
          <a:xfrm>
            <a:off x="2990088" y="5060290"/>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£1.80–£5.50</a:t>
            </a:r>
            <a:endParaRPr b="0" i="0" sz="760" u="none" cap="none" strike="noStrike">
              <a:solidFill>
                <a:schemeClr val="dk1"/>
              </a:solidFill>
              <a:latin typeface="Calibri"/>
              <a:ea typeface="Calibri"/>
              <a:cs typeface="Calibri"/>
              <a:sym typeface="Calibri"/>
            </a:endParaRPr>
          </a:p>
        </p:txBody>
      </p:sp>
      <p:sp>
        <p:nvSpPr>
          <p:cNvPr id="815" name="Google Shape;815;p18"/>
          <p:cNvSpPr/>
          <p:nvPr/>
        </p:nvSpPr>
        <p:spPr>
          <a:xfrm>
            <a:off x="502920" y="5292547"/>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18"/>
          <p:cNvSpPr/>
          <p:nvPr/>
        </p:nvSpPr>
        <p:spPr>
          <a:xfrm>
            <a:off x="594360" y="5292547"/>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non invasive facelift</a:t>
            </a:r>
            <a:endParaRPr b="0" i="0" sz="880" u="none" cap="none" strike="noStrike">
              <a:solidFill>
                <a:schemeClr val="dk1"/>
              </a:solidFill>
              <a:latin typeface="Calibri"/>
              <a:ea typeface="Calibri"/>
              <a:cs typeface="Calibri"/>
              <a:sym typeface="Calibri"/>
            </a:endParaRPr>
          </a:p>
        </p:txBody>
      </p:sp>
      <p:sp>
        <p:nvSpPr>
          <p:cNvPr id="817" name="Google Shape;817;p18"/>
          <p:cNvSpPr/>
          <p:nvPr/>
        </p:nvSpPr>
        <p:spPr>
          <a:xfrm>
            <a:off x="2258568" y="5292547"/>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70</a:t>
            </a:r>
            <a:endParaRPr b="0" i="0" sz="820" u="none" cap="none" strike="noStrike">
              <a:solidFill>
                <a:schemeClr val="dk1"/>
              </a:solidFill>
              <a:latin typeface="Calibri"/>
              <a:ea typeface="Calibri"/>
              <a:cs typeface="Calibri"/>
              <a:sym typeface="Calibri"/>
            </a:endParaRPr>
          </a:p>
        </p:txBody>
      </p:sp>
      <p:sp>
        <p:nvSpPr>
          <p:cNvPr id="818" name="Google Shape;818;p18"/>
          <p:cNvSpPr/>
          <p:nvPr/>
        </p:nvSpPr>
        <p:spPr>
          <a:xfrm>
            <a:off x="2788920" y="5292547"/>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819" name="Google Shape;819;p18"/>
          <p:cNvSpPr/>
          <p:nvPr/>
        </p:nvSpPr>
        <p:spPr>
          <a:xfrm>
            <a:off x="2990088" y="5292547"/>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£1.40–£4.00</a:t>
            </a:r>
            <a:endParaRPr b="0" i="0" sz="760" u="none" cap="none" strike="noStrike">
              <a:solidFill>
                <a:schemeClr val="dk1"/>
              </a:solidFill>
              <a:latin typeface="Calibri"/>
              <a:ea typeface="Calibri"/>
              <a:cs typeface="Calibri"/>
              <a:sym typeface="Calibri"/>
            </a:endParaRPr>
          </a:p>
        </p:txBody>
      </p:sp>
      <p:sp>
        <p:nvSpPr>
          <p:cNvPr id="820" name="Google Shape;820;p18"/>
          <p:cNvSpPr/>
          <p:nvPr/>
        </p:nvSpPr>
        <p:spPr>
          <a:xfrm>
            <a:off x="502920" y="5524805"/>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18"/>
          <p:cNvSpPr/>
          <p:nvPr/>
        </p:nvSpPr>
        <p:spPr>
          <a:xfrm>
            <a:off x="594360" y="5524805"/>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non surgical face lifting treatment</a:t>
            </a:r>
            <a:endParaRPr b="0" i="0" sz="880" u="none" cap="none" strike="noStrike">
              <a:solidFill>
                <a:schemeClr val="dk1"/>
              </a:solidFill>
              <a:latin typeface="Calibri"/>
              <a:ea typeface="Calibri"/>
              <a:cs typeface="Calibri"/>
              <a:sym typeface="Calibri"/>
            </a:endParaRPr>
          </a:p>
        </p:txBody>
      </p:sp>
      <p:sp>
        <p:nvSpPr>
          <p:cNvPr id="822" name="Google Shape;822;p18"/>
          <p:cNvSpPr/>
          <p:nvPr/>
        </p:nvSpPr>
        <p:spPr>
          <a:xfrm>
            <a:off x="2258568" y="5524805"/>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40</a:t>
            </a:r>
            <a:endParaRPr b="0" i="0" sz="820" u="none" cap="none" strike="noStrike">
              <a:solidFill>
                <a:schemeClr val="dk1"/>
              </a:solidFill>
              <a:latin typeface="Calibri"/>
              <a:ea typeface="Calibri"/>
              <a:cs typeface="Calibri"/>
              <a:sym typeface="Calibri"/>
            </a:endParaRPr>
          </a:p>
        </p:txBody>
      </p:sp>
      <p:sp>
        <p:nvSpPr>
          <p:cNvPr id="823" name="Google Shape;823;p18"/>
          <p:cNvSpPr/>
          <p:nvPr/>
        </p:nvSpPr>
        <p:spPr>
          <a:xfrm>
            <a:off x="2788920" y="5524805"/>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824" name="Google Shape;824;p18"/>
          <p:cNvSpPr/>
          <p:nvPr/>
        </p:nvSpPr>
        <p:spPr>
          <a:xfrm>
            <a:off x="2990088" y="5524805"/>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£1.20–£3.80</a:t>
            </a:r>
            <a:endParaRPr b="0" i="0" sz="760" u="none" cap="none" strike="noStrike">
              <a:solidFill>
                <a:schemeClr val="dk1"/>
              </a:solidFill>
              <a:latin typeface="Calibri"/>
              <a:ea typeface="Calibri"/>
              <a:cs typeface="Calibri"/>
              <a:sym typeface="Calibri"/>
            </a:endParaRPr>
          </a:p>
        </p:txBody>
      </p:sp>
      <p:sp>
        <p:nvSpPr>
          <p:cNvPr id="825" name="Google Shape;825;p18"/>
          <p:cNvSpPr/>
          <p:nvPr/>
        </p:nvSpPr>
        <p:spPr>
          <a:xfrm>
            <a:off x="4224528" y="1810512"/>
            <a:ext cx="3584448" cy="283464"/>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18"/>
          <p:cNvSpPr/>
          <p:nvPr/>
        </p:nvSpPr>
        <p:spPr>
          <a:xfrm>
            <a:off x="4334256" y="1810512"/>
            <a:ext cx="3401568" cy="2834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Poppins"/>
              <a:buNone/>
            </a:pPr>
            <a:r>
              <a:rPr b="1" i="0" lang="en-US" sz="1050" u="none" cap="none" strike="noStrike">
                <a:solidFill>
                  <a:srgbClr val="FFFFFF"/>
                </a:solidFill>
                <a:latin typeface="Poppins"/>
                <a:ea typeface="Poppins"/>
                <a:cs typeface="Poppins"/>
                <a:sym typeface="Poppins"/>
              </a:rPr>
              <a:t>3  Facial Skin Tightening</a:t>
            </a:r>
            <a:endParaRPr b="0" i="0" sz="1050" u="none" cap="none" strike="noStrike">
              <a:solidFill>
                <a:schemeClr val="dk1"/>
              </a:solidFill>
              <a:latin typeface="Calibri"/>
              <a:ea typeface="Calibri"/>
              <a:cs typeface="Calibri"/>
              <a:sym typeface="Calibri"/>
            </a:endParaRPr>
          </a:p>
        </p:txBody>
      </p:sp>
      <p:sp>
        <p:nvSpPr>
          <p:cNvPr id="827" name="Google Shape;827;p18"/>
          <p:cNvSpPr/>
          <p:nvPr/>
        </p:nvSpPr>
        <p:spPr>
          <a:xfrm>
            <a:off x="4224528" y="2093976"/>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18"/>
          <p:cNvSpPr/>
          <p:nvPr/>
        </p:nvSpPr>
        <p:spPr>
          <a:xfrm>
            <a:off x="4315968" y="2093976"/>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skin tightening face</a:t>
            </a:r>
            <a:endParaRPr b="0" i="0" sz="880" u="none" cap="none" strike="noStrike">
              <a:solidFill>
                <a:schemeClr val="dk1"/>
              </a:solidFill>
              <a:latin typeface="Calibri"/>
              <a:ea typeface="Calibri"/>
              <a:cs typeface="Calibri"/>
              <a:sym typeface="Calibri"/>
            </a:endParaRPr>
          </a:p>
        </p:txBody>
      </p:sp>
      <p:sp>
        <p:nvSpPr>
          <p:cNvPr id="829" name="Google Shape;829;p18"/>
          <p:cNvSpPr/>
          <p:nvPr/>
        </p:nvSpPr>
        <p:spPr>
          <a:xfrm>
            <a:off x="5980176" y="2093976"/>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880</a:t>
            </a:r>
            <a:endParaRPr b="0" i="0" sz="820" u="none" cap="none" strike="noStrike">
              <a:solidFill>
                <a:schemeClr val="dk1"/>
              </a:solidFill>
              <a:latin typeface="Calibri"/>
              <a:ea typeface="Calibri"/>
              <a:cs typeface="Calibri"/>
              <a:sym typeface="Calibri"/>
            </a:endParaRPr>
          </a:p>
        </p:txBody>
      </p:sp>
      <p:sp>
        <p:nvSpPr>
          <p:cNvPr id="830" name="Google Shape;830;p18"/>
          <p:cNvSpPr/>
          <p:nvPr/>
        </p:nvSpPr>
        <p:spPr>
          <a:xfrm>
            <a:off x="6510528" y="2093976"/>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831" name="Google Shape;831;p18"/>
          <p:cNvSpPr/>
          <p:nvPr/>
        </p:nvSpPr>
        <p:spPr>
          <a:xfrm>
            <a:off x="6711696" y="2093976"/>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£0.90–£3.00</a:t>
            </a:r>
            <a:endParaRPr b="0" i="0" sz="760" u="none" cap="none" strike="noStrike">
              <a:solidFill>
                <a:schemeClr val="dk1"/>
              </a:solidFill>
              <a:latin typeface="Calibri"/>
              <a:ea typeface="Calibri"/>
              <a:cs typeface="Calibri"/>
              <a:sym typeface="Calibri"/>
            </a:endParaRPr>
          </a:p>
        </p:txBody>
      </p:sp>
      <p:sp>
        <p:nvSpPr>
          <p:cNvPr id="832" name="Google Shape;832;p18"/>
          <p:cNvSpPr/>
          <p:nvPr/>
        </p:nvSpPr>
        <p:spPr>
          <a:xfrm>
            <a:off x="4224528" y="2326234"/>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18"/>
          <p:cNvSpPr/>
          <p:nvPr/>
        </p:nvSpPr>
        <p:spPr>
          <a:xfrm>
            <a:off x="4315968" y="2326234"/>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face tightening treatment</a:t>
            </a:r>
            <a:endParaRPr b="0" i="0" sz="880" u="none" cap="none" strike="noStrike">
              <a:solidFill>
                <a:schemeClr val="dk1"/>
              </a:solidFill>
              <a:latin typeface="Calibri"/>
              <a:ea typeface="Calibri"/>
              <a:cs typeface="Calibri"/>
              <a:sym typeface="Calibri"/>
            </a:endParaRPr>
          </a:p>
        </p:txBody>
      </p:sp>
      <p:sp>
        <p:nvSpPr>
          <p:cNvPr id="834" name="Google Shape;834;p18"/>
          <p:cNvSpPr/>
          <p:nvPr/>
        </p:nvSpPr>
        <p:spPr>
          <a:xfrm>
            <a:off x="5980176" y="2326234"/>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480</a:t>
            </a:r>
            <a:endParaRPr b="0" i="0" sz="820" u="none" cap="none" strike="noStrike">
              <a:solidFill>
                <a:schemeClr val="dk1"/>
              </a:solidFill>
              <a:latin typeface="Calibri"/>
              <a:ea typeface="Calibri"/>
              <a:cs typeface="Calibri"/>
              <a:sym typeface="Calibri"/>
            </a:endParaRPr>
          </a:p>
        </p:txBody>
      </p:sp>
      <p:sp>
        <p:nvSpPr>
          <p:cNvPr id="835" name="Google Shape;835;p18"/>
          <p:cNvSpPr/>
          <p:nvPr/>
        </p:nvSpPr>
        <p:spPr>
          <a:xfrm>
            <a:off x="6510528" y="2326234"/>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836" name="Google Shape;836;p18"/>
          <p:cNvSpPr/>
          <p:nvPr/>
        </p:nvSpPr>
        <p:spPr>
          <a:xfrm>
            <a:off x="6711696" y="2326234"/>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£1.00–£3.20</a:t>
            </a:r>
            <a:endParaRPr b="0" i="0" sz="760" u="none" cap="none" strike="noStrike">
              <a:solidFill>
                <a:schemeClr val="dk1"/>
              </a:solidFill>
              <a:latin typeface="Calibri"/>
              <a:ea typeface="Calibri"/>
              <a:cs typeface="Calibri"/>
              <a:sym typeface="Calibri"/>
            </a:endParaRPr>
          </a:p>
        </p:txBody>
      </p:sp>
      <p:sp>
        <p:nvSpPr>
          <p:cNvPr id="837" name="Google Shape;837;p18"/>
          <p:cNvSpPr/>
          <p:nvPr/>
        </p:nvSpPr>
        <p:spPr>
          <a:xfrm>
            <a:off x="4224528" y="2558491"/>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18"/>
          <p:cNvSpPr/>
          <p:nvPr/>
        </p:nvSpPr>
        <p:spPr>
          <a:xfrm>
            <a:off x="4315968" y="2558491"/>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skin tightening london</a:t>
            </a:r>
            <a:endParaRPr b="0" i="0" sz="880" u="none" cap="none" strike="noStrike">
              <a:solidFill>
                <a:schemeClr val="dk1"/>
              </a:solidFill>
              <a:latin typeface="Calibri"/>
              <a:ea typeface="Calibri"/>
              <a:cs typeface="Calibri"/>
              <a:sym typeface="Calibri"/>
            </a:endParaRPr>
          </a:p>
        </p:txBody>
      </p:sp>
      <p:sp>
        <p:nvSpPr>
          <p:cNvPr id="839" name="Google Shape;839;p18"/>
          <p:cNvSpPr/>
          <p:nvPr/>
        </p:nvSpPr>
        <p:spPr>
          <a:xfrm>
            <a:off x="5980176" y="2558491"/>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320</a:t>
            </a:r>
            <a:endParaRPr b="0" i="0" sz="820" u="none" cap="none" strike="noStrike">
              <a:solidFill>
                <a:schemeClr val="dk1"/>
              </a:solidFill>
              <a:latin typeface="Calibri"/>
              <a:ea typeface="Calibri"/>
              <a:cs typeface="Calibri"/>
              <a:sym typeface="Calibri"/>
            </a:endParaRPr>
          </a:p>
        </p:txBody>
      </p:sp>
      <p:sp>
        <p:nvSpPr>
          <p:cNvPr id="840" name="Google Shape;840;p18"/>
          <p:cNvSpPr/>
          <p:nvPr/>
        </p:nvSpPr>
        <p:spPr>
          <a:xfrm>
            <a:off x="6510528" y="2558491"/>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841" name="Google Shape;841;p18"/>
          <p:cNvSpPr/>
          <p:nvPr/>
        </p:nvSpPr>
        <p:spPr>
          <a:xfrm>
            <a:off x="6711696" y="2558491"/>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£1.40–£4.50</a:t>
            </a:r>
            <a:endParaRPr b="0" i="0" sz="760" u="none" cap="none" strike="noStrike">
              <a:solidFill>
                <a:schemeClr val="dk1"/>
              </a:solidFill>
              <a:latin typeface="Calibri"/>
              <a:ea typeface="Calibri"/>
              <a:cs typeface="Calibri"/>
              <a:sym typeface="Calibri"/>
            </a:endParaRPr>
          </a:p>
        </p:txBody>
      </p:sp>
      <p:sp>
        <p:nvSpPr>
          <p:cNvPr id="842" name="Google Shape;842;p18"/>
          <p:cNvSpPr/>
          <p:nvPr/>
        </p:nvSpPr>
        <p:spPr>
          <a:xfrm>
            <a:off x="4224528" y="2790749"/>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18"/>
          <p:cNvSpPr/>
          <p:nvPr/>
        </p:nvSpPr>
        <p:spPr>
          <a:xfrm>
            <a:off x="4315968" y="2790749"/>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facial skin tightening</a:t>
            </a:r>
            <a:endParaRPr b="0" i="0" sz="880" u="none" cap="none" strike="noStrike">
              <a:solidFill>
                <a:schemeClr val="dk1"/>
              </a:solidFill>
              <a:latin typeface="Calibri"/>
              <a:ea typeface="Calibri"/>
              <a:cs typeface="Calibri"/>
              <a:sym typeface="Calibri"/>
            </a:endParaRPr>
          </a:p>
        </p:txBody>
      </p:sp>
      <p:sp>
        <p:nvSpPr>
          <p:cNvPr id="844" name="Google Shape;844;p18"/>
          <p:cNvSpPr/>
          <p:nvPr/>
        </p:nvSpPr>
        <p:spPr>
          <a:xfrm>
            <a:off x="5980176" y="2790749"/>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210</a:t>
            </a:r>
            <a:endParaRPr b="0" i="0" sz="820" u="none" cap="none" strike="noStrike">
              <a:solidFill>
                <a:schemeClr val="dk1"/>
              </a:solidFill>
              <a:latin typeface="Calibri"/>
              <a:ea typeface="Calibri"/>
              <a:cs typeface="Calibri"/>
              <a:sym typeface="Calibri"/>
            </a:endParaRPr>
          </a:p>
        </p:txBody>
      </p:sp>
      <p:sp>
        <p:nvSpPr>
          <p:cNvPr id="845" name="Google Shape;845;p18"/>
          <p:cNvSpPr/>
          <p:nvPr/>
        </p:nvSpPr>
        <p:spPr>
          <a:xfrm>
            <a:off x="6510528" y="2790749"/>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846" name="Google Shape;846;p18"/>
          <p:cNvSpPr/>
          <p:nvPr/>
        </p:nvSpPr>
        <p:spPr>
          <a:xfrm>
            <a:off x="6711696" y="2790749"/>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£0.95–£3.10</a:t>
            </a:r>
            <a:endParaRPr b="0" i="0" sz="760" u="none" cap="none" strike="noStrike">
              <a:solidFill>
                <a:schemeClr val="dk1"/>
              </a:solidFill>
              <a:latin typeface="Calibri"/>
              <a:ea typeface="Calibri"/>
              <a:cs typeface="Calibri"/>
              <a:sym typeface="Calibri"/>
            </a:endParaRPr>
          </a:p>
        </p:txBody>
      </p:sp>
      <p:sp>
        <p:nvSpPr>
          <p:cNvPr id="847" name="Google Shape;847;p18"/>
          <p:cNvSpPr/>
          <p:nvPr/>
        </p:nvSpPr>
        <p:spPr>
          <a:xfrm>
            <a:off x="4224528" y="3023006"/>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18"/>
          <p:cNvSpPr/>
          <p:nvPr/>
        </p:nvSpPr>
        <p:spPr>
          <a:xfrm>
            <a:off x="4315968" y="3023006"/>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skin tightening treatment near me</a:t>
            </a:r>
            <a:endParaRPr b="0" i="0" sz="880" u="none" cap="none" strike="noStrike">
              <a:solidFill>
                <a:schemeClr val="dk1"/>
              </a:solidFill>
              <a:latin typeface="Calibri"/>
              <a:ea typeface="Calibri"/>
              <a:cs typeface="Calibri"/>
              <a:sym typeface="Calibri"/>
            </a:endParaRPr>
          </a:p>
        </p:txBody>
      </p:sp>
      <p:sp>
        <p:nvSpPr>
          <p:cNvPr id="849" name="Google Shape;849;p18"/>
          <p:cNvSpPr/>
          <p:nvPr/>
        </p:nvSpPr>
        <p:spPr>
          <a:xfrm>
            <a:off x="5980176" y="3023006"/>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170</a:t>
            </a:r>
            <a:endParaRPr b="0" i="0" sz="820" u="none" cap="none" strike="noStrike">
              <a:solidFill>
                <a:schemeClr val="dk1"/>
              </a:solidFill>
              <a:latin typeface="Calibri"/>
              <a:ea typeface="Calibri"/>
              <a:cs typeface="Calibri"/>
              <a:sym typeface="Calibri"/>
            </a:endParaRPr>
          </a:p>
        </p:txBody>
      </p:sp>
      <p:sp>
        <p:nvSpPr>
          <p:cNvPr id="850" name="Google Shape;850;p18"/>
          <p:cNvSpPr/>
          <p:nvPr/>
        </p:nvSpPr>
        <p:spPr>
          <a:xfrm>
            <a:off x="6510528" y="3023006"/>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851" name="Google Shape;851;p18"/>
          <p:cNvSpPr/>
          <p:nvPr/>
        </p:nvSpPr>
        <p:spPr>
          <a:xfrm>
            <a:off x="6711696" y="3023006"/>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£1.30–£4.00</a:t>
            </a:r>
            <a:endParaRPr b="0" i="0" sz="760" u="none" cap="none" strike="noStrike">
              <a:solidFill>
                <a:schemeClr val="dk1"/>
              </a:solidFill>
              <a:latin typeface="Calibri"/>
              <a:ea typeface="Calibri"/>
              <a:cs typeface="Calibri"/>
              <a:sym typeface="Calibri"/>
            </a:endParaRPr>
          </a:p>
        </p:txBody>
      </p:sp>
      <p:sp>
        <p:nvSpPr>
          <p:cNvPr id="852" name="Google Shape;852;p18"/>
          <p:cNvSpPr/>
          <p:nvPr/>
        </p:nvSpPr>
        <p:spPr>
          <a:xfrm>
            <a:off x="4224528" y="3255264"/>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18"/>
          <p:cNvSpPr/>
          <p:nvPr/>
        </p:nvSpPr>
        <p:spPr>
          <a:xfrm>
            <a:off x="4315968" y="3255264"/>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radiofrequency facial london</a:t>
            </a:r>
            <a:endParaRPr b="0" i="0" sz="880" u="none" cap="none" strike="noStrike">
              <a:solidFill>
                <a:schemeClr val="dk1"/>
              </a:solidFill>
              <a:latin typeface="Calibri"/>
              <a:ea typeface="Calibri"/>
              <a:cs typeface="Calibri"/>
              <a:sym typeface="Calibri"/>
            </a:endParaRPr>
          </a:p>
        </p:txBody>
      </p:sp>
      <p:sp>
        <p:nvSpPr>
          <p:cNvPr id="854" name="Google Shape;854;p18"/>
          <p:cNvSpPr/>
          <p:nvPr/>
        </p:nvSpPr>
        <p:spPr>
          <a:xfrm>
            <a:off x="5980176" y="3255264"/>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90</a:t>
            </a:r>
            <a:endParaRPr b="0" i="0" sz="820" u="none" cap="none" strike="noStrike">
              <a:solidFill>
                <a:schemeClr val="dk1"/>
              </a:solidFill>
              <a:latin typeface="Calibri"/>
              <a:ea typeface="Calibri"/>
              <a:cs typeface="Calibri"/>
              <a:sym typeface="Calibri"/>
            </a:endParaRPr>
          </a:p>
        </p:txBody>
      </p:sp>
      <p:sp>
        <p:nvSpPr>
          <p:cNvPr id="855" name="Google Shape;855;p18"/>
          <p:cNvSpPr/>
          <p:nvPr/>
        </p:nvSpPr>
        <p:spPr>
          <a:xfrm>
            <a:off x="6510528" y="3255264"/>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856" name="Google Shape;856;p18"/>
          <p:cNvSpPr/>
          <p:nvPr/>
        </p:nvSpPr>
        <p:spPr>
          <a:xfrm>
            <a:off x="6711696" y="3255264"/>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£1.10–£3.40</a:t>
            </a:r>
            <a:endParaRPr b="0" i="0" sz="760" u="none" cap="none" strike="noStrike">
              <a:solidFill>
                <a:schemeClr val="dk1"/>
              </a:solidFill>
              <a:latin typeface="Calibri"/>
              <a:ea typeface="Calibri"/>
              <a:cs typeface="Calibri"/>
              <a:sym typeface="Calibri"/>
            </a:endParaRPr>
          </a:p>
        </p:txBody>
      </p:sp>
      <p:sp>
        <p:nvSpPr>
          <p:cNvPr id="857" name="Google Shape;857;p18"/>
          <p:cNvSpPr/>
          <p:nvPr/>
        </p:nvSpPr>
        <p:spPr>
          <a:xfrm>
            <a:off x="4224528" y="3487522"/>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18"/>
          <p:cNvSpPr/>
          <p:nvPr/>
        </p:nvSpPr>
        <p:spPr>
          <a:xfrm>
            <a:off x="4315968" y="3487522"/>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collagen stimulating facial</a:t>
            </a:r>
            <a:endParaRPr b="0" i="0" sz="880" u="none" cap="none" strike="noStrike">
              <a:solidFill>
                <a:schemeClr val="dk1"/>
              </a:solidFill>
              <a:latin typeface="Calibri"/>
              <a:ea typeface="Calibri"/>
              <a:cs typeface="Calibri"/>
              <a:sym typeface="Calibri"/>
            </a:endParaRPr>
          </a:p>
        </p:txBody>
      </p:sp>
      <p:sp>
        <p:nvSpPr>
          <p:cNvPr id="859" name="Google Shape;859;p18"/>
          <p:cNvSpPr/>
          <p:nvPr/>
        </p:nvSpPr>
        <p:spPr>
          <a:xfrm>
            <a:off x="5980176" y="3487522"/>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50</a:t>
            </a:r>
            <a:endParaRPr b="0" i="0" sz="820" u="none" cap="none" strike="noStrike">
              <a:solidFill>
                <a:schemeClr val="dk1"/>
              </a:solidFill>
              <a:latin typeface="Calibri"/>
              <a:ea typeface="Calibri"/>
              <a:cs typeface="Calibri"/>
              <a:sym typeface="Calibri"/>
            </a:endParaRPr>
          </a:p>
        </p:txBody>
      </p:sp>
      <p:sp>
        <p:nvSpPr>
          <p:cNvPr id="860" name="Google Shape;860;p18"/>
          <p:cNvSpPr/>
          <p:nvPr/>
        </p:nvSpPr>
        <p:spPr>
          <a:xfrm>
            <a:off x="6510528" y="3487522"/>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861" name="Google Shape;861;p18"/>
          <p:cNvSpPr/>
          <p:nvPr/>
        </p:nvSpPr>
        <p:spPr>
          <a:xfrm>
            <a:off x="6711696" y="3487522"/>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£0.80–£2.60</a:t>
            </a:r>
            <a:endParaRPr b="0" i="0" sz="760" u="none" cap="none" strike="noStrike">
              <a:solidFill>
                <a:schemeClr val="dk1"/>
              </a:solidFill>
              <a:latin typeface="Calibri"/>
              <a:ea typeface="Calibri"/>
              <a:cs typeface="Calibri"/>
              <a:sym typeface="Calibri"/>
            </a:endParaRPr>
          </a:p>
        </p:txBody>
      </p:sp>
      <p:sp>
        <p:nvSpPr>
          <p:cNvPr id="862" name="Google Shape;862;p18"/>
          <p:cNvSpPr/>
          <p:nvPr/>
        </p:nvSpPr>
        <p:spPr>
          <a:xfrm>
            <a:off x="4224528" y="3719779"/>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18"/>
          <p:cNvSpPr/>
          <p:nvPr/>
        </p:nvSpPr>
        <p:spPr>
          <a:xfrm>
            <a:off x="4315968" y="3719779"/>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face firming treatment</a:t>
            </a:r>
            <a:endParaRPr b="0" i="0" sz="880" u="none" cap="none" strike="noStrike">
              <a:solidFill>
                <a:schemeClr val="dk1"/>
              </a:solidFill>
              <a:latin typeface="Calibri"/>
              <a:ea typeface="Calibri"/>
              <a:cs typeface="Calibri"/>
              <a:sym typeface="Calibri"/>
            </a:endParaRPr>
          </a:p>
        </p:txBody>
      </p:sp>
      <p:sp>
        <p:nvSpPr>
          <p:cNvPr id="864" name="Google Shape;864;p18"/>
          <p:cNvSpPr/>
          <p:nvPr/>
        </p:nvSpPr>
        <p:spPr>
          <a:xfrm>
            <a:off x="5980176" y="3719779"/>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40</a:t>
            </a:r>
            <a:endParaRPr b="0" i="0" sz="820" u="none" cap="none" strike="noStrike">
              <a:solidFill>
                <a:schemeClr val="dk1"/>
              </a:solidFill>
              <a:latin typeface="Calibri"/>
              <a:ea typeface="Calibri"/>
              <a:cs typeface="Calibri"/>
              <a:sym typeface="Calibri"/>
            </a:endParaRPr>
          </a:p>
        </p:txBody>
      </p:sp>
      <p:sp>
        <p:nvSpPr>
          <p:cNvPr id="865" name="Google Shape;865;p18"/>
          <p:cNvSpPr/>
          <p:nvPr/>
        </p:nvSpPr>
        <p:spPr>
          <a:xfrm>
            <a:off x="6510528" y="3719779"/>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866" name="Google Shape;866;p18"/>
          <p:cNvSpPr/>
          <p:nvPr/>
        </p:nvSpPr>
        <p:spPr>
          <a:xfrm>
            <a:off x="6711696" y="3719779"/>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£0.85–£2.80</a:t>
            </a:r>
            <a:endParaRPr b="0" i="0" sz="760" u="none" cap="none" strike="noStrike">
              <a:solidFill>
                <a:schemeClr val="dk1"/>
              </a:solidFill>
              <a:latin typeface="Calibri"/>
              <a:ea typeface="Calibri"/>
              <a:cs typeface="Calibri"/>
              <a:sym typeface="Calibri"/>
            </a:endParaRPr>
          </a:p>
        </p:txBody>
      </p:sp>
      <p:sp>
        <p:nvSpPr>
          <p:cNvPr id="867" name="Google Shape;867;p18"/>
          <p:cNvSpPr/>
          <p:nvPr/>
        </p:nvSpPr>
        <p:spPr>
          <a:xfrm>
            <a:off x="4224528" y="4080053"/>
            <a:ext cx="3584448" cy="283464"/>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18"/>
          <p:cNvSpPr/>
          <p:nvPr/>
        </p:nvSpPr>
        <p:spPr>
          <a:xfrm>
            <a:off x="4334256" y="4080053"/>
            <a:ext cx="3401568" cy="2834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Poppins"/>
              <a:buNone/>
            </a:pPr>
            <a:r>
              <a:rPr b="1" i="0" lang="en-US" sz="1050" u="none" cap="none" strike="noStrike">
                <a:solidFill>
                  <a:srgbClr val="FFFFFF"/>
                </a:solidFill>
                <a:latin typeface="Poppins"/>
                <a:ea typeface="Poppins"/>
                <a:cs typeface="Poppins"/>
                <a:sym typeface="Poppins"/>
              </a:rPr>
              <a:t>4  Jawline &amp; Jowls</a:t>
            </a:r>
            <a:endParaRPr b="0" i="0" sz="1050" u="none" cap="none" strike="noStrike">
              <a:solidFill>
                <a:schemeClr val="dk1"/>
              </a:solidFill>
              <a:latin typeface="Calibri"/>
              <a:ea typeface="Calibri"/>
              <a:cs typeface="Calibri"/>
              <a:sym typeface="Calibri"/>
            </a:endParaRPr>
          </a:p>
        </p:txBody>
      </p:sp>
      <p:sp>
        <p:nvSpPr>
          <p:cNvPr id="869" name="Google Shape;869;p18"/>
          <p:cNvSpPr/>
          <p:nvPr/>
        </p:nvSpPr>
        <p:spPr>
          <a:xfrm>
            <a:off x="4224528" y="4363517"/>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18"/>
          <p:cNvSpPr/>
          <p:nvPr/>
        </p:nvSpPr>
        <p:spPr>
          <a:xfrm>
            <a:off x="4315968" y="4363517"/>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jawline treatment</a:t>
            </a:r>
            <a:endParaRPr b="0" i="0" sz="880" u="none" cap="none" strike="noStrike">
              <a:solidFill>
                <a:schemeClr val="dk1"/>
              </a:solidFill>
              <a:latin typeface="Calibri"/>
              <a:ea typeface="Calibri"/>
              <a:cs typeface="Calibri"/>
              <a:sym typeface="Calibri"/>
            </a:endParaRPr>
          </a:p>
        </p:txBody>
      </p:sp>
      <p:sp>
        <p:nvSpPr>
          <p:cNvPr id="871" name="Google Shape;871;p18"/>
          <p:cNvSpPr/>
          <p:nvPr/>
        </p:nvSpPr>
        <p:spPr>
          <a:xfrm>
            <a:off x="5980176" y="4363517"/>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480</a:t>
            </a:r>
            <a:endParaRPr b="0" i="0" sz="820" u="none" cap="none" strike="noStrike">
              <a:solidFill>
                <a:schemeClr val="dk1"/>
              </a:solidFill>
              <a:latin typeface="Calibri"/>
              <a:ea typeface="Calibri"/>
              <a:cs typeface="Calibri"/>
              <a:sym typeface="Calibri"/>
            </a:endParaRPr>
          </a:p>
        </p:txBody>
      </p:sp>
      <p:sp>
        <p:nvSpPr>
          <p:cNvPr id="872" name="Google Shape;872;p18"/>
          <p:cNvSpPr/>
          <p:nvPr/>
        </p:nvSpPr>
        <p:spPr>
          <a:xfrm>
            <a:off x="6510528" y="4363517"/>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873" name="Google Shape;873;p18"/>
          <p:cNvSpPr/>
          <p:nvPr/>
        </p:nvSpPr>
        <p:spPr>
          <a:xfrm>
            <a:off x="6711696" y="4363517"/>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£1.20–£4.00</a:t>
            </a:r>
            <a:endParaRPr b="0" i="0" sz="760" u="none" cap="none" strike="noStrike">
              <a:solidFill>
                <a:schemeClr val="dk1"/>
              </a:solidFill>
              <a:latin typeface="Calibri"/>
              <a:ea typeface="Calibri"/>
              <a:cs typeface="Calibri"/>
              <a:sym typeface="Calibri"/>
            </a:endParaRPr>
          </a:p>
        </p:txBody>
      </p:sp>
      <p:sp>
        <p:nvSpPr>
          <p:cNvPr id="874" name="Google Shape;874;p18"/>
          <p:cNvSpPr/>
          <p:nvPr/>
        </p:nvSpPr>
        <p:spPr>
          <a:xfrm>
            <a:off x="4224528" y="4595774"/>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18"/>
          <p:cNvSpPr/>
          <p:nvPr/>
        </p:nvSpPr>
        <p:spPr>
          <a:xfrm>
            <a:off x="4315968" y="4595774"/>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jowls treatment</a:t>
            </a:r>
            <a:endParaRPr b="0" i="0" sz="880" u="none" cap="none" strike="noStrike">
              <a:solidFill>
                <a:schemeClr val="dk1"/>
              </a:solidFill>
              <a:latin typeface="Calibri"/>
              <a:ea typeface="Calibri"/>
              <a:cs typeface="Calibri"/>
              <a:sym typeface="Calibri"/>
            </a:endParaRPr>
          </a:p>
        </p:txBody>
      </p:sp>
      <p:sp>
        <p:nvSpPr>
          <p:cNvPr id="876" name="Google Shape;876;p18"/>
          <p:cNvSpPr/>
          <p:nvPr/>
        </p:nvSpPr>
        <p:spPr>
          <a:xfrm>
            <a:off x="5980176" y="4595774"/>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320</a:t>
            </a:r>
            <a:endParaRPr b="0" i="0" sz="820" u="none" cap="none" strike="noStrike">
              <a:solidFill>
                <a:schemeClr val="dk1"/>
              </a:solidFill>
              <a:latin typeface="Calibri"/>
              <a:ea typeface="Calibri"/>
              <a:cs typeface="Calibri"/>
              <a:sym typeface="Calibri"/>
            </a:endParaRPr>
          </a:p>
        </p:txBody>
      </p:sp>
      <p:sp>
        <p:nvSpPr>
          <p:cNvPr id="877" name="Google Shape;877;p18"/>
          <p:cNvSpPr/>
          <p:nvPr/>
        </p:nvSpPr>
        <p:spPr>
          <a:xfrm>
            <a:off x="6510528" y="4595774"/>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878" name="Google Shape;878;p18"/>
          <p:cNvSpPr/>
          <p:nvPr/>
        </p:nvSpPr>
        <p:spPr>
          <a:xfrm>
            <a:off x="6711696" y="4595774"/>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£1.00–£3.50</a:t>
            </a:r>
            <a:endParaRPr b="0" i="0" sz="760" u="none" cap="none" strike="noStrike">
              <a:solidFill>
                <a:schemeClr val="dk1"/>
              </a:solidFill>
              <a:latin typeface="Calibri"/>
              <a:ea typeface="Calibri"/>
              <a:cs typeface="Calibri"/>
              <a:sym typeface="Calibri"/>
            </a:endParaRPr>
          </a:p>
        </p:txBody>
      </p:sp>
      <p:sp>
        <p:nvSpPr>
          <p:cNvPr id="879" name="Google Shape;879;p18"/>
          <p:cNvSpPr/>
          <p:nvPr/>
        </p:nvSpPr>
        <p:spPr>
          <a:xfrm>
            <a:off x="4224528" y="4828032"/>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18"/>
          <p:cNvSpPr/>
          <p:nvPr/>
        </p:nvSpPr>
        <p:spPr>
          <a:xfrm>
            <a:off x="4315968" y="4828032"/>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jawline contouring</a:t>
            </a:r>
            <a:endParaRPr b="0" i="0" sz="880" u="none" cap="none" strike="noStrike">
              <a:solidFill>
                <a:schemeClr val="dk1"/>
              </a:solidFill>
              <a:latin typeface="Calibri"/>
              <a:ea typeface="Calibri"/>
              <a:cs typeface="Calibri"/>
              <a:sym typeface="Calibri"/>
            </a:endParaRPr>
          </a:p>
        </p:txBody>
      </p:sp>
      <p:sp>
        <p:nvSpPr>
          <p:cNvPr id="881" name="Google Shape;881;p18"/>
          <p:cNvSpPr/>
          <p:nvPr/>
        </p:nvSpPr>
        <p:spPr>
          <a:xfrm>
            <a:off x="5980176" y="4828032"/>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260</a:t>
            </a:r>
            <a:endParaRPr b="0" i="0" sz="820" u="none" cap="none" strike="noStrike">
              <a:solidFill>
                <a:schemeClr val="dk1"/>
              </a:solidFill>
              <a:latin typeface="Calibri"/>
              <a:ea typeface="Calibri"/>
              <a:cs typeface="Calibri"/>
              <a:sym typeface="Calibri"/>
            </a:endParaRPr>
          </a:p>
        </p:txBody>
      </p:sp>
      <p:sp>
        <p:nvSpPr>
          <p:cNvPr id="882" name="Google Shape;882;p18"/>
          <p:cNvSpPr/>
          <p:nvPr/>
        </p:nvSpPr>
        <p:spPr>
          <a:xfrm>
            <a:off x="6510528" y="4828032"/>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883" name="Google Shape;883;p18"/>
          <p:cNvSpPr/>
          <p:nvPr/>
        </p:nvSpPr>
        <p:spPr>
          <a:xfrm>
            <a:off x="6711696" y="4828032"/>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£1.10–£3.80</a:t>
            </a:r>
            <a:endParaRPr b="0" i="0" sz="760" u="none" cap="none" strike="noStrike">
              <a:solidFill>
                <a:schemeClr val="dk1"/>
              </a:solidFill>
              <a:latin typeface="Calibri"/>
              <a:ea typeface="Calibri"/>
              <a:cs typeface="Calibri"/>
              <a:sym typeface="Calibri"/>
            </a:endParaRPr>
          </a:p>
        </p:txBody>
      </p:sp>
      <p:sp>
        <p:nvSpPr>
          <p:cNvPr id="884" name="Google Shape;884;p18"/>
          <p:cNvSpPr/>
          <p:nvPr/>
        </p:nvSpPr>
        <p:spPr>
          <a:xfrm>
            <a:off x="4224528" y="5060290"/>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18"/>
          <p:cNvSpPr/>
          <p:nvPr/>
        </p:nvSpPr>
        <p:spPr>
          <a:xfrm>
            <a:off x="4315968" y="5060290"/>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sagging jowls treatment</a:t>
            </a:r>
            <a:endParaRPr b="0" i="0" sz="880" u="none" cap="none" strike="noStrike">
              <a:solidFill>
                <a:schemeClr val="dk1"/>
              </a:solidFill>
              <a:latin typeface="Calibri"/>
              <a:ea typeface="Calibri"/>
              <a:cs typeface="Calibri"/>
              <a:sym typeface="Calibri"/>
            </a:endParaRPr>
          </a:p>
        </p:txBody>
      </p:sp>
      <p:sp>
        <p:nvSpPr>
          <p:cNvPr id="886" name="Google Shape;886;p18"/>
          <p:cNvSpPr/>
          <p:nvPr/>
        </p:nvSpPr>
        <p:spPr>
          <a:xfrm>
            <a:off x="5980176" y="5060290"/>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170</a:t>
            </a:r>
            <a:endParaRPr b="0" i="0" sz="820" u="none" cap="none" strike="noStrike">
              <a:solidFill>
                <a:schemeClr val="dk1"/>
              </a:solidFill>
              <a:latin typeface="Calibri"/>
              <a:ea typeface="Calibri"/>
              <a:cs typeface="Calibri"/>
              <a:sym typeface="Calibri"/>
            </a:endParaRPr>
          </a:p>
        </p:txBody>
      </p:sp>
      <p:sp>
        <p:nvSpPr>
          <p:cNvPr id="887" name="Google Shape;887;p18"/>
          <p:cNvSpPr/>
          <p:nvPr/>
        </p:nvSpPr>
        <p:spPr>
          <a:xfrm>
            <a:off x="6510528" y="5060290"/>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888" name="Google Shape;888;p18"/>
          <p:cNvSpPr/>
          <p:nvPr/>
        </p:nvSpPr>
        <p:spPr>
          <a:xfrm>
            <a:off x="6711696" y="5060290"/>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£1.00–£3.40</a:t>
            </a:r>
            <a:endParaRPr b="0" i="0" sz="760" u="none" cap="none" strike="noStrike">
              <a:solidFill>
                <a:schemeClr val="dk1"/>
              </a:solidFill>
              <a:latin typeface="Calibri"/>
              <a:ea typeface="Calibri"/>
              <a:cs typeface="Calibri"/>
              <a:sym typeface="Calibri"/>
            </a:endParaRPr>
          </a:p>
        </p:txBody>
      </p:sp>
      <p:sp>
        <p:nvSpPr>
          <p:cNvPr id="889" name="Google Shape;889;p18"/>
          <p:cNvSpPr/>
          <p:nvPr/>
        </p:nvSpPr>
        <p:spPr>
          <a:xfrm>
            <a:off x="4224528" y="5292547"/>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18"/>
          <p:cNvSpPr/>
          <p:nvPr/>
        </p:nvSpPr>
        <p:spPr>
          <a:xfrm>
            <a:off x="4315968" y="5292547"/>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non surgical jawline</a:t>
            </a:r>
            <a:endParaRPr b="0" i="0" sz="880" u="none" cap="none" strike="noStrike">
              <a:solidFill>
                <a:schemeClr val="dk1"/>
              </a:solidFill>
              <a:latin typeface="Calibri"/>
              <a:ea typeface="Calibri"/>
              <a:cs typeface="Calibri"/>
              <a:sym typeface="Calibri"/>
            </a:endParaRPr>
          </a:p>
        </p:txBody>
      </p:sp>
      <p:sp>
        <p:nvSpPr>
          <p:cNvPr id="891" name="Google Shape;891;p18"/>
          <p:cNvSpPr/>
          <p:nvPr/>
        </p:nvSpPr>
        <p:spPr>
          <a:xfrm>
            <a:off x="5980176" y="5292547"/>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90</a:t>
            </a:r>
            <a:endParaRPr b="0" i="0" sz="820" u="none" cap="none" strike="noStrike">
              <a:solidFill>
                <a:schemeClr val="dk1"/>
              </a:solidFill>
              <a:latin typeface="Calibri"/>
              <a:ea typeface="Calibri"/>
              <a:cs typeface="Calibri"/>
              <a:sym typeface="Calibri"/>
            </a:endParaRPr>
          </a:p>
        </p:txBody>
      </p:sp>
      <p:sp>
        <p:nvSpPr>
          <p:cNvPr id="892" name="Google Shape;892;p18"/>
          <p:cNvSpPr/>
          <p:nvPr/>
        </p:nvSpPr>
        <p:spPr>
          <a:xfrm>
            <a:off x="6510528" y="5292547"/>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893" name="Google Shape;893;p18"/>
          <p:cNvSpPr/>
          <p:nvPr/>
        </p:nvSpPr>
        <p:spPr>
          <a:xfrm>
            <a:off x="6711696" y="5292547"/>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£1.20–£3.90</a:t>
            </a:r>
            <a:endParaRPr b="0" i="0" sz="760" u="none" cap="none" strike="noStrike">
              <a:solidFill>
                <a:schemeClr val="dk1"/>
              </a:solidFill>
              <a:latin typeface="Calibri"/>
              <a:ea typeface="Calibri"/>
              <a:cs typeface="Calibri"/>
              <a:sym typeface="Calibri"/>
            </a:endParaRPr>
          </a:p>
        </p:txBody>
      </p:sp>
      <p:sp>
        <p:nvSpPr>
          <p:cNvPr id="894" name="Google Shape;894;p18"/>
          <p:cNvSpPr/>
          <p:nvPr/>
        </p:nvSpPr>
        <p:spPr>
          <a:xfrm>
            <a:off x="4224528" y="5524805"/>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18"/>
          <p:cNvSpPr/>
          <p:nvPr/>
        </p:nvSpPr>
        <p:spPr>
          <a:xfrm>
            <a:off x="4315968" y="5524805"/>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define jawline treatment</a:t>
            </a:r>
            <a:endParaRPr b="0" i="0" sz="880" u="none" cap="none" strike="noStrike">
              <a:solidFill>
                <a:schemeClr val="dk1"/>
              </a:solidFill>
              <a:latin typeface="Calibri"/>
              <a:ea typeface="Calibri"/>
              <a:cs typeface="Calibri"/>
              <a:sym typeface="Calibri"/>
            </a:endParaRPr>
          </a:p>
        </p:txBody>
      </p:sp>
      <p:sp>
        <p:nvSpPr>
          <p:cNvPr id="896" name="Google Shape;896;p18"/>
          <p:cNvSpPr/>
          <p:nvPr/>
        </p:nvSpPr>
        <p:spPr>
          <a:xfrm>
            <a:off x="5980176" y="5524805"/>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70</a:t>
            </a:r>
            <a:endParaRPr b="0" i="0" sz="820" u="none" cap="none" strike="noStrike">
              <a:solidFill>
                <a:schemeClr val="dk1"/>
              </a:solidFill>
              <a:latin typeface="Calibri"/>
              <a:ea typeface="Calibri"/>
              <a:cs typeface="Calibri"/>
              <a:sym typeface="Calibri"/>
            </a:endParaRPr>
          </a:p>
        </p:txBody>
      </p:sp>
      <p:sp>
        <p:nvSpPr>
          <p:cNvPr id="897" name="Google Shape;897;p18"/>
          <p:cNvSpPr/>
          <p:nvPr/>
        </p:nvSpPr>
        <p:spPr>
          <a:xfrm>
            <a:off x="6510528" y="5524805"/>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898" name="Google Shape;898;p18"/>
          <p:cNvSpPr/>
          <p:nvPr/>
        </p:nvSpPr>
        <p:spPr>
          <a:xfrm>
            <a:off x="6711696" y="5524805"/>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£1.00–£3.20</a:t>
            </a:r>
            <a:endParaRPr b="0" i="0" sz="760" u="none" cap="none" strike="noStrike">
              <a:solidFill>
                <a:schemeClr val="dk1"/>
              </a:solidFill>
              <a:latin typeface="Calibri"/>
              <a:ea typeface="Calibri"/>
              <a:cs typeface="Calibri"/>
              <a:sym typeface="Calibri"/>
            </a:endParaRPr>
          </a:p>
        </p:txBody>
      </p:sp>
      <p:sp>
        <p:nvSpPr>
          <p:cNvPr id="899" name="Google Shape;899;p18"/>
          <p:cNvSpPr/>
          <p:nvPr/>
        </p:nvSpPr>
        <p:spPr>
          <a:xfrm>
            <a:off x="4224528" y="5757062"/>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18"/>
          <p:cNvSpPr/>
          <p:nvPr/>
        </p:nvSpPr>
        <p:spPr>
          <a:xfrm>
            <a:off x="4315968" y="5757062"/>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cheek lift non surgical</a:t>
            </a:r>
            <a:endParaRPr b="0" i="0" sz="880" u="none" cap="none" strike="noStrike">
              <a:solidFill>
                <a:schemeClr val="dk1"/>
              </a:solidFill>
              <a:latin typeface="Calibri"/>
              <a:ea typeface="Calibri"/>
              <a:cs typeface="Calibri"/>
              <a:sym typeface="Calibri"/>
            </a:endParaRPr>
          </a:p>
        </p:txBody>
      </p:sp>
      <p:sp>
        <p:nvSpPr>
          <p:cNvPr id="901" name="Google Shape;901;p18"/>
          <p:cNvSpPr/>
          <p:nvPr/>
        </p:nvSpPr>
        <p:spPr>
          <a:xfrm>
            <a:off x="5980176" y="5757062"/>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40</a:t>
            </a:r>
            <a:endParaRPr b="0" i="0" sz="820" u="none" cap="none" strike="noStrike">
              <a:solidFill>
                <a:schemeClr val="dk1"/>
              </a:solidFill>
              <a:latin typeface="Calibri"/>
              <a:ea typeface="Calibri"/>
              <a:cs typeface="Calibri"/>
              <a:sym typeface="Calibri"/>
            </a:endParaRPr>
          </a:p>
        </p:txBody>
      </p:sp>
      <p:sp>
        <p:nvSpPr>
          <p:cNvPr id="902" name="Google Shape;902;p18"/>
          <p:cNvSpPr/>
          <p:nvPr/>
        </p:nvSpPr>
        <p:spPr>
          <a:xfrm>
            <a:off x="6510528" y="5757062"/>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903" name="Google Shape;903;p18"/>
          <p:cNvSpPr/>
          <p:nvPr/>
        </p:nvSpPr>
        <p:spPr>
          <a:xfrm>
            <a:off x="6711696" y="5757062"/>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£1.10–£3.50</a:t>
            </a:r>
            <a:endParaRPr b="0" i="0" sz="760" u="none" cap="none" strike="noStrike">
              <a:solidFill>
                <a:schemeClr val="dk1"/>
              </a:solidFill>
              <a:latin typeface="Calibri"/>
              <a:ea typeface="Calibri"/>
              <a:cs typeface="Calibri"/>
              <a:sym typeface="Calibri"/>
            </a:endParaRPr>
          </a:p>
        </p:txBody>
      </p:sp>
      <p:sp>
        <p:nvSpPr>
          <p:cNvPr id="904" name="Google Shape;904;p18"/>
          <p:cNvSpPr/>
          <p:nvPr/>
        </p:nvSpPr>
        <p:spPr>
          <a:xfrm>
            <a:off x="4224528" y="5989320"/>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8"/>
          <p:cNvSpPr/>
          <p:nvPr/>
        </p:nvSpPr>
        <p:spPr>
          <a:xfrm>
            <a:off x="4315968" y="5989320"/>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midface lift non surgical</a:t>
            </a:r>
            <a:endParaRPr b="0" i="0" sz="880" u="none" cap="none" strike="noStrike">
              <a:solidFill>
                <a:schemeClr val="dk1"/>
              </a:solidFill>
              <a:latin typeface="Calibri"/>
              <a:ea typeface="Calibri"/>
              <a:cs typeface="Calibri"/>
              <a:sym typeface="Calibri"/>
            </a:endParaRPr>
          </a:p>
        </p:txBody>
      </p:sp>
      <p:sp>
        <p:nvSpPr>
          <p:cNvPr id="906" name="Google Shape;906;p18"/>
          <p:cNvSpPr/>
          <p:nvPr/>
        </p:nvSpPr>
        <p:spPr>
          <a:xfrm>
            <a:off x="5980176" y="5989320"/>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30</a:t>
            </a:r>
            <a:endParaRPr b="0" i="0" sz="820" u="none" cap="none" strike="noStrike">
              <a:solidFill>
                <a:schemeClr val="dk1"/>
              </a:solidFill>
              <a:latin typeface="Calibri"/>
              <a:ea typeface="Calibri"/>
              <a:cs typeface="Calibri"/>
              <a:sym typeface="Calibri"/>
            </a:endParaRPr>
          </a:p>
        </p:txBody>
      </p:sp>
      <p:sp>
        <p:nvSpPr>
          <p:cNvPr id="907" name="Google Shape;907;p18"/>
          <p:cNvSpPr/>
          <p:nvPr/>
        </p:nvSpPr>
        <p:spPr>
          <a:xfrm>
            <a:off x="6510528" y="5989320"/>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L</a:t>
            </a:r>
            <a:endParaRPr b="0" i="0" sz="760" u="none" cap="none" strike="noStrike">
              <a:solidFill>
                <a:schemeClr val="dk1"/>
              </a:solidFill>
              <a:latin typeface="Calibri"/>
              <a:ea typeface="Calibri"/>
              <a:cs typeface="Calibri"/>
              <a:sym typeface="Calibri"/>
            </a:endParaRPr>
          </a:p>
        </p:txBody>
      </p:sp>
      <p:sp>
        <p:nvSpPr>
          <p:cNvPr id="908" name="Google Shape;908;p18"/>
          <p:cNvSpPr/>
          <p:nvPr/>
        </p:nvSpPr>
        <p:spPr>
          <a:xfrm>
            <a:off x="6711696" y="5989320"/>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£0.90–£3.00</a:t>
            </a:r>
            <a:endParaRPr b="0" i="0" sz="760" u="none" cap="none" strike="noStrike">
              <a:solidFill>
                <a:schemeClr val="dk1"/>
              </a:solidFill>
              <a:latin typeface="Calibri"/>
              <a:ea typeface="Calibri"/>
              <a:cs typeface="Calibri"/>
              <a:sym typeface="Calibri"/>
            </a:endParaRPr>
          </a:p>
        </p:txBody>
      </p:sp>
      <p:sp>
        <p:nvSpPr>
          <p:cNvPr id="909" name="Google Shape;909;p18"/>
          <p:cNvSpPr/>
          <p:nvPr/>
        </p:nvSpPr>
        <p:spPr>
          <a:xfrm>
            <a:off x="7946136" y="1810512"/>
            <a:ext cx="3584448" cy="283464"/>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18"/>
          <p:cNvSpPr/>
          <p:nvPr/>
        </p:nvSpPr>
        <p:spPr>
          <a:xfrm>
            <a:off x="8055864" y="1810512"/>
            <a:ext cx="3401568" cy="2834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Poppins"/>
              <a:buNone/>
            </a:pPr>
            <a:r>
              <a:rPr b="1" i="0" lang="en-US" sz="1050" u="none" cap="none" strike="noStrike">
                <a:solidFill>
                  <a:srgbClr val="FFFFFF"/>
                </a:solidFill>
                <a:latin typeface="Poppins"/>
                <a:ea typeface="Poppins"/>
                <a:cs typeface="Poppins"/>
                <a:sym typeface="Poppins"/>
              </a:rPr>
              <a:t>5  Facial Muscle Toning</a:t>
            </a:r>
            <a:endParaRPr b="0" i="0" sz="1050" u="none" cap="none" strike="noStrike">
              <a:solidFill>
                <a:schemeClr val="dk1"/>
              </a:solidFill>
              <a:latin typeface="Calibri"/>
              <a:ea typeface="Calibri"/>
              <a:cs typeface="Calibri"/>
              <a:sym typeface="Calibri"/>
            </a:endParaRPr>
          </a:p>
        </p:txBody>
      </p:sp>
      <p:sp>
        <p:nvSpPr>
          <p:cNvPr id="911" name="Google Shape;911;p18"/>
          <p:cNvSpPr/>
          <p:nvPr/>
        </p:nvSpPr>
        <p:spPr>
          <a:xfrm>
            <a:off x="7946136" y="2093976"/>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18"/>
          <p:cNvSpPr/>
          <p:nvPr/>
        </p:nvSpPr>
        <p:spPr>
          <a:xfrm>
            <a:off x="8037576" y="2093976"/>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face lifting treatment</a:t>
            </a:r>
            <a:endParaRPr b="0" i="0" sz="880" u="none" cap="none" strike="noStrike">
              <a:solidFill>
                <a:schemeClr val="dk1"/>
              </a:solidFill>
              <a:latin typeface="Calibri"/>
              <a:ea typeface="Calibri"/>
              <a:cs typeface="Calibri"/>
              <a:sym typeface="Calibri"/>
            </a:endParaRPr>
          </a:p>
        </p:txBody>
      </p:sp>
      <p:sp>
        <p:nvSpPr>
          <p:cNvPr id="913" name="Google Shape;913;p18"/>
          <p:cNvSpPr/>
          <p:nvPr/>
        </p:nvSpPr>
        <p:spPr>
          <a:xfrm>
            <a:off x="9701784" y="2093976"/>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390</a:t>
            </a:r>
            <a:endParaRPr b="0" i="0" sz="820" u="none" cap="none" strike="noStrike">
              <a:solidFill>
                <a:schemeClr val="dk1"/>
              </a:solidFill>
              <a:latin typeface="Calibri"/>
              <a:ea typeface="Calibri"/>
              <a:cs typeface="Calibri"/>
              <a:sym typeface="Calibri"/>
            </a:endParaRPr>
          </a:p>
        </p:txBody>
      </p:sp>
      <p:sp>
        <p:nvSpPr>
          <p:cNvPr id="914" name="Google Shape;914;p18"/>
          <p:cNvSpPr/>
          <p:nvPr/>
        </p:nvSpPr>
        <p:spPr>
          <a:xfrm>
            <a:off x="10232136" y="2093976"/>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915" name="Google Shape;915;p18"/>
          <p:cNvSpPr/>
          <p:nvPr/>
        </p:nvSpPr>
        <p:spPr>
          <a:xfrm>
            <a:off x="10433304" y="2093976"/>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£1.10–£3.60</a:t>
            </a:r>
            <a:endParaRPr b="0" i="0" sz="760" u="none" cap="none" strike="noStrike">
              <a:solidFill>
                <a:schemeClr val="dk1"/>
              </a:solidFill>
              <a:latin typeface="Calibri"/>
              <a:ea typeface="Calibri"/>
              <a:cs typeface="Calibri"/>
              <a:sym typeface="Calibri"/>
            </a:endParaRPr>
          </a:p>
        </p:txBody>
      </p:sp>
      <p:sp>
        <p:nvSpPr>
          <p:cNvPr id="916" name="Google Shape;916;p18"/>
          <p:cNvSpPr/>
          <p:nvPr/>
        </p:nvSpPr>
        <p:spPr>
          <a:xfrm>
            <a:off x="7946136" y="2326234"/>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18"/>
          <p:cNvSpPr/>
          <p:nvPr/>
        </p:nvSpPr>
        <p:spPr>
          <a:xfrm>
            <a:off x="8037576" y="2326234"/>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facial muscle toning</a:t>
            </a:r>
            <a:endParaRPr b="0" i="0" sz="880" u="none" cap="none" strike="noStrike">
              <a:solidFill>
                <a:schemeClr val="dk1"/>
              </a:solidFill>
              <a:latin typeface="Calibri"/>
              <a:ea typeface="Calibri"/>
              <a:cs typeface="Calibri"/>
              <a:sym typeface="Calibri"/>
            </a:endParaRPr>
          </a:p>
        </p:txBody>
      </p:sp>
      <p:sp>
        <p:nvSpPr>
          <p:cNvPr id="918" name="Google Shape;918;p18"/>
          <p:cNvSpPr/>
          <p:nvPr/>
        </p:nvSpPr>
        <p:spPr>
          <a:xfrm>
            <a:off x="9701784" y="2326234"/>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90</a:t>
            </a:r>
            <a:endParaRPr b="0" i="0" sz="820" u="none" cap="none" strike="noStrike">
              <a:solidFill>
                <a:schemeClr val="dk1"/>
              </a:solidFill>
              <a:latin typeface="Calibri"/>
              <a:ea typeface="Calibri"/>
              <a:cs typeface="Calibri"/>
              <a:sym typeface="Calibri"/>
            </a:endParaRPr>
          </a:p>
        </p:txBody>
      </p:sp>
      <p:sp>
        <p:nvSpPr>
          <p:cNvPr id="919" name="Google Shape;919;p18"/>
          <p:cNvSpPr/>
          <p:nvPr/>
        </p:nvSpPr>
        <p:spPr>
          <a:xfrm>
            <a:off x="10232136" y="2326234"/>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920" name="Google Shape;920;p18"/>
          <p:cNvSpPr/>
          <p:nvPr/>
        </p:nvSpPr>
        <p:spPr>
          <a:xfrm>
            <a:off x="10433304" y="2326234"/>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£0.90–£3.00</a:t>
            </a:r>
            <a:endParaRPr b="0" i="0" sz="760" u="none" cap="none" strike="noStrike">
              <a:solidFill>
                <a:schemeClr val="dk1"/>
              </a:solidFill>
              <a:latin typeface="Calibri"/>
              <a:ea typeface="Calibri"/>
              <a:cs typeface="Calibri"/>
              <a:sym typeface="Calibri"/>
            </a:endParaRPr>
          </a:p>
        </p:txBody>
      </p:sp>
      <p:sp>
        <p:nvSpPr>
          <p:cNvPr id="921" name="Google Shape;921;p18"/>
          <p:cNvSpPr/>
          <p:nvPr/>
        </p:nvSpPr>
        <p:spPr>
          <a:xfrm>
            <a:off x="7946136" y="2558491"/>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18"/>
          <p:cNvSpPr/>
          <p:nvPr/>
        </p:nvSpPr>
        <p:spPr>
          <a:xfrm>
            <a:off x="8037576" y="2558491"/>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facial toning treatment</a:t>
            </a:r>
            <a:endParaRPr b="0" i="0" sz="880" u="none" cap="none" strike="noStrike">
              <a:solidFill>
                <a:schemeClr val="dk1"/>
              </a:solidFill>
              <a:latin typeface="Calibri"/>
              <a:ea typeface="Calibri"/>
              <a:cs typeface="Calibri"/>
              <a:sym typeface="Calibri"/>
            </a:endParaRPr>
          </a:p>
        </p:txBody>
      </p:sp>
      <p:sp>
        <p:nvSpPr>
          <p:cNvPr id="923" name="Google Shape;923;p18"/>
          <p:cNvSpPr/>
          <p:nvPr/>
        </p:nvSpPr>
        <p:spPr>
          <a:xfrm>
            <a:off x="9701784" y="2558491"/>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70</a:t>
            </a:r>
            <a:endParaRPr b="0" i="0" sz="820" u="none" cap="none" strike="noStrike">
              <a:solidFill>
                <a:schemeClr val="dk1"/>
              </a:solidFill>
              <a:latin typeface="Calibri"/>
              <a:ea typeface="Calibri"/>
              <a:cs typeface="Calibri"/>
              <a:sym typeface="Calibri"/>
            </a:endParaRPr>
          </a:p>
        </p:txBody>
      </p:sp>
      <p:sp>
        <p:nvSpPr>
          <p:cNvPr id="924" name="Google Shape;924;p18"/>
          <p:cNvSpPr/>
          <p:nvPr/>
        </p:nvSpPr>
        <p:spPr>
          <a:xfrm>
            <a:off x="10232136" y="2558491"/>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925" name="Google Shape;925;p18"/>
          <p:cNvSpPr/>
          <p:nvPr/>
        </p:nvSpPr>
        <p:spPr>
          <a:xfrm>
            <a:off x="10433304" y="2558491"/>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£0.85–£2.90</a:t>
            </a:r>
            <a:endParaRPr b="0" i="0" sz="760" u="none" cap="none" strike="noStrike">
              <a:solidFill>
                <a:schemeClr val="dk1"/>
              </a:solidFill>
              <a:latin typeface="Calibri"/>
              <a:ea typeface="Calibri"/>
              <a:cs typeface="Calibri"/>
              <a:sym typeface="Calibri"/>
            </a:endParaRPr>
          </a:p>
        </p:txBody>
      </p:sp>
      <p:sp>
        <p:nvSpPr>
          <p:cNvPr id="926" name="Google Shape;926;p18"/>
          <p:cNvSpPr/>
          <p:nvPr/>
        </p:nvSpPr>
        <p:spPr>
          <a:xfrm>
            <a:off x="7946136" y="2790749"/>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18"/>
          <p:cNvSpPr/>
          <p:nvPr/>
        </p:nvSpPr>
        <p:spPr>
          <a:xfrm>
            <a:off x="8037576" y="2790749"/>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natural facelift treatment</a:t>
            </a:r>
            <a:endParaRPr b="0" i="0" sz="880" u="none" cap="none" strike="noStrike">
              <a:solidFill>
                <a:schemeClr val="dk1"/>
              </a:solidFill>
              <a:latin typeface="Calibri"/>
              <a:ea typeface="Calibri"/>
              <a:cs typeface="Calibri"/>
              <a:sym typeface="Calibri"/>
            </a:endParaRPr>
          </a:p>
        </p:txBody>
      </p:sp>
      <p:sp>
        <p:nvSpPr>
          <p:cNvPr id="928" name="Google Shape;928;p18"/>
          <p:cNvSpPr/>
          <p:nvPr/>
        </p:nvSpPr>
        <p:spPr>
          <a:xfrm>
            <a:off x="9701784" y="2790749"/>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50</a:t>
            </a:r>
            <a:endParaRPr b="0" i="0" sz="820" u="none" cap="none" strike="noStrike">
              <a:solidFill>
                <a:schemeClr val="dk1"/>
              </a:solidFill>
              <a:latin typeface="Calibri"/>
              <a:ea typeface="Calibri"/>
              <a:cs typeface="Calibri"/>
              <a:sym typeface="Calibri"/>
            </a:endParaRPr>
          </a:p>
        </p:txBody>
      </p:sp>
      <p:sp>
        <p:nvSpPr>
          <p:cNvPr id="929" name="Google Shape;929;p18"/>
          <p:cNvSpPr/>
          <p:nvPr/>
        </p:nvSpPr>
        <p:spPr>
          <a:xfrm>
            <a:off x="10232136" y="2790749"/>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930" name="Google Shape;930;p18"/>
          <p:cNvSpPr/>
          <p:nvPr/>
        </p:nvSpPr>
        <p:spPr>
          <a:xfrm>
            <a:off x="10433304" y="2790749"/>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£1.00–£3.20</a:t>
            </a:r>
            <a:endParaRPr b="0" i="0" sz="760" u="none" cap="none" strike="noStrike">
              <a:solidFill>
                <a:schemeClr val="dk1"/>
              </a:solidFill>
              <a:latin typeface="Calibri"/>
              <a:ea typeface="Calibri"/>
              <a:cs typeface="Calibri"/>
              <a:sym typeface="Calibri"/>
            </a:endParaRPr>
          </a:p>
        </p:txBody>
      </p:sp>
      <p:sp>
        <p:nvSpPr>
          <p:cNvPr id="931" name="Google Shape;931;p18"/>
          <p:cNvSpPr/>
          <p:nvPr/>
        </p:nvSpPr>
        <p:spPr>
          <a:xfrm>
            <a:off x="7946136" y="3023006"/>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18"/>
          <p:cNvSpPr/>
          <p:nvPr/>
        </p:nvSpPr>
        <p:spPr>
          <a:xfrm>
            <a:off x="8037576" y="3023006"/>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lift and tone face</a:t>
            </a:r>
            <a:endParaRPr b="0" i="0" sz="880" u="none" cap="none" strike="noStrike">
              <a:solidFill>
                <a:schemeClr val="dk1"/>
              </a:solidFill>
              <a:latin typeface="Calibri"/>
              <a:ea typeface="Calibri"/>
              <a:cs typeface="Calibri"/>
              <a:sym typeface="Calibri"/>
            </a:endParaRPr>
          </a:p>
        </p:txBody>
      </p:sp>
      <p:sp>
        <p:nvSpPr>
          <p:cNvPr id="933" name="Google Shape;933;p18"/>
          <p:cNvSpPr/>
          <p:nvPr/>
        </p:nvSpPr>
        <p:spPr>
          <a:xfrm>
            <a:off x="9701784" y="3023006"/>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30</a:t>
            </a:r>
            <a:endParaRPr b="0" i="0" sz="820" u="none" cap="none" strike="noStrike">
              <a:solidFill>
                <a:schemeClr val="dk1"/>
              </a:solidFill>
              <a:latin typeface="Calibri"/>
              <a:ea typeface="Calibri"/>
              <a:cs typeface="Calibri"/>
              <a:sym typeface="Calibri"/>
            </a:endParaRPr>
          </a:p>
        </p:txBody>
      </p:sp>
      <p:sp>
        <p:nvSpPr>
          <p:cNvPr id="934" name="Google Shape;934;p18"/>
          <p:cNvSpPr/>
          <p:nvPr/>
        </p:nvSpPr>
        <p:spPr>
          <a:xfrm>
            <a:off x="10232136" y="3023006"/>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935" name="Google Shape;935;p18"/>
          <p:cNvSpPr/>
          <p:nvPr/>
        </p:nvSpPr>
        <p:spPr>
          <a:xfrm>
            <a:off x="10433304" y="3023006"/>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£0.80–£2.70</a:t>
            </a:r>
            <a:endParaRPr b="0" i="0" sz="760" u="none" cap="none" strike="noStrike">
              <a:solidFill>
                <a:schemeClr val="dk1"/>
              </a:solidFill>
              <a:latin typeface="Calibri"/>
              <a:ea typeface="Calibri"/>
              <a:cs typeface="Calibri"/>
              <a:sym typeface="Calibri"/>
            </a:endParaRPr>
          </a:p>
        </p:txBody>
      </p:sp>
      <p:sp>
        <p:nvSpPr>
          <p:cNvPr id="936" name="Google Shape;936;p18"/>
          <p:cNvSpPr/>
          <p:nvPr/>
        </p:nvSpPr>
        <p:spPr>
          <a:xfrm>
            <a:off x="7946136" y="3255264"/>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18"/>
          <p:cNvSpPr/>
          <p:nvPr/>
        </p:nvSpPr>
        <p:spPr>
          <a:xfrm>
            <a:off x="8037576" y="3255264"/>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hifes facial</a:t>
            </a:r>
            <a:endParaRPr b="0" i="0" sz="880" u="none" cap="none" strike="noStrike">
              <a:solidFill>
                <a:schemeClr val="dk1"/>
              </a:solidFill>
              <a:latin typeface="Calibri"/>
              <a:ea typeface="Calibri"/>
              <a:cs typeface="Calibri"/>
              <a:sym typeface="Calibri"/>
            </a:endParaRPr>
          </a:p>
        </p:txBody>
      </p:sp>
      <p:sp>
        <p:nvSpPr>
          <p:cNvPr id="938" name="Google Shape;938;p18"/>
          <p:cNvSpPr/>
          <p:nvPr/>
        </p:nvSpPr>
        <p:spPr>
          <a:xfrm>
            <a:off x="9701784" y="3255264"/>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20</a:t>
            </a:r>
            <a:endParaRPr b="0" i="0" sz="820" u="none" cap="none" strike="noStrike">
              <a:solidFill>
                <a:schemeClr val="dk1"/>
              </a:solidFill>
              <a:latin typeface="Calibri"/>
              <a:ea typeface="Calibri"/>
              <a:cs typeface="Calibri"/>
              <a:sym typeface="Calibri"/>
            </a:endParaRPr>
          </a:p>
        </p:txBody>
      </p:sp>
      <p:sp>
        <p:nvSpPr>
          <p:cNvPr id="939" name="Google Shape;939;p18"/>
          <p:cNvSpPr/>
          <p:nvPr/>
        </p:nvSpPr>
        <p:spPr>
          <a:xfrm>
            <a:off x="10232136" y="3255264"/>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L</a:t>
            </a:r>
            <a:endParaRPr b="0" i="0" sz="760" u="none" cap="none" strike="noStrike">
              <a:solidFill>
                <a:schemeClr val="dk1"/>
              </a:solidFill>
              <a:latin typeface="Calibri"/>
              <a:ea typeface="Calibri"/>
              <a:cs typeface="Calibri"/>
              <a:sym typeface="Calibri"/>
            </a:endParaRPr>
          </a:p>
        </p:txBody>
      </p:sp>
      <p:sp>
        <p:nvSpPr>
          <p:cNvPr id="940" name="Google Shape;940;p18"/>
          <p:cNvSpPr/>
          <p:nvPr/>
        </p:nvSpPr>
        <p:spPr>
          <a:xfrm>
            <a:off x="10433304" y="3255264"/>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£0.80–£2.50</a:t>
            </a:r>
            <a:endParaRPr b="0" i="0" sz="760" u="none" cap="none" strike="noStrike">
              <a:solidFill>
                <a:schemeClr val="dk1"/>
              </a:solidFill>
              <a:latin typeface="Calibri"/>
              <a:ea typeface="Calibri"/>
              <a:cs typeface="Calibri"/>
              <a:sym typeface="Calibri"/>
            </a:endParaRPr>
          </a:p>
        </p:txBody>
      </p:sp>
      <p:sp>
        <p:nvSpPr>
          <p:cNvPr id="941" name="Google Shape;941;p18"/>
          <p:cNvSpPr/>
          <p:nvPr/>
        </p:nvSpPr>
        <p:spPr>
          <a:xfrm>
            <a:off x="7946136" y="3487522"/>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18"/>
          <p:cNvSpPr/>
          <p:nvPr/>
        </p:nvSpPr>
        <p:spPr>
          <a:xfrm>
            <a:off x="8037576" y="3487522"/>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facial muscle stimulation</a:t>
            </a:r>
            <a:endParaRPr b="0" i="0" sz="880" u="none" cap="none" strike="noStrike">
              <a:solidFill>
                <a:schemeClr val="dk1"/>
              </a:solidFill>
              <a:latin typeface="Calibri"/>
              <a:ea typeface="Calibri"/>
              <a:cs typeface="Calibri"/>
              <a:sym typeface="Calibri"/>
            </a:endParaRPr>
          </a:p>
        </p:txBody>
      </p:sp>
      <p:sp>
        <p:nvSpPr>
          <p:cNvPr id="943" name="Google Shape;943;p18"/>
          <p:cNvSpPr/>
          <p:nvPr/>
        </p:nvSpPr>
        <p:spPr>
          <a:xfrm>
            <a:off x="9701784" y="3487522"/>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20</a:t>
            </a:r>
            <a:endParaRPr b="0" i="0" sz="820" u="none" cap="none" strike="noStrike">
              <a:solidFill>
                <a:schemeClr val="dk1"/>
              </a:solidFill>
              <a:latin typeface="Calibri"/>
              <a:ea typeface="Calibri"/>
              <a:cs typeface="Calibri"/>
              <a:sym typeface="Calibri"/>
            </a:endParaRPr>
          </a:p>
        </p:txBody>
      </p:sp>
      <p:sp>
        <p:nvSpPr>
          <p:cNvPr id="944" name="Google Shape;944;p18"/>
          <p:cNvSpPr/>
          <p:nvPr/>
        </p:nvSpPr>
        <p:spPr>
          <a:xfrm>
            <a:off x="10232136" y="3487522"/>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L</a:t>
            </a:r>
            <a:endParaRPr b="0" i="0" sz="760" u="none" cap="none" strike="noStrike">
              <a:solidFill>
                <a:schemeClr val="dk1"/>
              </a:solidFill>
              <a:latin typeface="Calibri"/>
              <a:ea typeface="Calibri"/>
              <a:cs typeface="Calibri"/>
              <a:sym typeface="Calibri"/>
            </a:endParaRPr>
          </a:p>
        </p:txBody>
      </p:sp>
      <p:sp>
        <p:nvSpPr>
          <p:cNvPr id="945" name="Google Shape;945;p18"/>
          <p:cNvSpPr/>
          <p:nvPr/>
        </p:nvSpPr>
        <p:spPr>
          <a:xfrm>
            <a:off x="10433304" y="3487522"/>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£0.70–£2.40</a:t>
            </a:r>
            <a:endParaRPr b="0" i="0" sz="760" u="none" cap="none" strike="noStrike">
              <a:solidFill>
                <a:schemeClr val="dk1"/>
              </a:solidFill>
              <a:latin typeface="Calibri"/>
              <a:ea typeface="Calibri"/>
              <a:cs typeface="Calibri"/>
              <a:sym typeface="Calibri"/>
            </a:endParaRPr>
          </a:p>
        </p:txBody>
      </p:sp>
      <p:sp>
        <p:nvSpPr>
          <p:cNvPr id="946" name="Google Shape;946;p18"/>
          <p:cNvSpPr/>
          <p:nvPr/>
        </p:nvSpPr>
        <p:spPr>
          <a:xfrm>
            <a:off x="7946136" y="3847795"/>
            <a:ext cx="3584448" cy="283464"/>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18"/>
          <p:cNvSpPr/>
          <p:nvPr/>
        </p:nvSpPr>
        <p:spPr>
          <a:xfrm>
            <a:off x="8055864" y="3847795"/>
            <a:ext cx="3401568" cy="2834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050"/>
              <a:buFont typeface="Poppins"/>
              <a:buNone/>
            </a:pPr>
            <a:r>
              <a:rPr b="1" i="0" lang="en-US" sz="1050" u="none" cap="none" strike="noStrike">
                <a:solidFill>
                  <a:srgbClr val="FFFFFF"/>
                </a:solidFill>
                <a:latin typeface="Poppins"/>
                <a:ea typeface="Poppins"/>
                <a:cs typeface="Poppins"/>
                <a:sym typeface="Poppins"/>
              </a:rPr>
              <a:t>6  Local (Central London)</a:t>
            </a:r>
            <a:endParaRPr b="0" i="0" sz="1050" u="none" cap="none" strike="noStrike">
              <a:solidFill>
                <a:schemeClr val="dk1"/>
              </a:solidFill>
              <a:latin typeface="Calibri"/>
              <a:ea typeface="Calibri"/>
              <a:cs typeface="Calibri"/>
              <a:sym typeface="Calibri"/>
            </a:endParaRPr>
          </a:p>
        </p:txBody>
      </p:sp>
      <p:sp>
        <p:nvSpPr>
          <p:cNvPr id="948" name="Google Shape;948;p18"/>
          <p:cNvSpPr/>
          <p:nvPr/>
        </p:nvSpPr>
        <p:spPr>
          <a:xfrm>
            <a:off x="7946136" y="4131259"/>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18"/>
          <p:cNvSpPr/>
          <p:nvPr/>
        </p:nvSpPr>
        <p:spPr>
          <a:xfrm>
            <a:off x="8037576" y="4131259"/>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face treatment london</a:t>
            </a:r>
            <a:endParaRPr b="0" i="0" sz="880" u="none" cap="none" strike="noStrike">
              <a:solidFill>
                <a:schemeClr val="dk1"/>
              </a:solidFill>
              <a:latin typeface="Calibri"/>
              <a:ea typeface="Calibri"/>
              <a:cs typeface="Calibri"/>
              <a:sym typeface="Calibri"/>
            </a:endParaRPr>
          </a:p>
        </p:txBody>
      </p:sp>
      <p:sp>
        <p:nvSpPr>
          <p:cNvPr id="950" name="Google Shape;950;p18"/>
          <p:cNvSpPr/>
          <p:nvPr/>
        </p:nvSpPr>
        <p:spPr>
          <a:xfrm>
            <a:off x="9701784" y="4131259"/>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320</a:t>
            </a:r>
            <a:endParaRPr b="0" i="0" sz="820" u="none" cap="none" strike="noStrike">
              <a:solidFill>
                <a:schemeClr val="dk1"/>
              </a:solidFill>
              <a:latin typeface="Calibri"/>
              <a:ea typeface="Calibri"/>
              <a:cs typeface="Calibri"/>
              <a:sym typeface="Calibri"/>
            </a:endParaRPr>
          </a:p>
        </p:txBody>
      </p:sp>
      <p:sp>
        <p:nvSpPr>
          <p:cNvPr id="951" name="Google Shape;951;p18"/>
          <p:cNvSpPr/>
          <p:nvPr/>
        </p:nvSpPr>
        <p:spPr>
          <a:xfrm>
            <a:off x="10232136" y="4131259"/>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952" name="Google Shape;952;p18"/>
          <p:cNvSpPr/>
          <p:nvPr/>
        </p:nvSpPr>
        <p:spPr>
          <a:xfrm>
            <a:off x="10433304" y="4131259"/>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£1.30–£4.20</a:t>
            </a:r>
            <a:endParaRPr b="0" i="0" sz="760" u="none" cap="none" strike="noStrike">
              <a:solidFill>
                <a:schemeClr val="dk1"/>
              </a:solidFill>
              <a:latin typeface="Calibri"/>
              <a:ea typeface="Calibri"/>
              <a:cs typeface="Calibri"/>
              <a:sym typeface="Calibri"/>
            </a:endParaRPr>
          </a:p>
        </p:txBody>
      </p:sp>
      <p:sp>
        <p:nvSpPr>
          <p:cNvPr id="953" name="Google Shape;953;p18"/>
          <p:cNvSpPr/>
          <p:nvPr/>
        </p:nvSpPr>
        <p:spPr>
          <a:xfrm>
            <a:off x="7946136" y="4363517"/>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18"/>
          <p:cNvSpPr/>
          <p:nvPr/>
        </p:nvSpPr>
        <p:spPr>
          <a:xfrm>
            <a:off x="8037576" y="4363517"/>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facial clinic london</a:t>
            </a:r>
            <a:endParaRPr b="0" i="0" sz="880" u="none" cap="none" strike="noStrike">
              <a:solidFill>
                <a:schemeClr val="dk1"/>
              </a:solidFill>
              <a:latin typeface="Calibri"/>
              <a:ea typeface="Calibri"/>
              <a:cs typeface="Calibri"/>
              <a:sym typeface="Calibri"/>
            </a:endParaRPr>
          </a:p>
        </p:txBody>
      </p:sp>
      <p:sp>
        <p:nvSpPr>
          <p:cNvPr id="955" name="Google Shape;955;p18"/>
          <p:cNvSpPr/>
          <p:nvPr/>
        </p:nvSpPr>
        <p:spPr>
          <a:xfrm>
            <a:off x="9701784" y="4363517"/>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210</a:t>
            </a:r>
            <a:endParaRPr b="0" i="0" sz="820" u="none" cap="none" strike="noStrike">
              <a:solidFill>
                <a:schemeClr val="dk1"/>
              </a:solidFill>
              <a:latin typeface="Calibri"/>
              <a:ea typeface="Calibri"/>
              <a:cs typeface="Calibri"/>
              <a:sym typeface="Calibri"/>
            </a:endParaRPr>
          </a:p>
        </p:txBody>
      </p:sp>
      <p:sp>
        <p:nvSpPr>
          <p:cNvPr id="956" name="Google Shape;956;p18"/>
          <p:cNvSpPr/>
          <p:nvPr/>
        </p:nvSpPr>
        <p:spPr>
          <a:xfrm>
            <a:off x="10232136" y="4363517"/>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957" name="Google Shape;957;p18"/>
          <p:cNvSpPr/>
          <p:nvPr/>
        </p:nvSpPr>
        <p:spPr>
          <a:xfrm>
            <a:off x="10433304" y="4363517"/>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£1.50–£5.00</a:t>
            </a:r>
            <a:endParaRPr b="0" i="0" sz="760" u="none" cap="none" strike="noStrike">
              <a:solidFill>
                <a:schemeClr val="dk1"/>
              </a:solidFill>
              <a:latin typeface="Calibri"/>
              <a:ea typeface="Calibri"/>
              <a:cs typeface="Calibri"/>
              <a:sym typeface="Calibri"/>
            </a:endParaRPr>
          </a:p>
        </p:txBody>
      </p:sp>
      <p:sp>
        <p:nvSpPr>
          <p:cNvPr id="958" name="Google Shape;958;p18"/>
          <p:cNvSpPr/>
          <p:nvPr/>
        </p:nvSpPr>
        <p:spPr>
          <a:xfrm>
            <a:off x="7946136" y="4595774"/>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18"/>
          <p:cNvSpPr/>
          <p:nvPr/>
        </p:nvSpPr>
        <p:spPr>
          <a:xfrm>
            <a:off x="8037576" y="4595774"/>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skin clinic central london</a:t>
            </a:r>
            <a:endParaRPr b="0" i="0" sz="880" u="none" cap="none" strike="noStrike">
              <a:solidFill>
                <a:schemeClr val="dk1"/>
              </a:solidFill>
              <a:latin typeface="Calibri"/>
              <a:ea typeface="Calibri"/>
              <a:cs typeface="Calibri"/>
              <a:sym typeface="Calibri"/>
            </a:endParaRPr>
          </a:p>
        </p:txBody>
      </p:sp>
      <p:sp>
        <p:nvSpPr>
          <p:cNvPr id="960" name="Google Shape;960;p18"/>
          <p:cNvSpPr/>
          <p:nvPr/>
        </p:nvSpPr>
        <p:spPr>
          <a:xfrm>
            <a:off x="9701784" y="4595774"/>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170</a:t>
            </a:r>
            <a:endParaRPr b="0" i="0" sz="820" u="none" cap="none" strike="noStrike">
              <a:solidFill>
                <a:schemeClr val="dk1"/>
              </a:solidFill>
              <a:latin typeface="Calibri"/>
              <a:ea typeface="Calibri"/>
              <a:cs typeface="Calibri"/>
              <a:sym typeface="Calibri"/>
            </a:endParaRPr>
          </a:p>
        </p:txBody>
      </p:sp>
      <p:sp>
        <p:nvSpPr>
          <p:cNvPr id="961" name="Google Shape;961;p18"/>
          <p:cNvSpPr/>
          <p:nvPr/>
        </p:nvSpPr>
        <p:spPr>
          <a:xfrm>
            <a:off x="10232136" y="4595774"/>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962" name="Google Shape;962;p18"/>
          <p:cNvSpPr/>
          <p:nvPr/>
        </p:nvSpPr>
        <p:spPr>
          <a:xfrm>
            <a:off x="10433304" y="4595774"/>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£1.60–£5.20</a:t>
            </a:r>
            <a:endParaRPr b="0" i="0" sz="760" u="none" cap="none" strike="noStrike">
              <a:solidFill>
                <a:schemeClr val="dk1"/>
              </a:solidFill>
              <a:latin typeface="Calibri"/>
              <a:ea typeface="Calibri"/>
              <a:cs typeface="Calibri"/>
              <a:sym typeface="Calibri"/>
            </a:endParaRPr>
          </a:p>
        </p:txBody>
      </p:sp>
      <p:sp>
        <p:nvSpPr>
          <p:cNvPr id="963" name="Google Shape;963;p18"/>
          <p:cNvSpPr/>
          <p:nvPr/>
        </p:nvSpPr>
        <p:spPr>
          <a:xfrm>
            <a:off x="7946136" y="4828032"/>
            <a:ext cx="3584448" cy="232258"/>
          </a:xfrm>
          <a:prstGeom prst="rect">
            <a:avLst/>
          </a:prstGeom>
          <a:solidFill>
            <a:srgbClr val="E2F5E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18"/>
          <p:cNvSpPr/>
          <p:nvPr/>
        </p:nvSpPr>
        <p:spPr>
          <a:xfrm>
            <a:off x="8037576" y="4828032"/>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non surgical facelift clinic near me</a:t>
            </a:r>
            <a:endParaRPr b="0" i="0" sz="880" u="none" cap="none" strike="noStrike">
              <a:solidFill>
                <a:schemeClr val="dk1"/>
              </a:solidFill>
              <a:latin typeface="Calibri"/>
              <a:ea typeface="Calibri"/>
              <a:cs typeface="Calibri"/>
              <a:sym typeface="Calibri"/>
            </a:endParaRPr>
          </a:p>
        </p:txBody>
      </p:sp>
      <p:sp>
        <p:nvSpPr>
          <p:cNvPr id="965" name="Google Shape;965;p18"/>
          <p:cNvSpPr/>
          <p:nvPr/>
        </p:nvSpPr>
        <p:spPr>
          <a:xfrm>
            <a:off x="9701784" y="4828032"/>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50</a:t>
            </a:r>
            <a:endParaRPr b="0" i="0" sz="820" u="none" cap="none" strike="noStrike">
              <a:solidFill>
                <a:schemeClr val="dk1"/>
              </a:solidFill>
              <a:latin typeface="Calibri"/>
              <a:ea typeface="Calibri"/>
              <a:cs typeface="Calibri"/>
              <a:sym typeface="Calibri"/>
            </a:endParaRPr>
          </a:p>
        </p:txBody>
      </p:sp>
      <p:sp>
        <p:nvSpPr>
          <p:cNvPr id="966" name="Google Shape;966;p18"/>
          <p:cNvSpPr/>
          <p:nvPr/>
        </p:nvSpPr>
        <p:spPr>
          <a:xfrm>
            <a:off x="10232136" y="4828032"/>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H</a:t>
            </a:r>
            <a:endParaRPr b="0" i="0" sz="760" u="none" cap="none" strike="noStrike">
              <a:solidFill>
                <a:schemeClr val="dk1"/>
              </a:solidFill>
              <a:latin typeface="Calibri"/>
              <a:ea typeface="Calibri"/>
              <a:cs typeface="Calibri"/>
              <a:sym typeface="Calibri"/>
            </a:endParaRPr>
          </a:p>
        </p:txBody>
      </p:sp>
      <p:sp>
        <p:nvSpPr>
          <p:cNvPr id="967" name="Google Shape;967;p18"/>
          <p:cNvSpPr/>
          <p:nvPr/>
        </p:nvSpPr>
        <p:spPr>
          <a:xfrm>
            <a:off x="10433304" y="4828032"/>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£1.70–£5.40</a:t>
            </a:r>
            <a:endParaRPr b="0" i="0" sz="760" u="none" cap="none" strike="noStrike">
              <a:solidFill>
                <a:schemeClr val="dk1"/>
              </a:solidFill>
              <a:latin typeface="Calibri"/>
              <a:ea typeface="Calibri"/>
              <a:cs typeface="Calibri"/>
              <a:sym typeface="Calibri"/>
            </a:endParaRPr>
          </a:p>
        </p:txBody>
      </p:sp>
      <p:sp>
        <p:nvSpPr>
          <p:cNvPr id="968" name="Google Shape;968;p18"/>
          <p:cNvSpPr/>
          <p:nvPr/>
        </p:nvSpPr>
        <p:spPr>
          <a:xfrm>
            <a:off x="7946136" y="5060290"/>
            <a:ext cx="3584448" cy="232258"/>
          </a:xfrm>
          <a:prstGeom prst="rect">
            <a:avLst/>
          </a:prstGeom>
          <a:solidFill>
            <a:srgbClr val="FFFFFF"/>
          </a:solidFill>
          <a:ln cap="flat" cmpd="sng" w="9525">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18"/>
          <p:cNvSpPr/>
          <p:nvPr/>
        </p:nvSpPr>
        <p:spPr>
          <a:xfrm>
            <a:off x="8037576" y="5060290"/>
            <a:ext cx="1691640" cy="23225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880"/>
              <a:buFont typeface="Calibri"/>
              <a:buNone/>
            </a:pPr>
            <a:r>
              <a:rPr b="0" i="0" lang="en-US" sz="780" u="none" cap="none" strike="noStrike">
                <a:solidFill>
                  <a:srgbClr val="2B2E2C"/>
                </a:solidFill>
                <a:latin typeface="Calibri"/>
                <a:ea typeface="Calibri"/>
                <a:cs typeface="Calibri"/>
                <a:sym typeface="Calibri"/>
              </a:rPr>
              <a:t>emface clinic london</a:t>
            </a:r>
            <a:endParaRPr b="0" i="0" sz="880" u="none" cap="none" strike="noStrike">
              <a:solidFill>
                <a:schemeClr val="dk1"/>
              </a:solidFill>
              <a:latin typeface="Calibri"/>
              <a:ea typeface="Calibri"/>
              <a:cs typeface="Calibri"/>
              <a:sym typeface="Calibri"/>
            </a:endParaRPr>
          </a:p>
        </p:txBody>
      </p:sp>
      <p:sp>
        <p:nvSpPr>
          <p:cNvPr id="970" name="Google Shape;970;p18"/>
          <p:cNvSpPr/>
          <p:nvPr/>
        </p:nvSpPr>
        <p:spPr>
          <a:xfrm>
            <a:off x="9701784" y="5060290"/>
            <a:ext cx="51206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E7873"/>
              </a:buClr>
              <a:buSzPts val="820"/>
              <a:buFont typeface="Calibri"/>
              <a:buNone/>
            </a:pPr>
            <a:r>
              <a:rPr b="0" i="0" lang="en-US" sz="740" u="none" cap="none" strike="noStrike">
                <a:solidFill>
                  <a:srgbClr val="6E7873"/>
                </a:solidFill>
                <a:latin typeface="Calibri"/>
                <a:ea typeface="Calibri"/>
                <a:cs typeface="Calibri"/>
                <a:sym typeface="Calibri"/>
              </a:rPr>
              <a:t>20</a:t>
            </a:r>
            <a:endParaRPr b="0" i="0" sz="820" u="none" cap="none" strike="noStrike">
              <a:solidFill>
                <a:schemeClr val="dk1"/>
              </a:solidFill>
              <a:latin typeface="Calibri"/>
              <a:ea typeface="Calibri"/>
              <a:cs typeface="Calibri"/>
              <a:sym typeface="Calibri"/>
            </a:endParaRPr>
          </a:p>
        </p:txBody>
      </p:sp>
      <p:sp>
        <p:nvSpPr>
          <p:cNvPr id="971" name="Google Shape;971;p18"/>
          <p:cNvSpPr/>
          <p:nvPr/>
        </p:nvSpPr>
        <p:spPr>
          <a:xfrm>
            <a:off x="10232136" y="5060290"/>
            <a:ext cx="182880" cy="23225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E7873"/>
              </a:buClr>
              <a:buSzPts val="760"/>
              <a:buFont typeface="Calibri"/>
              <a:buNone/>
            </a:pPr>
            <a:r>
              <a:rPr b="0" i="0" lang="en-US" sz="700" u="none" cap="none" strike="noStrike">
                <a:solidFill>
                  <a:srgbClr val="6E7873"/>
                </a:solidFill>
                <a:latin typeface="Calibri"/>
                <a:ea typeface="Calibri"/>
                <a:cs typeface="Calibri"/>
                <a:sym typeface="Calibri"/>
              </a:rPr>
              <a:t>M</a:t>
            </a:r>
            <a:endParaRPr b="0" i="0" sz="760" u="none" cap="none" strike="noStrike">
              <a:solidFill>
                <a:schemeClr val="dk1"/>
              </a:solidFill>
              <a:latin typeface="Calibri"/>
              <a:ea typeface="Calibri"/>
              <a:cs typeface="Calibri"/>
              <a:sym typeface="Calibri"/>
            </a:endParaRPr>
          </a:p>
        </p:txBody>
      </p:sp>
      <p:sp>
        <p:nvSpPr>
          <p:cNvPr id="972" name="Google Shape;972;p18"/>
          <p:cNvSpPr/>
          <p:nvPr/>
        </p:nvSpPr>
        <p:spPr>
          <a:xfrm>
            <a:off x="10433304" y="5060290"/>
            <a:ext cx="1060704" cy="232258"/>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760"/>
              <a:buFont typeface="Poppins"/>
              <a:buNone/>
            </a:pPr>
            <a:r>
              <a:rPr b="1" i="0" lang="en-US" sz="700" u="none" cap="none" strike="noStrike">
                <a:solidFill>
                  <a:srgbClr val="16A879"/>
                </a:solidFill>
                <a:latin typeface="Poppins"/>
                <a:ea typeface="Poppins"/>
                <a:cs typeface="Poppins"/>
                <a:sym typeface="Poppins"/>
              </a:rPr>
              <a:t>£1.50–£5.00</a:t>
            </a:r>
            <a:endParaRPr b="0" i="0" sz="760" u="none" cap="none" strike="noStrike">
              <a:solidFill>
                <a:schemeClr val="dk1"/>
              </a:solidFill>
              <a:latin typeface="Calibri"/>
              <a:ea typeface="Calibri"/>
              <a:cs typeface="Calibri"/>
              <a:sym typeface="Calibri"/>
            </a:endParaRPr>
          </a:p>
        </p:txBody>
      </p:sp>
      <p:sp>
        <p:nvSpPr>
          <p:cNvPr id="973" name="Google Shape;973;p18"/>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974" name="Google Shape;974;p18"/>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18</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9" name="Shape 979"/>
        <p:cNvGrpSpPr/>
        <p:nvPr/>
      </p:nvGrpSpPr>
      <p:grpSpPr>
        <a:xfrm>
          <a:off x="0" y="0"/>
          <a:ext cx="0" cy="0"/>
          <a:chOff x="0" y="0"/>
          <a:chExt cx="0" cy="0"/>
        </a:xfrm>
      </p:grpSpPr>
      <p:pic>
        <p:nvPicPr>
          <p:cNvPr descr="unpacked/ppt/media/image11.png" id="980" name="Google Shape;980;p19"/>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981" name="Google Shape;981;p19"/>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Ad Copy</a:t>
            </a:r>
            <a:endParaRPr b="0" i="0" sz="1500" u="none" cap="none" strike="noStrike">
              <a:solidFill>
                <a:schemeClr val="dk1"/>
              </a:solidFill>
              <a:latin typeface="Calibri"/>
              <a:ea typeface="Calibri"/>
              <a:cs typeface="Calibri"/>
              <a:sym typeface="Calibri"/>
            </a:endParaRPr>
          </a:p>
        </p:txBody>
      </p:sp>
      <p:sp>
        <p:nvSpPr>
          <p:cNvPr id="982" name="Google Shape;982;p19"/>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EMFACE · AD COPY · SET 1 OF 3</a:t>
            </a:r>
            <a:endParaRPr b="0" i="0" sz="1250" u="none" cap="none" strike="noStrike">
              <a:solidFill>
                <a:schemeClr val="dk1"/>
              </a:solidFill>
              <a:latin typeface="Calibri"/>
              <a:ea typeface="Calibri"/>
              <a:cs typeface="Calibri"/>
              <a:sym typeface="Calibri"/>
            </a:endParaRPr>
          </a:p>
        </p:txBody>
      </p:sp>
      <p:sp>
        <p:nvSpPr>
          <p:cNvPr id="983" name="Google Shape;983;p19"/>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Responsive Search Ad Copy</a:t>
            </a:r>
            <a:endParaRPr b="0" i="0" sz="3300" u="none" cap="none" strike="noStrike">
              <a:solidFill>
                <a:schemeClr val="dk1"/>
              </a:solidFill>
              <a:latin typeface="Calibri"/>
              <a:ea typeface="Calibri"/>
              <a:cs typeface="Calibri"/>
              <a:sym typeface="Calibri"/>
            </a:endParaRPr>
          </a:p>
        </p:txBody>
      </p:sp>
      <p:sp>
        <p:nvSpPr>
          <p:cNvPr id="984" name="Google Shape;984;p19"/>
          <p:cNvSpPr/>
          <p:nvPr/>
        </p:nvSpPr>
        <p:spPr>
          <a:xfrm>
            <a:off x="502920" y="1874520"/>
            <a:ext cx="5440680" cy="457200"/>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9"/>
          <p:cNvSpPr/>
          <p:nvPr/>
        </p:nvSpPr>
        <p:spPr>
          <a:xfrm>
            <a:off x="649224" y="1975104"/>
            <a:ext cx="256032" cy="256032"/>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19"/>
          <p:cNvSpPr/>
          <p:nvPr/>
        </p:nvSpPr>
        <p:spPr>
          <a:xfrm>
            <a:off x="649224" y="1975104"/>
            <a:ext cx="256032"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1</a:t>
            </a:r>
            <a:endParaRPr b="0" i="0" sz="1100" u="none" cap="none" strike="noStrike">
              <a:solidFill>
                <a:schemeClr val="dk1"/>
              </a:solidFill>
              <a:latin typeface="Calibri"/>
              <a:ea typeface="Calibri"/>
              <a:cs typeface="Calibri"/>
              <a:sym typeface="Calibri"/>
            </a:endParaRPr>
          </a:p>
        </p:txBody>
      </p:sp>
      <p:sp>
        <p:nvSpPr>
          <p:cNvPr id="987" name="Google Shape;987;p19"/>
          <p:cNvSpPr/>
          <p:nvPr/>
        </p:nvSpPr>
        <p:spPr>
          <a:xfrm>
            <a:off x="1014984" y="1874520"/>
            <a:ext cx="4837176"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Poppins"/>
              <a:buNone/>
            </a:pPr>
            <a:r>
              <a:rPr b="1" i="0" lang="en-US" sz="1250" u="none" cap="none" strike="noStrike">
                <a:solidFill>
                  <a:srgbClr val="FFFFFF"/>
                </a:solidFill>
                <a:latin typeface="Poppins"/>
                <a:ea typeface="Poppins"/>
                <a:cs typeface="Poppins"/>
                <a:sym typeface="Poppins"/>
              </a:rPr>
              <a:t>AD GROUP 1 · EmFace</a:t>
            </a:r>
            <a:endParaRPr b="0" i="0" sz="1250" u="none" cap="none" strike="noStrike">
              <a:solidFill>
                <a:schemeClr val="dk1"/>
              </a:solidFill>
              <a:latin typeface="Calibri"/>
              <a:ea typeface="Calibri"/>
              <a:cs typeface="Calibri"/>
              <a:sym typeface="Calibri"/>
            </a:endParaRPr>
          </a:p>
        </p:txBody>
      </p:sp>
      <p:sp>
        <p:nvSpPr>
          <p:cNvPr id="988" name="Google Shape;988;p19"/>
          <p:cNvSpPr/>
          <p:nvPr/>
        </p:nvSpPr>
        <p:spPr>
          <a:xfrm>
            <a:off x="557784" y="2468880"/>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HEADLINES (15 · ≤30 chars)</a:t>
            </a:r>
            <a:endParaRPr b="0" i="0" sz="1050" u="none" cap="none" strike="noStrike">
              <a:solidFill>
                <a:schemeClr val="dk1"/>
              </a:solidFill>
              <a:latin typeface="Calibri"/>
              <a:ea typeface="Calibri"/>
              <a:cs typeface="Calibri"/>
              <a:sym typeface="Calibri"/>
            </a:endParaRPr>
          </a:p>
        </p:txBody>
      </p:sp>
      <p:sp>
        <p:nvSpPr>
          <p:cNvPr id="989" name="Google Shape;989;p19"/>
          <p:cNvSpPr/>
          <p:nvPr/>
        </p:nvSpPr>
        <p:spPr>
          <a:xfrm>
            <a:off x="594360"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 EmFace in London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2. EmFace Near You</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3. EmFace at Our Holborn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4. Needle-Free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5. Facial Toning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6. 20-Minute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7. No Needles, No Downtime</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8. Dermatology-Led Clinic</a:t>
            </a:r>
            <a:endParaRPr b="0" i="0" sz="1030" u="none" cap="none" strike="noStrike">
              <a:solidFill>
                <a:schemeClr val="dk1"/>
              </a:solidFill>
              <a:latin typeface="Calibri"/>
              <a:ea typeface="Calibri"/>
              <a:cs typeface="Calibri"/>
              <a:sym typeface="Calibri"/>
            </a:endParaRPr>
          </a:p>
        </p:txBody>
      </p:sp>
      <p:sp>
        <p:nvSpPr>
          <p:cNvPr id="990" name="Google Shape;990;p19"/>
          <p:cNvSpPr/>
          <p:nvPr/>
        </p:nvSpPr>
        <p:spPr>
          <a:xfrm>
            <a:off x="3223260"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9. CQC-Regulated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10. Central London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11. Course of Four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12. Monthly Payment Options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13. Medically Supervised Plan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14. Non-Surgical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15. Book a Free Consultation</a:t>
            </a:r>
            <a:endParaRPr b="0" i="0" sz="1030" u="none" cap="none" strike="noStrike">
              <a:solidFill>
                <a:schemeClr val="dk1"/>
              </a:solidFill>
              <a:latin typeface="Calibri"/>
              <a:ea typeface="Calibri"/>
              <a:cs typeface="Calibri"/>
              <a:sym typeface="Calibri"/>
            </a:endParaRPr>
          </a:p>
        </p:txBody>
      </p:sp>
      <p:sp>
        <p:nvSpPr>
          <p:cNvPr id="991" name="Google Shape;991;p19"/>
          <p:cNvSpPr/>
          <p:nvPr/>
        </p:nvSpPr>
        <p:spPr>
          <a:xfrm>
            <a:off x="557784" y="4608576"/>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DESCRIPTIONS (≤90 chars)</a:t>
            </a:r>
            <a:endParaRPr b="0" i="0" sz="1050" u="none" cap="none" strike="noStrike">
              <a:solidFill>
                <a:schemeClr val="dk1"/>
              </a:solidFill>
              <a:latin typeface="Calibri"/>
              <a:ea typeface="Calibri"/>
              <a:cs typeface="Calibri"/>
              <a:sym typeface="Calibri"/>
            </a:endParaRPr>
          </a:p>
        </p:txBody>
      </p:sp>
      <p:sp>
        <p:nvSpPr>
          <p:cNvPr id="992" name="Google Shape;992;p19"/>
          <p:cNvSpPr/>
          <p:nvPr/>
        </p:nvSpPr>
        <p:spPr>
          <a:xfrm>
            <a:off x="594360" y="4864608"/>
            <a:ext cx="5303520" cy="146304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EmFace at a dermatology-led, CQC-regulated clinic in central London. Book a consult.</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20-minute treatment that may help lift and tone the face. No needles, no surgery.</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course planned at your medical consultation. Monthly payment options available.</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Book your free EmFace consultation at 233 High Holborn, WC1V. Enquire today.</a:t>
            </a:r>
            <a:endParaRPr b="0" i="0" sz="1030" u="none" cap="none" strike="noStrike">
              <a:solidFill>
                <a:schemeClr val="dk1"/>
              </a:solidFill>
              <a:latin typeface="Calibri"/>
              <a:ea typeface="Calibri"/>
              <a:cs typeface="Calibri"/>
              <a:sym typeface="Calibri"/>
            </a:endParaRPr>
          </a:p>
        </p:txBody>
      </p:sp>
      <p:sp>
        <p:nvSpPr>
          <p:cNvPr id="993" name="Google Shape;993;p19"/>
          <p:cNvSpPr/>
          <p:nvPr/>
        </p:nvSpPr>
        <p:spPr>
          <a:xfrm>
            <a:off x="6245352" y="1874520"/>
            <a:ext cx="5440680" cy="457200"/>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19"/>
          <p:cNvSpPr/>
          <p:nvPr/>
        </p:nvSpPr>
        <p:spPr>
          <a:xfrm>
            <a:off x="6391656" y="1975104"/>
            <a:ext cx="256032" cy="256032"/>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19"/>
          <p:cNvSpPr/>
          <p:nvPr/>
        </p:nvSpPr>
        <p:spPr>
          <a:xfrm>
            <a:off x="6391656" y="1975104"/>
            <a:ext cx="256032"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2</a:t>
            </a:r>
            <a:endParaRPr b="0" i="0" sz="1100" u="none" cap="none" strike="noStrike">
              <a:solidFill>
                <a:schemeClr val="dk1"/>
              </a:solidFill>
              <a:latin typeface="Calibri"/>
              <a:ea typeface="Calibri"/>
              <a:cs typeface="Calibri"/>
              <a:sym typeface="Calibri"/>
            </a:endParaRPr>
          </a:p>
        </p:txBody>
      </p:sp>
      <p:sp>
        <p:nvSpPr>
          <p:cNvPr id="996" name="Google Shape;996;p19"/>
          <p:cNvSpPr/>
          <p:nvPr/>
        </p:nvSpPr>
        <p:spPr>
          <a:xfrm>
            <a:off x="6757416" y="1874520"/>
            <a:ext cx="4837176"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Poppins"/>
              <a:buNone/>
            </a:pPr>
            <a:r>
              <a:rPr b="1" i="0" lang="en-US" sz="1250" u="none" cap="none" strike="noStrike">
                <a:solidFill>
                  <a:srgbClr val="FFFFFF"/>
                </a:solidFill>
                <a:latin typeface="Poppins"/>
                <a:ea typeface="Poppins"/>
                <a:cs typeface="Poppins"/>
                <a:sym typeface="Poppins"/>
              </a:rPr>
              <a:t>AD GROUP 2 · Non-Surgical Facelift</a:t>
            </a:r>
            <a:endParaRPr b="0" i="0" sz="1250" u="none" cap="none" strike="noStrike">
              <a:solidFill>
                <a:schemeClr val="dk1"/>
              </a:solidFill>
              <a:latin typeface="Calibri"/>
              <a:ea typeface="Calibri"/>
              <a:cs typeface="Calibri"/>
              <a:sym typeface="Calibri"/>
            </a:endParaRPr>
          </a:p>
        </p:txBody>
      </p:sp>
      <p:sp>
        <p:nvSpPr>
          <p:cNvPr id="997" name="Google Shape;997;p19"/>
          <p:cNvSpPr/>
          <p:nvPr/>
        </p:nvSpPr>
        <p:spPr>
          <a:xfrm>
            <a:off x="6300216" y="2468880"/>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HEADLINES (15 · ≤30 chars)</a:t>
            </a:r>
            <a:endParaRPr b="0" i="0" sz="1050" u="none" cap="none" strike="noStrike">
              <a:solidFill>
                <a:schemeClr val="dk1"/>
              </a:solidFill>
              <a:latin typeface="Calibri"/>
              <a:ea typeface="Calibri"/>
              <a:cs typeface="Calibri"/>
              <a:sym typeface="Calibri"/>
            </a:endParaRPr>
          </a:p>
        </p:txBody>
      </p:sp>
      <p:sp>
        <p:nvSpPr>
          <p:cNvPr id="998" name="Google Shape;998;p19"/>
          <p:cNvSpPr/>
          <p:nvPr/>
        </p:nvSpPr>
        <p:spPr>
          <a:xfrm>
            <a:off x="6336792"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 Non-Surgical Face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2. Face Treatment, No Surgery</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3. Needle-Free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4. No Surgery, No Downtime</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5. EmFace in London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6. Facial Toning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7. 20-Minute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8. Dermatology-Led Clinic</a:t>
            </a:r>
            <a:endParaRPr b="0" i="0" sz="1030" u="none" cap="none" strike="noStrike">
              <a:solidFill>
                <a:schemeClr val="dk1"/>
              </a:solidFill>
              <a:latin typeface="Calibri"/>
              <a:ea typeface="Calibri"/>
              <a:cs typeface="Calibri"/>
              <a:sym typeface="Calibri"/>
            </a:endParaRPr>
          </a:p>
        </p:txBody>
      </p:sp>
      <p:sp>
        <p:nvSpPr>
          <p:cNvPr id="999" name="Google Shape;999;p19"/>
          <p:cNvSpPr/>
          <p:nvPr/>
        </p:nvSpPr>
        <p:spPr>
          <a:xfrm>
            <a:off x="8965692"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9. CQC-Regulated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10. Central London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11. Course of Four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12. Monthly Payment Options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13. Medically Supervised</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14. Non-Surgical Option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15. Book a Free Consultation</a:t>
            </a:r>
            <a:endParaRPr b="0" i="0" sz="1030" u="none" cap="none" strike="noStrike">
              <a:solidFill>
                <a:schemeClr val="dk1"/>
              </a:solidFill>
              <a:latin typeface="Calibri"/>
              <a:ea typeface="Calibri"/>
              <a:cs typeface="Calibri"/>
              <a:sym typeface="Calibri"/>
            </a:endParaRPr>
          </a:p>
        </p:txBody>
      </p:sp>
      <p:sp>
        <p:nvSpPr>
          <p:cNvPr id="1000" name="Google Shape;1000;p19"/>
          <p:cNvSpPr/>
          <p:nvPr/>
        </p:nvSpPr>
        <p:spPr>
          <a:xfrm>
            <a:off x="6300216" y="4608576"/>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DESCRIPTIONS (≤90 chars)</a:t>
            </a:r>
            <a:endParaRPr b="0" i="0" sz="1050" u="none" cap="none" strike="noStrike">
              <a:solidFill>
                <a:schemeClr val="dk1"/>
              </a:solidFill>
              <a:latin typeface="Calibri"/>
              <a:ea typeface="Calibri"/>
              <a:cs typeface="Calibri"/>
              <a:sym typeface="Calibri"/>
            </a:endParaRPr>
          </a:p>
        </p:txBody>
      </p:sp>
      <p:sp>
        <p:nvSpPr>
          <p:cNvPr id="1001" name="Google Shape;1001;p19"/>
          <p:cNvSpPr/>
          <p:nvPr/>
        </p:nvSpPr>
        <p:spPr>
          <a:xfrm>
            <a:off x="6336792" y="4864608"/>
            <a:ext cx="5303520" cy="146304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non-surgical approach to the face. Dermatology-led clinic in central London.</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No surgery, no needles and no downtime — 20-minute sessions in central London.</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EmFace works on facial muscle as well as skin and may help lift and tone.</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Book a free consultation to find out whether EmFace suits you. Enquire now.</a:t>
            </a:r>
            <a:endParaRPr b="0" i="0" sz="1030" u="none" cap="none" strike="noStrike">
              <a:solidFill>
                <a:schemeClr val="dk1"/>
              </a:solidFill>
              <a:latin typeface="Calibri"/>
              <a:ea typeface="Calibri"/>
              <a:cs typeface="Calibri"/>
              <a:sym typeface="Calibri"/>
            </a:endParaRPr>
          </a:p>
        </p:txBody>
      </p:sp>
      <p:sp>
        <p:nvSpPr>
          <p:cNvPr id="1002" name="Google Shape;1002;p19"/>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003" name="Google Shape;1003;p19"/>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19</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8" name="Shape 1008"/>
        <p:cNvGrpSpPr/>
        <p:nvPr/>
      </p:nvGrpSpPr>
      <p:grpSpPr>
        <a:xfrm>
          <a:off x="0" y="0"/>
          <a:ext cx="0" cy="0"/>
          <a:chOff x="0" y="0"/>
          <a:chExt cx="0" cy="0"/>
        </a:xfrm>
      </p:grpSpPr>
      <p:pic>
        <p:nvPicPr>
          <p:cNvPr descr="unpacked/ppt/media/image11.png" id="1009" name="Google Shape;1009;p20"/>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010" name="Google Shape;1010;p20"/>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Ad Copy</a:t>
            </a:r>
            <a:endParaRPr b="0" i="0" sz="1500" u="none" cap="none" strike="noStrike">
              <a:solidFill>
                <a:schemeClr val="dk1"/>
              </a:solidFill>
              <a:latin typeface="Calibri"/>
              <a:ea typeface="Calibri"/>
              <a:cs typeface="Calibri"/>
              <a:sym typeface="Calibri"/>
            </a:endParaRPr>
          </a:p>
        </p:txBody>
      </p:sp>
      <p:sp>
        <p:nvSpPr>
          <p:cNvPr id="1011" name="Google Shape;1011;p20"/>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EMFACE · AD COPY · SET 2 OF 3</a:t>
            </a:r>
            <a:endParaRPr b="0" i="0" sz="1250" u="none" cap="none" strike="noStrike">
              <a:solidFill>
                <a:schemeClr val="dk1"/>
              </a:solidFill>
              <a:latin typeface="Calibri"/>
              <a:ea typeface="Calibri"/>
              <a:cs typeface="Calibri"/>
              <a:sym typeface="Calibri"/>
            </a:endParaRPr>
          </a:p>
        </p:txBody>
      </p:sp>
      <p:sp>
        <p:nvSpPr>
          <p:cNvPr id="1012" name="Google Shape;1012;p20"/>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Responsive Search Ad Copy</a:t>
            </a:r>
            <a:endParaRPr b="0" i="0" sz="3300" u="none" cap="none" strike="noStrike">
              <a:solidFill>
                <a:schemeClr val="dk1"/>
              </a:solidFill>
              <a:latin typeface="Calibri"/>
              <a:ea typeface="Calibri"/>
              <a:cs typeface="Calibri"/>
              <a:sym typeface="Calibri"/>
            </a:endParaRPr>
          </a:p>
        </p:txBody>
      </p:sp>
      <p:sp>
        <p:nvSpPr>
          <p:cNvPr id="1013" name="Google Shape;1013;p20"/>
          <p:cNvSpPr/>
          <p:nvPr/>
        </p:nvSpPr>
        <p:spPr>
          <a:xfrm>
            <a:off x="502920" y="1874520"/>
            <a:ext cx="5440680" cy="457200"/>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20"/>
          <p:cNvSpPr/>
          <p:nvPr/>
        </p:nvSpPr>
        <p:spPr>
          <a:xfrm>
            <a:off x="649224" y="1975104"/>
            <a:ext cx="256032" cy="256032"/>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20"/>
          <p:cNvSpPr/>
          <p:nvPr/>
        </p:nvSpPr>
        <p:spPr>
          <a:xfrm>
            <a:off x="649224" y="1975104"/>
            <a:ext cx="256032"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3</a:t>
            </a:r>
            <a:endParaRPr b="0" i="0" sz="1100" u="none" cap="none" strike="noStrike">
              <a:solidFill>
                <a:schemeClr val="dk1"/>
              </a:solidFill>
              <a:latin typeface="Calibri"/>
              <a:ea typeface="Calibri"/>
              <a:cs typeface="Calibri"/>
              <a:sym typeface="Calibri"/>
            </a:endParaRPr>
          </a:p>
        </p:txBody>
      </p:sp>
      <p:sp>
        <p:nvSpPr>
          <p:cNvPr id="1016" name="Google Shape;1016;p20"/>
          <p:cNvSpPr/>
          <p:nvPr/>
        </p:nvSpPr>
        <p:spPr>
          <a:xfrm>
            <a:off x="1014984" y="1874520"/>
            <a:ext cx="4837176"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Poppins"/>
              <a:buNone/>
            </a:pPr>
            <a:r>
              <a:rPr b="1" i="0" lang="en-US" sz="1250" u="none" cap="none" strike="noStrike">
                <a:solidFill>
                  <a:srgbClr val="FFFFFF"/>
                </a:solidFill>
                <a:latin typeface="Poppins"/>
                <a:ea typeface="Poppins"/>
                <a:cs typeface="Poppins"/>
                <a:sym typeface="Poppins"/>
              </a:rPr>
              <a:t>AD GROUP 3 · Facial Skin Tightening</a:t>
            </a:r>
            <a:endParaRPr b="0" i="0" sz="1250" u="none" cap="none" strike="noStrike">
              <a:solidFill>
                <a:schemeClr val="dk1"/>
              </a:solidFill>
              <a:latin typeface="Calibri"/>
              <a:ea typeface="Calibri"/>
              <a:cs typeface="Calibri"/>
              <a:sym typeface="Calibri"/>
            </a:endParaRPr>
          </a:p>
        </p:txBody>
      </p:sp>
      <p:sp>
        <p:nvSpPr>
          <p:cNvPr id="1017" name="Google Shape;1017;p20"/>
          <p:cNvSpPr/>
          <p:nvPr/>
        </p:nvSpPr>
        <p:spPr>
          <a:xfrm>
            <a:off x="557784" y="2468880"/>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HEADLINES (15 · ≤30 chars)</a:t>
            </a:r>
            <a:endParaRPr b="0" i="0" sz="1050" u="none" cap="none" strike="noStrike">
              <a:solidFill>
                <a:schemeClr val="dk1"/>
              </a:solidFill>
              <a:latin typeface="Calibri"/>
              <a:ea typeface="Calibri"/>
              <a:cs typeface="Calibri"/>
              <a:sym typeface="Calibri"/>
            </a:endParaRPr>
          </a:p>
        </p:txBody>
      </p:sp>
      <p:sp>
        <p:nvSpPr>
          <p:cNvPr id="1018" name="Google Shape;1018;p20"/>
          <p:cNvSpPr/>
          <p:nvPr/>
        </p:nvSpPr>
        <p:spPr>
          <a:xfrm>
            <a:off x="594360"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 Facial Skin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2. Skin Tightening London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3. Skin Firming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4. Radiofrequency Facial</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5. No Needles, No Downtime</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6. 20-Minute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7. Dermatology-Led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8. CQC-Regulated Clinic</a:t>
            </a:r>
            <a:endParaRPr b="0" i="0" sz="1030" u="none" cap="none" strike="noStrike">
              <a:solidFill>
                <a:schemeClr val="dk1"/>
              </a:solidFill>
              <a:latin typeface="Calibri"/>
              <a:ea typeface="Calibri"/>
              <a:cs typeface="Calibri"/>
              <a:sym typeface="Calibri"/>
            </a:endParaRPr>
          </a:p>
        </p:txBody>
      </p:sp>
      <p:sp>
        <p:nvSpPr>
          <p:cNvPr id="1019" name="Google Shape;1019;p20"/>
          <p:cNvSpPr/>
          <p:nvPr/>
        </p:nvSpPr>
        <p:spPr>
          <a:xfrm>
            <a:off x="3223260"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9. Central London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10. EmFace &amp; Exion Available</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11. Course of Four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12. Monthly Payment Options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13. Medically Supervised</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14. Non-Surgical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15. Book a Free Consultation</a:t>
            </a:r>
            <a:endParaRPr b="0" i="0" sz="1030" u="none" cap="none" strike="noStrike">
              <a:solidFill>
                <a:schemeClr val="dk1"/>
              </a:solidFill>
              <a:latin typeface="Calibri"/>
              <a:ea typeface="Calibri"/>
              <a:cs typeface="Calibri"/>
              <a:sym typeface="Calibri"/>
            </a:endParaRPr>
          </a:p>
        </p:txBody>
      </p:sp>
      <p:sp>
        <p:nvSpPr>
          <p:cNvPr id="1020" name="Google Shape;1020;p20"/>
          <p:cNvSpPr/>
          <p:nvPr/>
        </p:nvSpPr>
        <p:spPr>
          <a:xfrm>
            <a:off x="557784" y="4608576"/>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DESCRIPTIONS (≤90 chars)</a:t>
            </a:r>
            <a:endParaRPr b="0" i="0" sz="1050" u="none" cap="none" strike="noStrike">
              <a:solidFill>
                <a:schemeClr val="dk1"/>
              </a:solidFill>
              <a:latin typeface="Calibri"/>
              <a:ea typeface="Calibri"/>
              <a:cs typeface="Calibri"/>
              <a:sym typeface="Calibri"/>
            </a:endParaRPr>
          </a:p>
        </p:txBody>
      </p:sp>
      <p:sp>
        <p:nvSpPr>
          <p:cNvPr id="1021" name="Google Shape;1021;p20"/>
          <p:cNvSpPr/>
          <p:nvPr/>
        </p:nvSpPr>
        <p:spPr>
          <a:xfrm>
            <a:off x="594360" y="4864608"/>
            <a:ext cx="5303520" cy="146304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Facial skin treatments with EmFace and Exion at a dermatology-led Holborn clinic.</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Radiofrequency that may help firm the skin and tone facial muscle. No needles.</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course planned at your consultation, with monthly payment options available.</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Book a free skin tightening consultation in central London today. Enquire now.</a:t>
            </a:r>
            <a:endParaRPr b="0" i="0" sz="1030" u="none" cap="none" strike="noStrike">
              <a:solidFill>
                <a:schemeClr val="dk1"/>
              </a:solidFill>
              <a:latin typeface="Calibri"/>
              <a:ea typeface="Calibri"/>
              <a:cs typeface="Calibri"/>
              <a:sym typeface="Calibri"/>
            </a:endParaRPr>
          </a:p>
        </p:txBody>
      </p:sp>
      <p:sp>
        <p:nvSpPr>
          <p:cNvPr id="1022" name="Google Shape;1022;p20"/>
          <p:cNvSpPr/>
          <p:nvPr/>
        </p:nvSpPr>
        <p:spPr>
          <a:xfrm>
            <a:off x="6245352" y="1874520"/>
            <a:ext cx="5440680" cy="457200"/>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20"/>
          <p:cNvSpPr/>
          <p:nvPr/>
        </p:nvSpPr>
        <p:spPr>
          <a:xfrm>
            <a:off x="6391656" y="1975104"/>
            <a:ext cx="256032" cy="256032"/>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20"/>
          <p:cNvSpPr/>
          <p:nvPr/>
        </p:nvSpPr>
        <p:spPr>
          <a:xfrm>
            <a:off x="6391656" y="1975104"/>
            <a:ext cx="256032"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4</a:t>
            </a:r>
            <a:endParaRPr b="0" i="0" sz="1100" u="none" cap="none" strike="noStrike">
              <a:solidFill>
                <a:schemeClr val="dk1"/>
              </a:solidFill>
              <a:latin typeface="Calibri"/>
              <a:ea typeface="Calibri"/>
              <a:cs typeface="Calibri"/>
              <a:sym typeface="Calibri"/>
            </a:endParaRPr>
          </a:p>
        </p:txBody>
      </p:sp>
      <p:sp>
        <p:nvSpPr>
          <p:cNvPr id="1025" name="Google Shape;1025;p20"/>
          <p:cNvSpPr/>
          <p:nvPr/>
        </p:nvSpPr>
        <p:spPr>
          <a:xfrm>
            <a:off x="6757416" y="1874520"/>
            <a:ext cx="4837176"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Poppins"/>
              <a:buNone/>
            </a:pPr>
            <a:r>
              <a:rPr b="1" i="0" lang="en-US" sz="1250" u="none" cap="none" strike="noStrike">
                <a:solidFill>
                  <a:srgbClr val="FFFFFF"/>
                </a:solidFill>
                <a:latin typeface="Poppins"/>
                <a:ea typeface="Poppins"/>
                <a:cs typeface="Poppins"/>
                <a:sym typeface="Poppins"/>
              </a:rPr>
              <a:t>AD GROUP 4 · Jawline &amp; Jowls</a:t>
            </a:r>
            <a:endParaRPr b="0" i="0" sz="1250" u="none" cap="none" strike="noStrike">
              <a:solidFill>
                <a:schemeClr val="dk1"/>
              </a:solidFill>
              <a:latin typeface="Calibri"/>
              <a:ea typeface="Calibri"/>
              <a:cs typeface="Calibri"/>
              <a:sym typeface="Calibri"/>
            </a:endParaRPr>
          </a:p>
        </p:txBody>
      </p:sp>
      <p:sp>
        <p:nvSpPr>
          <p:cNvPr id="1026" name="Google Shape;1026;p20"/>
          <p:cNvSpPr/>
          <p:nvPr/>
        </p:nvSpPr>
        <p:spPr>
          <a:xfrm>
            <a:off x="6300216" y="2468880"/>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HEADLINES (15 · ≤30 chars)</a:t>
            </a:r>
            <a:endParaRPr b="0" i="0" sz="1050" u="none" cap="none" strike="noStrike">
              <a:solidFill>
                <a:schemeClr val="dk1"/>
              </a:solidFill>
              <a:latin typeface="Calibri"/>
              <a:ea typeface="Calibri"/>
              <a:cs typeface="Calibri"/>
              <a:sym typeface="Calibri"/>
            </a:endParaRPr>
          </a:p>
        </p:txBody>
      </p:sp>
      <p:sp>
        <p:nvSpPr>
          <p:cNvPr id="1027" name="Google Shape;1027;p20"/>
          <p:cNvSpPr/>
          <p:nvPr/>
        </p:nvSpPr>
        <p:spPr>
          <a:xfrm>
            <a:off x="6336792"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 Jawline Treatment London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2. Jawline Contouring</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3. Treatment for Jowls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4. Lower Face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5. Non-Surgical Jawline</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6. Needle-Free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7. EmFace in London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8. 20-Minute Sessions</a:t>
            </a:r>
            <a:endParaRPr b="0" i="0" sz="1030" u="none" cap="none" strike="noStrike">
              <a:solidFill>
                <a:schemeClr val="dk1"/>
              </a:solidFill>
              <a:latin typeface="Calibri"/>
              <a:ea typeface="Calibri"/>
              <a:cs typeface="Calibri"/>
              <a:sym typeface="Calibri"/>
            </a:endParaRPr>
          </a:p>
        </p:txBody>
      </p:sp>
      <p:sp>
        <p:nvSpPr>
          <p:cNvPr id="1028" name="Google Shape;1028;p20"/>
          <p:cNvSpPr/>
          <p:nvPr/>
        </p:nvSpPr>
        <p:spPr>
          <a:xfrm>
            <a:off x="8965692"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9. No Needles, No Downtime</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10. Dermatology-Led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11. CQC-Regulated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12. Central London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13. Course of Four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14. Monthly Payment Options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15. Book a Free Consultation</a:t>
            </a:r>
            <a:endParaRPr b="0" i="0" sz="1030" u="none" cap="none" strike="noStrike">
              <a:solidFill>
                <a:schemeClr val="dk1"/>
              </a:solidFill>
              <a:latin typeface="Calibri"/>
              <a:ea typeface="Calibri"/>
              <a:cs typeface="Calibri"/>
              <a:sym typeface="Calibri"/>
            </a:endParaRPr>
          </a:p>
        </p:txBody>
      </p:sp>
      <p:sp>
        <p:nvSpPr>
          <p:cNvPr id="1029" name="Google Shape;1029;p20"/>
          <p:cNvSpPr/>
          <p:nvPr/>
        </p:nvSpPr>
        <p:spPr>
          <a:xfrm>
            <a:off x="6300216" y="4608576"/>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DESCRIPTIONS (≤90 chars)</a:t>
            </a:r>
            <a:endParaRPr b="0" i="0" sz="1050" u="none" cap="none" strike="noStrike">
              <a:solidFill>
                <a:schemeClr val="dk1"/>
              </a:solidFill>
              <a:latin typeface="Calibri"/>
              <a:ea typeface="Calibri"/>
              <a:cs typeface="Calibri"/>
              <a:sym typeface="Calibri"/>
            </a:endParaRPr>
          </a:p>
        </p:txBody>
      </p:sp>
      <p:sp>
        <p:nvSpPr>
          <p:cNvPr id="1030" name="Google Shape;1030;p20"/>
          <p:cNvSpPr/>
          <p:nvPr/>
        </p:nvSpPr>
        <p:spPr>
          <a:xfrm>
            <a:off x="6336792" y="4864608"/>
            <a:ext cx="5303520" cy="146304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Non-surgical jawline and jowl treatment with EmFace. Dermatology-led Holborn clinic.</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treatment that may help lift and define the lower face. No needles, no surgery.</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course of 20-minute sessions, planned at your medical consultation. Enquire today.</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Book a free consultation at our CQC-regulated central London clinic. Book now.</a:t>
            </a:r>
            <a:endParaRPr b="0" i="0" sz="1030" u="none" cap="none" strike="noStrike">
              <a:solidFill>
                <a:schemeClr val="dk1"/>
              </a:solidFill>
              <a:latin typeface="Calibri"/>
              <a:ea typeface="Calibri"/>
              <a:cs typeface="Calibri"/>
              <a:sym typeface="Calibri"/>
            </a:endParaRPr>
          </a:p>
        </p:txBody>
      </p:sp>
      <p:sp>
        <p:nvSpPr>
          <p:cNvPr id="1031" name="Google Shape;1031;p20"/>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032" name="Google Shape;1032;p20"/>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20</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7" name="Shape 1037"/>
        <p:cNvGrpSpPr/>
        <p:nvPr/>
      </p:nvGrpSpPr>
      <p:grpSpPr>
        <a:xfrm>
          <a:off x="0" y="0"/>
          <a:ext cx="0" cy="0"/>
          <a:chOff x="0" y="0"/>
          <a:chExt cx="0" cy="0"/>
        </a:xfrm>
      </p:grpSpPr>
      <p:pic>
        <p:nvPicPr>
          <p:cNvPr descr="unpacked/ppt/media/image11.png" id="1038" name="Google Shape;1038;p21"/>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039" name="Google Shape;1039;p21"/>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Ad Copy</a:t>
            </a:r>
            <a:endParaRPr b="0" i="0" sz="1500" u="none" cap="none" strike="noStrike">
              <a:solidFill>
                <a:schemeClr val="dk1"/>
              </a:solidFill>
              <a:latin typeface="Calibri"/>
              <a:ea typeface="Calibri"/>
              <a:cs typeface="Calibri"/>
              <a:sym typeface="Calibri"/>
            </a:endParaRPr>
          </a:p>
        </p:txBody>
      </p:sp>
      <p:sp>
        <p:nvSpPr>
          <p:cNvPr id="1040" name="Google Shape;1040;p21"/>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EMFACE · AD COPY · SET 3 OF 3</a:t>
            </a:r>
            <a:endParaRPr b="0" i="0" sz="1250" u="none" cap="none" strike="noStrike">
              <a:solidFill>
                <a:schemeClr val="dk1"/>
              </a:solidFill>
              <a:latin typeface="Calibri"/>
              <a:ea typeface="Calibri"/>
              <a:cs typeface="Calibri"/>
              <a:sym typeface="Calibri"/>
            </a:endParaRPr>
          </a:p>
        </p:txBody>
      </p:sp>
      <p:sp>
        <p:nvSpPr>
          <p:cNvPr id="1041" name="Google Shape;1041;p21"/>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Responsive Search Ad Copy</a:t>
            </a:r>
            <a:endParaRPr b="0" i="0" sz="3300" u="none" cap="none" strike="noStrike">
              <a:solidFill>
                <a:schemeClr val="dk1"/>
              </a:solidFill>
              <a:latin typeface="Calibri"/>
              <a:ea typeface="Calibri"/>
              <a:cs typeface="Calibri"/>
              <a:sym typeface="Calibri"/>
            </a:endParaRPr>
          </a:p>
        </p:txBody>
      </p:sp>
      <p:sp>
        <p:nvSpPr>
          <p:cNvPr id="1042" name="Google Shape;1042;p21"/>
          <p:cNvSpPr/>
          <p:nvPr/>
        </p:nvSpPr>
        <p:spPr>
          <a:xfrm>
            <a:off x="502920" y="1874520"/>
            <a:ext cx="5440680" cy="457200"/>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21"/>
          <p:cNvSpPr/>
          <p:nvPr/>
        </p:nvSpPr>
        <p:spPr>
          <a:xfrm>
            <a:off x="649224" y="1975104"/>
            <a:ext cx="256032" cy="256032"/>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21"/>
          <p:cNvSpPr/>
          <p:nvPr/>
        </p:nvSpPr>
        <p:spPr>
          <a:xfrm>
            <a:off x="649224" y="1975104"/>
            <a:ext cx="256032"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5</a:t>
            </a:r>
            <a:endParaRPr b="0" i="0" sz="1100" u="none" cap="none" strike="noStrike">
              <a:solidFill>
                <a:schemeClr val="dk1"/>
              </a:solidFill>
              <a:latin typeface="Calibri"/>
              <a:ea typeface="Calibri"/>
              <a:cs typeface="Calibri"/>
              <a:sym typeface="Calibri"/>
            </a:endParaRPr>
          </a:p>
        </p:txBody>
      </p:sp>
      <p:sp>
        <p:nvSpPr>
          <p:cNvPr id="1045" name="Google Shape;1045;p21"/>
          <p:cNvSpPr/>
          <p:nvPr/>
        </p:nvSpPr>
        <p:spPr>
          <a:xfrm>
            <a:off x="1014984" y="1874520"/>
            <a:ext cx="4837176"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Poppins"/>
              <a:buNone/>
            </a:pPr>
            <a:r>
              <a:rPr b="1" i="0" lang="en-US" sz="1250" u="none" cap="none" strike="noStrike">
                <a:solidFill>
                  <a:srgbClr val="FFFFFF"/>
                </a:solidFill>
                <a:latin typeface="Poppins"/>
                <a:ea typeface="Poppins"/>
                <a:cs typeface="Poppins"/>
                <a:sym typeface="Poppins"/>
              </a:rPr>
              <a:t>AD GROUP 5 · Facial Muscle Toning</a:t>
            </a:r>
            <a:endParaRPr b="0" i="0" sz="1250" u="none" cap="none" strike="noStrike">
              <a:solidFill>
                <a:schemeClr val="dk1"/>
              </a:solidFill>
              <a:latin typeface="Calibri"/>
              <a:ea typeface="Calibri"/>
              <a:cs typeface="Calibri"/>
              <a:sym typeface="Calibri"/>
            </a:endParaRPr>
          </a:p>
        </p:txBody>
      </p:sp>
      <p:sp>
        <p:nvSpPr>
          <p:cNvPr id="1046" name="Google Shape;1046;p21"/>
          <p:cNvSpPr/>
          <p:nvPr/>
        </p:nvSpPr>
        <p:spPr>
          <a:xfrm>
            <a:off x="557784" y="2468880"/>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HEADLINES (15 · ≤30 chars)</a:t>
            </a:r>
            <a:endParaRPr b="0" i="0" sz="1050" u="none" cap="none" strike="noStrike">
              <a:solidFill>
                <a:schemeClr val="dk1"/>
              </a:solidFill>
              <a:latin typeface="Calibri"/>
              <a:ea typeface="Calibri"/>
              <a:cs typeface="Calibri"/>
              <a:sym typeface="Calibri"/>
            </a:endParaRPr>
          </a:p>
        </p:txBody>
      </p:sp>
      <p:sp>
        <p:nvSpPr>
          <p:cNvPr id="1047" name="Google Shape;1047;p21"/>
          <p:cNvSpPr/>
          <p:nvPr/>
        </p:nvSpPr>
        <p:spPr>
          <a:xfrm>
            <a:off x="594360"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 Facial Toning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2. Facial Muscle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3. Face Treatment, London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4. Needle-Free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5. EmFace in London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6. 20-Minute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7. No Needles, No Downtime</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8. Non-Surgical Treatment</a:t>
            </a:r>
            <a:endParaRPr b="0" i="0" sz="1030" u="none" cap="none" strike="noStrike">
              <a:solidFill>
                <a:schemeClr val="dk1"/>
              </a:solidFill>
              <a:latin typeface="Calibri"/>
              <a:ea typeface="Calibri"/>
              <a:cs typeface="Calibri"/>
              <a:sym typeface="Calibri"/>
            </a:endParaRPr>
          </a:p>
        </p:txBody>
      </p:sp>
      <p:sp>
        <p:nvSpPr>
          <p:cNvPr id="1048" name="Google Shape;1048;p21"/>
          <p:cNvSpPr/>
          <p:nvPr/>
        </p:nvSpPr>
        <p:spPr>
          <a:xfrm>
            <a:off x="3223260"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9. Dermatology-Led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10. CQC-Regulated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11. Central London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12. Course of Four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13. Monthly Payment Options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14. Medically Supervised</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15. Book a Free Consultation</a:t>
            </a:r>
            <a:endParaRPr b="0" i="0" sz="1030" u="none" cap="none" strike="noStrike">
              <a:solidFill>
                <a:schemeClr val="dk1"/>
              </a:solidFill>
              <a:latin typeface="Calibri"/>
              <a:ea typeface="Calibri"/>
              <a:cs typeface="Calibri"/>
              <a:sym typeface="Calibri"/>
            </a:endParaRPr>
          </a:p>
        </p:txBody>
      </p:sp>
      <p:sp>
        <p:nvSpPr>
          <p:cNvPr id="1049" name="Google Shape;1049;p21"/>
          <p:cNvSpPr/>
          <p:nvPr/>
        </p:nvSpPr>
        <p:spPr>
          <a:xfrm>
            <a:off x="557784" y="4608576"/>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DESCRIPTIONS (≤90 chars)</a:t>
            </a:r>
            <a:endParaRPr b="0" i="0" sz="1050" u="none" cap="none" strike="noStrike">
              <a:solidFill>
                <a:schemeClr val="dk1"/>
              </a:solidFill>
              <a:latin typeface="Calibri"/>
              <a:ea typeface="Calibri"/>
              <a:cs typeface="Calibri"/>
              <a:sym typeface="Calibri"/>
            </a:endParaRPr>
          </a:p>
        </p:txBody>
      </p:sp>
      <p:sp>
        <p:nvSpPr>
          <p:cNvPr id="1050" name="Google Shape;1050;p21"/>
          <p:cNvSpPr/>
          <p:nvPr/>
        </p:nvSpPr>
        <p:spPr>
          <a:xfrm>
            <a:off x="594360" y="4864608"/>
            <a:ext cx="5303520" cy="146304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EmFace works on the facial muscles as well as the skin — no needles, no downtime.</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20-minute treatment that may help lift and tone. Central London clinic.</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Dermatology-led and CQC-regulated, with monthly payment options available.</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Book a free consultation to plan your course of treatment. Enquire today.</a:t>
            </a:r>
            <a:endParaRPr b="0" i="0" sz="1030" u="none" cap="none" strike="noStrike">
              <a:solidFill>
                <a:schemeClr val="dk1"/>
              </a:solidFill>
              <a:latin typeface="Calibri"/>
              <a:ea typeface="Calibri"/>
              <a:cs typeface="Calibri"/>
              <a:sym typeface="Calibri"/>
            </a:endParaRPr>
          </a:p>
        </p:txBody>
      </p:sp>
      <p:sp>
        <p:nvSpPr>
          <p:cNvPr id="1051" name="Google Shape;1051;p21"/>
          <p:cNvSpPr/>
          <p:nvPr/>
        </p:nvSpPr>
        <p:spPr>
          <a:xfrm>
            <a:off x="6245352" y="1874520"/>
            <a:ext cx="5440680" cy="457200"/>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21"/>
          <p:cNvSpPr/>
          <p:nvPr/>
        </p:nvSpPr>
        <p:spPr>
          <a:xfrm>
            <a:off x="6391656" y="1975104"/>
            <a:ext cx="256032" cy="256032"/>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21"/>
          <p:cNvSpPr/>
          <p:nvPr/>
        </p:nvSpPr>
        <p:spPr>
          <a:xfrm>
            <a:off x="6391656" y="1975104"/>
            <a:ext cx="256032" cy="2560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6</a:t>
            </a:r>
            <a:endParaRPr b="0" i="0" sz="1100" u="none" cap="none" strike="noStrike">
              <a:solidFill>
                <a:schemeClr val="dk1"/>
              </a:solidFill>
              <a:latin typeface="Calibri"/>
              <a:ea typeface="Calibri"/>
              <a:cs typeface="Calibri"/>
              <a:sym typeface="Calibri"/>
            </a:endParaRPr>
          </a:p>
        </p:txBody>
      </p:sp>
      <p:sp>
        <p:nvSpPr>
          <p:cNvPr id="1054" name="Google Shape;1054;p21"/>
          <p:cNvSpPr/>
          <p:nvPr/>
        </p:nvSpPr>
        <p:spPr>
          <a:xfrm>
            <a:off x="6757416" y="1874520"/>
            <a:ext cx="4837176"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Poppins"/>
              <a:buNone/>
            </a:pPr>
            <a:r>
              <a:rPr b="1" i="0" lang="en-US" sz="1250" u="none" cap="none" strike="noStrike">
                <a:solidFill>
                  <a:srgbClr val="FFFFFF"/>
                </a:solidFill>
                <a:latin typeface="Poppins"/>
                <a:ea typeface="Poppins"/>
                <a:cs typeface="Poppins"/>
                <a:sym typeface="Poppins"/>
              </a:rPr>
              <a:t>AD GROUP 6 · Local (Central London)</a:t>
            </a:r>
            <a:endParaRPr b="0" i="0" sz="1250" u="none" cap="none" strike="noStrike">
              <a:solidFill>
                <a:schemeClr val="dk1"/>
              </a:solidFill>
              <a:latin typeface="Calibri"/>
              <a:ea typeface="Calibri"/>
              <a:cs typeface="Calibri"/>
              <a:sym typeface="Calibri"/>
            </a:endParaRPr>
          </a:p>
        </p:txBody>
      </p:sp>
      <p:sp>
        <p:nvSpPr>
          <p:cNvPr id="1055" name="Google Shape;1055;p21"/>
          <p:cNvSpPr/>
          <p:nvPr/>
        </p:nvSpPr>
        <p:spPr>
          <a:xfrm>
            <a:off x="6300216" y="2468880"/>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HEADLINES (15 · ≤30 chars)</a:t>
            </a:r>
            <a:endParaRPr b="0" i="0" sz="1050" u="none" cap="none" strike="noStrike">
              <a:solidFill>
                <a:schemeClr val="dk1"/>
              </a:solidFill>
              <a:latin typeface="Calibri"/>
              <a:ea typeface="Calibri"/>
              <a:cs typeface="Calibri"/>
              <a:sym typeface="Calibri"/>
            </a:endParaRPr>
          </a:p>
        </p:txBody>
      </p:sp>
      <p:sp>
        <p:nvSpPr>
          <p:cNvPr id="1056" name="Google Shape;1056;p21"/>
          <p:cNvSpPr/>
          <p:nvPr/>
        </p:nvSpPr>
        <p:spPr>
          <a:xfrm>
            <a:off x="6336792"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 EmFace Near You</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2. Facial Clinic in London</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3. Holborn Skin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4. 233 High Holborn, WC1V</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5. Skin Clinic Near the City</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6. Needle-Free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7. 20-Minute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8. No Needles, No Downtime</a:t>
            </a:r>
            <a:endParaRPr b="0" i="0" sz="1030" u="none" cap="none" strike="noStrike">
              <a:solidFill>
                <a:schemeClr val="dk1"/>
              </a:solidFill>
              <a:latin typeface="Calibri"/>
              <a:ea typeface="Calibri"/>
              <a:cs typeface="Calibri"/>
              <a:sym typeface="Calibri"/>
            </a:endParaRPr>
          </a:p>
        </p:txBody>
      </p:sp>
      <p:sp>
        <p:nvSpPr>
          <p:cNvPr id="1057" name="Google Shape;1057;p21"/>
          <p:cNvSpPr/>
          <p:nvPr/>
        </p:nvSpPr>
        <p:spPr>
          <a:xfrm>
            <a:off x="8965692" y="2743200"/>
            <a:ext cx="2628900" cy="1828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9. Dermatology-Led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10. CQC-Regulated Clinic</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11. Book a Local Consult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12. Course of Four Sessions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13. Monthly Payment Options</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14. Non-Surgical Treatment</a:t>
            </a:r>
            <a:endParaRPr b="0" i="0" sz="103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30"/>
              <a:buFont typeface="Calibri"/>
              <a:buNone/>
            </a:pPr>
            <a:r>
              <a:rPr b="0" i="0" lang="en-US" sz="1030" u="none" cap="none" strike="noStrike">
                <a:solidFill>
                  <a:srgbClr val="2B2E2C"/>
                </a:solidFill>
                <a:latin typeface="Calibri"/>
                <a:ea typeface="Calibri"/>
                <a:cs typeface="Calibri"/>
                <a:sym typeface="Calibri"/>
              </a:rPr>
              <a:t>15. Book a Free Consultation</a:t>
            </a:r>
            <a:endParaRPr b="0" i="0" sz="1030" u="none" cap="none" strike="noStrike">
              <a:solidFill>
                <a:schemeClr val="dk1"/>
              </a:solidFill>
              <a:latin typeface="Calibri"/>
              <a:ea typeface="Calibri"/>
              <a:cs typeface="Calibri"/>
              <a:sym typeface="Calibri"/>
            </a:endParaRPr>
          </a:p>
        </p:txBody>
      </p:sp>
      <p:sp>
        <p:nvSpPr>
          <p:cNvPr id="1058" name="Google Shape;1058;p21"/>
          <p:cNvSpPr/>
          <p:nvPr/>
        </p:nvSpPr>
        <p:spPr>
          <a:xfrm>
            <a:off x="6300216" y="4608576"/>
            <a:ext cx="544068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Poppins"/>
              <a:buNone/>
            </a:pPr>
            <a:r>
              <a:rPr b="1" i="0" lang="en-US" sz="1050" u="none" cap="none" strike="noStrike">
                <a:solidFill>
                  <a:srgbClr val="16A879"/>
                </a:solidFill>
                <a:latin typeface="Poppins"/>
                <a:ea typeface="Poppins"/>
                <a:cs typeface="Poppins"/>
                <a:sym typeface="Poppins"/>
              </a:rPr>
              <a:t>DESCRIPTIONS (≤90 chars)</a:t>
            </a:r>
            <a:endParaRPr b="0" i="0" sz="1050" u="none" cap="none" strike="noStrike">
              <a:solidFill>
                <a:schemeClr val="dk1"/>
              </a:solidFill>
              <a:latin typeface="Calibri"/>
              <a:ea typeface="Calibri"/>
              <a:cs typeface="Calibri"/>
              <a:sym typeface="Calibri"/>
            </a:endParaRPr>
          </a:p>
        </p:txBody>
      </p:sp>
      <p:sp>
        <p:nvSpPr>
          <p:cNvPr id="1059" name="Google Shape;1059;p21"/>
          <p:cNvSpPr/>
          <p:nvPr/>
        </p:nvSpPr>
        <p:spPr>
          <a:xfrm>
            <a:off x="6336792" y="4864608"/>
            <a:ext cx="5303520" cy="146304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EmFace at 233 High Holborn, WC1V — a dermatology-led clinic minutes from the City.</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A needle-free facial treatment close to the office. Book a local consult.</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20-minute sessions with no downtime. CQC-regulated and medically supervised.</a:t>
            </a:r>
            <a:endParaRPr b="0" i="0" sz="1030" u="none" cap="none" strike="noStrike">
              <a:solidFill>
                <a:schemeClr val="dk1"/>
              </a:solidFill>
              <a:latin typeface="Calibri"/>
              <a:ea typeface="Calibri"/>
              <a:cs typeface="Calibri"/>
              <a:sym typeface="Calibri"/>
            </a:endParaRPr>
          </a:p>
          <a:p>
            <a:pPr indent="-152400" lvl="0" marL="152400" marR="0" rtl="0" algn="l">
              <a:lnSpc>
                <a:spcPct val="100000"/>
              </a:lnSpc>
              <a:spcBef>
                <a:spcPts val="400"/>
              </a:spcBef>
              <a:spcAft>
                <a:spcPts val="0"/>
              </a:spcAft>
              <a:buClr>
                <a:srgbClr val="2B2E2C"/>
              </a:buClr>
              <a:buSzPts val="1030"/>
              <a:buFont typeface="Calibri"/>
              <a:buChar char="•"/>
            </a:pPr>
            <a:r>
              <a:rPr b="0" i="0" lang="en-US" sz="1030" u="none" cap="none" strike="noStrike">
                <a:solidFill>
                  <a:srgbClr val="2B2E2C"/>
                </a:solidFill>
                <a:latin typeface="Calibri"/>
                <a:ea typeface="Calibri"/>
                <a:cs typeface="Calibri"/>
                <a:sym typeface="Calibri"/>
              </a:rPr>
              <a:t>Book your free consultation at our central London skin clinic today.</a:t>
            </a:r>
            <a:endParaRPr b="0" i="0" sz="1030" u="none" cap="none" strike="noStrike">
              <a:solidFill>
                <a:schemeClr val="dk1"/>
              </a:solidFill>
              <a:latin typeface="Calibri"/>
              <a:ea typeface="Calibri"/>
              <a:cs typeface="Calibri"/>
              <a:sym typeface="Calibri"/>
            </a:endParaRPr>
          </a:p>
        </p:txBody>
      </p:sp>
      <p:sp>
        <p:nvSpPr>
          <p:cNvPr id="1060" name="Google Shape;1060;p21"/>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061" name="Google Shape;1061;p21"/>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21</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6" name="Shape 1066"/>
        <p:cNvGrpSpPr/>
        <p:nvPr/>
      </p:nvGrpSpPr>
      <p:grpSpPr>
        <a:xfrm>
          <a:off x="0" y="0"/>
          <a:ext cx="0" cy="0"/>
          <a:chOff x="0" y="0"/>
          <a:chExt cx="0" cy="0"/>
        </a:xfrm>
      </p:grpSpPr>
      <p:pic>
        <p:nvPicPr>
          <p:cNvPr descr="unpacked/ppt/media/image11.png" id="1067" name="Google Shape;1067;p22"/>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068" name="Google Shape;1068;p22"/>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Protect</a:t>
            </a:r>
            <a:endParaRPr b="0" i="0" sz="1500" u="none" cap="none" strike="noStrike">
              <a:solidFill>
                <a:schemeClr val="dk1"/>
              </a:solidFill>
              <a:latin typeface="Calibri"/>
              <a:ea typeface="Calibri"/>
              <a:cs typeface="Calibri"/>
              <a:sym typeface="Calibri"/>
            </a:endParaRPr>
          </a:p>
        </p:txBody>
      </p:sp>
      <p:sp>
        <p:nvSpPr>
          <p:cNvPr id="1069" name="Google Shape;1069;p22"/>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CAMPAIGN PROTECTION</a:t>
            </a:r>
            <a:endParaRPr b="0" i="0" sz="1250" u="none" cap="none" strike="noStrike">
              <a:solidFill>
                <a:schemeClr val="dk1"/>
              </a:solidFill>
              <a:latin typeface="Calibri"/>
              <a:ea typeface="Calibri"/>
              <a:cs typeface="Calibri"/>
              <a:sym typeface="Calibri"/>
            </a:endParaRPr>
          </a:p>
        </p:txBody>
      </p:sp>
      <p:sp>
        <p:nvSpPr>
          <p:cNvPr id="1070" name="Google Shape;1070;p22"/>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Negative Keywords</a:t>
            </a:r>
            <a:endParaRPr b="0" i="0" sz="3300" u="none" cap="none" strike="noStrike">
              <a:solidFill>
                <a:schemeClr val="dk1"/>
              </a:solidFill>
              <a:latin typeface="Calibri"/>
              <a:ea typeface="Calibri"/>
              <a:cs typeface="Calibri"/>
              <a:sym typeface="Calibri"/>
            </a:endParaRPr>
          </a:p>
        </p:txBody>
      </p:sp>
      <p:sp>
        <p:nvSpPr>
          <p:cNvPr id="1071" name="Google Shape;1071;p22"/>
          <p:cNvSpPr/>
          <p:nvPr/>
        </p:nvSpPr>
        <p:spPr>
          <a:xfrm>
            <a:off x="502920" y="1993392"/>
            <a:ext cx="1115568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These exclusions keep EmFace spend away from injectables, thread lifts, surgical facelift traffic, competitor devices, DIY face-exercise searches and machine buyers. The full list of 74 broad and 39 phrase negatives is supplied as an importable file.</a:t>
            </a:r>
            <a:endParaRPr b="0" i="0" sz="1350" u="none" cap="none" strike="noStrike">
              <a:solidFill>
                <a:schemeClr val="dk1"/>
              </a:solidFill>
              <a:latin typeface="Calibri"/>
              <a:ea typeface="Calibri"/>
              <a:cs typeface="Calibri"/>
              <a:sym typeface="Calibri"/>
            </a:endParaRPr>
          </a:p>
        </p:txBody>
      </p:sp>
      <p:sp>
        <p:nvSpPr>
          <p:cNvPr id="1072" name="Google Shape;1072;p22"/>
          <p:cNvSpPr/>
          <p:nvPr/>
        </p:nvSpPr>
        <p:spPr>
          <a:xfrm>
            <a:off x="502920" y="2615184"/>
            <a:ext cx="6537960" cy="3611880"/>
          </a:xfrm>
          <a:prstGeom prst="roundRect">
            <a:avLst>
              <a:gd fmla="val 2532"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22"/>
          <p:cNvSpPr/>
          <p:nvPr/>
        </p:nvSpPr>
        <p:spPr>
          <a:xfrm>
            <a:off x="777240" y="2852928"/>
            <a:ext cx="512064" cy="512064"/>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an_white.png" id="1074" name="Google Shape;1074;p22"/>
          <p:cNvPicPr preferRelativeResize="0"/>
          <p:nvPr/>
        </p:nvPicPr>
        <p:blipFill rotWithShape="1">
          <a:blip r:embed="rId4">
            <a:alphaModFix/>
          </a:blip>
          <a:srcRect b="0" l="0" r="0" t="0"/>
          <a:stretch/>
        </p:blipFill>
        <p:spPr>
          <a:xfrm>
            <a:off x="905256" y="2980944"/>
            <a:ext cx="256032" cy="256032"/>
          </a:xfrm>
          <a:prstGeom prst="rect">
            <a:avLst/>
          </a:prstGeom>
          <a:noFill/>
          <a:ln>
            <a:noFill/>
          </a:ln>
        </p:spPr>
      </p:pic>
      <p:sp>
        <p:nvSpPr>
          <p:cNvPr id="1075" name="Google Shape;1075;p22"/>
          <p:cNvSpPr/>
          <p:nvPr/>
        </p:nvSpPr>
        <p:spPr>
          <a:xfrm>
            <a:off x="1417320" y="2852928"/>
            <a:ext cx="4526280" cy="5120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600"/>
              <a:buFont typeface="Poppins"/>
              <a:buNone/>
            </a:pPr>
            <a:r>
              <a:rPr b="1" i="0" lang="en-US" sz="1600" u="none" cap="none" strike="noStrike">
                <a:solidFill>
                  <a:srgbClr val="2B2E2C"/>
                </a:solidFill>
                <a:latin typeface="Poppins"/>
                <a:ea typeface="Poppins"/>
                <a:cs typeface="Poppins"/>
                <a:sym typeface="Poppins"/>
              </a:rPr>
              <a:t>Broad Match Negatives</a:t>
            </a:r>
            <a:endParaRPr b="0" i="0" sz="1600" u="none" cap="none" strike="noStrike">
              <a:solidFill>
                <a:schemeClr val="dk1"/>
              </a:solidFill>
              <a:latin typeface="Calibri"/>
              <a:ea typeface="Calibri"/>
              <a:cs typeface="Calibri"/>
              <a:sym typeface="Calibri"/>
            </a:endParaRPr>
          </a:p>
        </p:txBody>
      </p:sp>
      <p:sp>
        <p:nvSpPr>
          <p:cNvPr id="1076" name="Google Shape;1076;p22"/>
          <p:cNvSpPr/>
          <p:nvPr/>
        </p:nvSpPr>
        <p:spPr>
          <a:xfrm>
            <a:off x="5577840" y="2852928"/>
            <a:ext cx="1188720" cy="512064"/>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300"/>
              <a:buFont typeface="Poppins"/>
              <a:buNone/>
            </a:pPr>
            <a:r>
              <a:rPr b="1" i="0" lang="en-US" sz="1300" u="none" cap="none" strike="noStrike">
                <a:solidFill>
                  <a:srgbClr val="16A879"/>
                </a:solidFill>
                <a:latin typeface="Poppins"/>
                <a:ea typeface="Poppins"/>
                <a:cs typeface="Poppins"/>
                <a:sym typeface="Poppins"/>
              </a:rPr>
              <a:t>74 terms — 24 shown</a:t>
            </a:r>
            <a:endParaRPr b="0" i="0" sz="1300" u="none" cap="none" strike="noStrike">
              <a:solidFill>
                <a:schemeClr val="dk1"/>
              </a:solidFill>
              <a:latin typeface="Calibri"/>
              <a:ea typeface="Calibri"/>
              <a:cs typeface="Calibri"/>
              <a:sym typeface="Calibri"/>
            </a:endParaRPr>
          </a:p>
        </p:txBody>
      </p:sp>
      <p:sp>
        <p:nvSpPr>
          <p:cNvPr id="1077" name="Google Shape;1077;p22"/>
          <p:cNvSpPr/>
          <p:nvPr/>
        </p:nvSpPr>
        <p:spPr>
          <a:xfrm>
            <a:off x="795528" y="3511296"/>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22"/>
          <p:cNvSpPr/>
          <p:nvPr/>
        </p:nvSpPr>
        <p:spPr>
          <a:xfrm>
            <a:off x="795528" y="3511296"/>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botox</a:t>
            </a:r>
            <a:endParaRPr b="0" i="0" sz="920" u="none" cap="none" strike="noStrike">
              <a:solidFill>
                <a:schemeClr val="dk1"/>
              </a:solidFill>
              <a:latin typeface="Calibri"/>
              <a:ea typeface="Calibri"/>
              <a:cs typeface="Calibri"/>
              <a:sym typeface="Calibri"/>
            </a:endParaRPr>
          </a:p>
        </p:txBody>
      </p:sp>
      <p:sp>
        <p:nvSpPr>
          <p:cNvPr id="1079" name="Google Shape;1079;p22"/>
          <p:cNvSpPr/>
          <p:nvPr/>
        </p:nvSpPr>
        <p:spPr>
          <a:xfrm>
            <a:off x="2004365" y="3511296"/>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22"/>
          <p:cNvSpPr/>
          <p:nvPr/>
        </p:nvSpPr>
        <p:spPr>
          <a:xfrm>
            <a:off x="2004365" y="3511296"/>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filler</a:t>
            </a:r>
            <a:endParaRPr b="0" i="0" sz="920" u="none" cap="none" strike="noStrike">
              <a:solidFill>
                <a:schemeClr val="dk1"/>
              </a:solidFill>
              <a:latin typeface="Calibri"/>
              <a:ea typeface="Calibri"/>
              <a:cs typeface="Calibri"/>
              <a:sym typeface="Calibri"/>
            </a:endParaRPr>
          </a:p>
        </p:txBody>
      </p:sp>
      <p:sp>
        <p:nvSpPr>
          <p:cNvPr id="1081" name="Google Shape;1081;p22"/>
          <p:cNvSpPr/>
          <p:nvPr/>
        </p:nvSpPr>
        <p:spPr>
          <a:xfrm>
            <a:off x="3213202" y="3511296"/>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22"/>
          <p:cNvSpPr/>
          <p:nvPr/>
        </p:nvSpPr>
        <p:spPr>
          <a:xfrm>
            <a:off x="3213202" y="3511296"/>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fillers</a:t>
            </a:r>
            <a:endParaRPr b="0" i="0" sz="920" u="none" cap="none" strike="noStrike">
              <a:solidFill>
                <a:schemeClr val="dk1"/>
              </a:solidFill>
              <a:latin typeface="Calibri"/>
              <a:ea typeface="Calibri"/>
              <a:cs typeface="Calibri"/>
              <a:sym typeface="Calibri"/>
            </a:endParaRPr>
          </a:p>
        </p:txBody>
      </p:sp>
      <p:sp>
        <p:nvSpPr>
          <p:cNvPr id="1083" name="Google Shape;1083;p22"/>
          <p:cNvSpPr/>
          <p:nvPr/>
        </p:nvSpPr>
        <p:spPr>
          <a:xfrm>
            <a:off x="4422038" y="3511296"/>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22"/>
          <p:cNvSpPr/>
          <p:nvPr/>
        </p:nvSpPr>
        <p:spPr>
          <a:xfrm>
            <a:off x="4422038" y="3511296"/>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thread</a:t>
            </a:r>
            <a:endParaRPr b="0" i="0" sz="920" u="none" cap="none" strike="noStrike">
              <a:solidFill>
                <a:schemeClr val="dk1"/>
              </a:solidFill>
              <a:latin typeface="Calibri"/>
              <a:ea typeface="Calibri"/>
              <a:cs typeface="Calibri"/>
              <a:sym typeface="Calibri"/>
            </a:endParaRPr>
          </a:p>
        </p:txBody>
      </p:sp>
      <p:sp>
        <p:nvSpPr>
          <p:cNvPr id="1085" name="Google Shape;1085;p22"/>
          <p:cNvSpPr/>
          <p:nvPr/>
        </p:nvSpPr>
        <p:spPr>
          <a:xfrm>
            <a:off x="5630875" y="3511296"/>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22"/>
          <p:cNvSpPr/>
          <p:nvPr/>
        </p:nvSpPr>
        <p:spPr>
          <a:xfrm>
            <a:off x="5630875" y="3511296"/>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threadlift</a:t>
            </a:r>
            <a:endParaRPr b="0" i="0" sz="920" u="none" cap="none" strike="noStrike">
              <a:solidFill>
                <a:schemeClr val="dk1"/>
              </a:solidFill>
              <a:latin typeface="Calibri"/>
              <a:ea typeface="Calibri"/>
              <a:cs typeface="Calibri"/>
              <a:sym typeface="Calibri"/>
            </a:endParaRPr>
          </a:p>
        </p:txBody>
      </p:sp>
      <p:sp>
        <p:nvSpPr>
          <p:cNvPr id="1087" name="Google Shape;1087;p22"/>
          <p:cNvSpPr/>
          <p:nvPr/>
        </p:nvSpPr>
        <p:spPr>
          <a:xfrm>
            <a:off x="795528" y="3890772"/>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22"/>
          <p:cNvSpPr/>
          <p:nvPr/>
        </p:nvSpPr>
        <p:spPr>
          <a:xfrm>
            <a:off x="795528" y="3890772"/>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surgeon</a:t>
            </a:r>
            <a:endParaRPr b="0" i="0" sz="920" u="none" cap="none" strike="noStrike">
              <a:solidFill>
                <a:schemeClr val="dk1"/>
              </a:solidFill>
              <a:latin typeface="Calibri"/>
              <a:ea typeface="Calibri"/>
              <a:cs typeface="Calibri"/>
              <a:sym typeface="Calibri"/>
            </a:endParaRPr>
          </a:p>
        </p:txBody>
      </p:sp>
      <p:sp>
        <p:nvSpPr>
          <p:cNvPr id="1089" name="Google Shape;1089;p22"/>
          <p:cNvSpPr/>
          <p:nvPr/>
        </p:nvSpPr>
        <p:spPr>
          <a:xfrm>
            <a:off x="2004365" y="3890772"/>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22"/>
          <p:cNvSpPr/>
          <p:nvPr/>
        </p:nvSpPr>
        <p:spPr>
          <a:xfrm>
            <a:off x="2004365" y="3890772"/>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hifu</a:t>
            </a:r>
            <a:endParaRPr b="0" i="0" sz="920" u="none" cap="none" strike="noStrike">
              <a:solidFill>
                <a:schemeClr val="dk1"/>
              </a:solidFill>
              <a:latin typeface="Calibri"/>
              <a:ea typeface="Calibri"/>
              <a:cs typeface="Calibri"/>
              <a:sym typeface="Calibri"/>
            </a:endParaRPr>
          </a:p>
        </p:txBody>
      </p:sp>
      <p:sp>
        <p:nvSpPr>
          <p:cNvPr id="1091" name="Google Shape;1091;p22"/>
          <p:cNvSpPr/>
          <p:nvPr/>
        </p:nvSpPr>
        <p:spPr>
          <a:xfrm>
            <a:off x="3213202" y="3890772"/>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22"/>
          <p:cNvSpPr/>
          <p:nvPr/>
        </p:nvSpPr>
        <p:spPr>
          <a:xfrm>
            <a:off x="3213202" y="3890772"/>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ultherapy</a:t>
            </a:r>
            <a:endParaRPr b="0" i="0" sz="920" u="none" cap="none" strike="noStrike">
              <a:solidFill>
                <a:schemeClr val="dk1"/>
              </a:solidFill>
              <a:latin typeface="Calibri"/>
              <a:ea typeface="Calibri"/>
              <a:cs typeface="Calibri"/>
              <a:sym typeface="Calibri"/>
            </a:endParaRPr>
          </a:p>
        </p:txBody>
      </p:sp>
      <p:sp>
        <p:nvSpPr>
          <p:cNvPr id="1093" name="Google Shape;1093;p22"/>
          <p:cNvSpPr/>
          <p:nvPr/>
        </p:nvSpPr>
        <p:spPr>
          <a:xfrm>
            <a:off x="4422038" y="3890772"/>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22"/>
          <p:cNvSpPr/>
          <p:nvPr/>
        </p:nvSpPr>
        <p:spPr>
          <a:xfrm>
            <a:off x="4422038" y="3890772"/>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morpheus8</a:t>
            </a:r>
            <a:endParaRPr b="0" i="0" sz="920" u="none" cap="none" strike="noStrike">
              <a:solidFill>
                <a:schemeClr val="dk1"/>
              </a:solidFill>
              <a:latin typeface="Calibri"/>
              <a:ea typeface="Calibri"/>
              <a:cs typeface="Calibri"/>
              <a:sym typeface="Calibri"/>
            </a:endParaRPr>
          </a:p>
        </p:txBody>
      </p:sp>
      <p:sp>
        <p:nvSpPr>
          <p:cNvPr id="1095" name="Google Shape;1095;p22"/>
          <p:cNvSpPr/>
          <p:nvPr/>
        </p:nvSpPr>
        <p:spPr>
          <a:xfrm>
            <a:off x="5630875" y="3890772"/>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22"/>
          <p:cNvSpPr/>
          <p:nvPr/>
        </p:nvSpPr>
        <p:spPr>
          <a:xfrm>
            <a:off x="5630875" y="3890772"/>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profhilo</a:t>
            </a:r>
            <a:endParaRPr b="0" i="0" sz="920" u="none" cap="none" strike="noStrike">
              <a:solidFill>
                <a:schemeClr val="dk1"/>
              </a:solidFill>
              <a:latin typeface="Calibri"/>
              <a:ea typeface="Calibri"/>
              <a:cs typeface="Calibri"/>
              <a:sym typeface="Calibri"/>
            </a:endParaRPr>
          </a:p>
        </p:txBody>
      </p:sp>
      <p:sp>
        <p:nvSpPr>
          <p:cNvPr id="1097" name="Google Shape;1097;p22"/>
          <p:cNvSpPr/>
          <p:nvPr/>
        </p:nvSpPr>
        <p:spPr>
          <a:xfrm>
            <a:off x="795528" y="4270248"/>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22"/>
          <p:cNvSpPr/>
          <p:nvPr/>
        </p:nvSpPr>
        <p:spPr>
          <a:xfrm>
            <a:off x="795528" y="4270248"/>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machine</a:t>
            </a:r>
            <a:endParaRPr b="0" i="0" sz="920" u="none" cap="none" strike="noStrike">
              <a:solidFill>
                <a:schemeClr val="dk1"/>
              </a:solidFill>
              <a:latin typeface="Calibri"/>
              <a:ea typeface="Calibri"/>
              <a:cs typeface="Calibri"/>
              <a:sym typeface="Calibri"/>
            </a:endParaRPr>
          </a:p>
        </p:txBody>
      </p:sp>
      <p:sp>
        <p:nvSpPr>
          <p:cNvPr id="1099" name="Google Shape;1099;p22"/>
          <p:cNvSpPr/>
          <p:nvPr/>
        </p:nvSpPr>
        <p:spPr>
          <a:xfrm>
            <a:off x="2004365" y="4270248"/>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22"/>
          <p:cNvSpPr/>
          <p:nvPr/>
        </p:nvSpPr>
        <p:spPr>
          <a:xfrm>
            <a:off x="2004365" y="4270248"/>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device</a:t>
            </a:r>
            <a:endParaRPr b="0" i="0" sz="920" u="none" cap="none" strike="noStrike">
              <a:solidFill>
                <a:schemeClr val="dk1"/>
              </a:solidFill>
              <a:latin typeface="Calibri"/>
              <a:ea typeface="Calibri"/>
              <a:cs typeface="Calibri"/>
              <a:sym typeface="Calibri"/>
            </a:endParaRPr>
          </a:p>
        </p:txBody>
      </p:sp>
      <p:sp>
        <p:nvSpPr>
          <p:cNvPr id="1101" name="Google Shape;1101;p22"/>
          <p:cNvSpPr/>
          <p:nvPr/>
        </p:nvSpPr>
        <p:spPr>
          <a:xfrm>
            <a:off x="3213202" y="4270248"/>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p22"/>
          <p:cNvSpPr/>
          <p:nvPr/>
        </p:nvSpPr>
        <p:spPr>
          <a:xfrm>
            <a:off x="3213202" y="4270248"/>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buy</a:t>
            </a:r>
            <a:endParaRPr b="0" i="0" sz="920" u="none" cap="none" strike="noStrike">
              <a:solidFill>
                <a:schemeClr val="dk1"/>
              </a:solidFill>
              <a:latin typeface="Calibri"/>
              <a:ea typeface="Calibri"/>
              <a:cs typeface="Calibri"/>
              <a:sym typeface="Calibri"/>
            </a:endParaRPr>
          </a:p>
        </p:txBody>
      </p:sp>
      <p:sp>
        <p:nvSpPr>
          <p:cNvPr id="1103" name="Google Shape;1103;p22"/>
          <p:cNvSpPr/>
          <p:nvPr/>
        </p:nvSpPr>
        <p:spPr>
          <a:xfrm>
            <a:off x="4422038" y="4270248"/>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22"/>
          <p:cNvSpPr/>
          <p:nvPr/>
        </p:nvSpPr>
        <p:spPr>
          <a:xfrm>
            <a:off x="4422038" y="4270248"/>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training</a:t>
            </a:r>
            <a:endParaRPr b="0" i="0" sz="920" u="none" cap="none" strike="noStrike">
              <a:solidFill>
                <a:schemeClr val="dk1"/>
              </a:solidFill>
              <a:latin typeface="Calibri"/>
              <a:ea typeface="Calibri"/>
              <a:cs typeface="Calibri"/>
              <a:sym typeface="Calibri"/>
            </a:endParaRPr>
          </a:p>
        </p:txBody>
      </p:sp>
      <p:sp>
        <p:nvSpPr>
          <p:cNvPr id="1105" name="Google Shape;1105;p22"/>
          <p:cNvSpPr/>
          <p:nvPr/>
        </p:nvSpPr>
        <p:spPr>
          <a:xfrm>
            <a:off x="5630875" y="4270248"/>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22"/>
          <p:cNvSpPr/>
          <p:nvPr/>
        </p:nvSpPr>
        <p:spPr>
          <a:xfrm>
            <a:off x="5630875" y="4270248"/>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course</a:t>
            </a:r>
            <a:endParaRPr b="0" i="0" sz="920" u="none" cap="none" strike="noStrike">
              <a:solidFill>
                <a:schemeClr val="dk1"/>
              </a:solidFill>
              <a:latin typeface="Calibri"/>
              <a:ea typeface="Calibri"/>
              <a:cs typeface="Calibri"/>
              <a:sym typeface="Calibri"/>
            </a:endParaRPr>
          </a:p>
        </p:txBody>
      </p:sp>
      <p:sp>
        <p:nvSpPr>
          <p:cNvPr id="1107" name="Google Shape;1107;p22"/>
          <p:cNvSpPr/>
          <p:nvPr/>
        </p:nvSpPr>
        <p:spPr>
          <a:xfrm>
            <a:off x="795528" y="4649724"/>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22"/>
          <p:cNvSpPr/>
          <p:nvPr/>
        </p:nvSpPr>
        <p:spPr>
          <a:xfrm>
            <a:off x="795528" y="4649724"/>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jobs</a:t>
            </a:r>
            <a:endParaRPr b="0" i="0" sz="920" u="none" cap="none" strike="noStrike">
              <a:solidFill>
                <a:schemeClr val="dk1"/>
              </a:solidFill>
              <a:latin typeface="Calibri"/>
              <a:ea typeface="Calibri"/>
              <a:cs typeface="Calibri"/>
              <a:sym typeface="Calibri"/>
            </a:endParaRPr>
          </a:p>
        </p:txBody>
      </p:sp>
      <p:sp>
        <p:nvSpPr>
          <p:cNvPr id="1109" name="Google Shape;1109;p22"/>
          <p:cNvSpPr/>
          <p:nvPr/>
        </p:nvSpPr>
        <p:spPr>
          <a:xfrm>
            <a:off x="2004365" y="4649724"/>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22"/>
          <p:cNvSpPr/>
          <p:nvPr/>
        </p:nvSpPr>
        <p:spPr>
          <a:xfrm>
            <a:off x="2004365" y="4649724"/>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reddit</a:t>
            </a:r>
            <a:endParaRPr b="0" i="0" sz="920" u="none" cap="none" strike="noStrike">
              <a:solidFill>
                <a:schemeClr val="dk1"/>
              </a:solidFill>
              <a:latin typeface="Calibri"/>
              <a:ea typeface="Calibri"/>
              <a:cs typeface="Calibri"/>
              <a:sym typeface="Calibri"/>
            </a:endParaRPr>
          </a:p>
        </p:txBody>
      </p:sp>
      <p:sp>
        <p:nvSpPr>
          <p:cNvPr id="1111" name="Google Shape;1111;p22"/>
          <p:cNvSpPr/>
          <p:nvPr/>
        </p:nvSpPr>
        <p:spPr>
          <a:xfrm>
            <a:off x="3213202" y="4649724"/>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22"/>
          <p:cNvSpPr/>
          <p:nvPr/>
        </p:nvSpPr>
        <p:spPr>
          <a:xfrm>
            <a:off x="3213202" y="4649724"/>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youtube</a:t>
            </a:r>
            <a:endParaRPr b="0" i="0" sz="920" u="none" cap="none" strike="noStrike">
              <a:solidFill>
                <a:schemeClr val="dk1"/>
              </a:solidFill>
              <a:latin typeface="Calibri"/>
              <a:ea typeface="Calibri"/>
              <a:cs typeface="Calibri"/>
              <a:sym typeface="Calibri"/>
            </a:endParaRPr>
          </a:p>
        </p:txBody>
      </p:sp>
      <p:sp>
        <p:nvSpPr>
          <p:cNvPr id="1113" name="Google Shape;1113;p22"/>
          <p:cNvSpPr/>
          <p:nvPr/>
        </p:nvSpPr>
        <p:spPr>
          <a:xfrm>
            <a:off x="4422038" y="4649724"/>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22"/>
          <p:cNvSpPr/>
          <p:nvPr/>
        </p:nvSpPr>
        <p:spPr>
          <a:xfrm>
            <a:off x="4422038" y="4649724"/>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tiktok</a:t>
            </a:r>
            <a:endParaRPr b="0" i="0" sz="920" u="none" cap="none" strike="noStrike">
              <a:solidFill>
                <a:schemeClr val="dk1"/>
              </a:solidFill>
              <a:latin typeface="Calibri"/>
              <a:ea typeface="Calibri"/>
              <a:cs typeface="Calibri"/>
              <a:sym typeface="Calibri"/>
            </a:endParaRPr>
          </a:p>
        </p:txBody>
      </p:sp>
      <p:sp>
        <p:nvSpPr>
          <p:cNvPr id="1115" name="Google Shape;1115;p22"/>
          <p:cNvSpPr/>
          <p:nvPr/>
        </p:nvSpPr>
        <p:spPr>
          <a:xfrm>
            <a:off x="5630875" y="4649724"/>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22"/>
          <p:cNvSpPr/>
          <p:nvPr/>
        </p:nvSpPr>
        <p:spPr>
          <a:xfrm>
            <a:off x="5630875" y="4649724"/>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wikipedia</a:t>
            </a:r>
            <a:endParaRPr b="0" i="0" sz="920" u="none" cap="none" strike="noStrike">
              <a:solidFill>
                <a:schemeClr val="dk1"/>
              </a:solidFill>
              <a:latin typeface="Calibri"/>
              <a:ea typeface="Calibri"/>
              <a:cs typeface="Calibri"/>
              <a:sym typeface="Calibri"/>
            </a:endParaRPr>
          </a:p>
        </p:txBody>
      </p:sp>
      <p:sp>
        <p:nvSpPr>
          <p:cNvPr id="1117" name="Google Shape;1117;p22"/>
          <p:cNvSpPr/>
          <p:nvPr/>
        </p:nvSpPr>
        <p:spPr>
          <a:xfrm>
            <a:off x="795528" y="5029200"/>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22"/>
          <p:cNvSpPr/>
          <p:nvPr/>
        </p:nvSpPr>
        <p:spPr>
          <a:xfrm>
            <a:off x="795528" y="5029200"/>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turkey</a:t>
            </a:r>
            <a:endParaRPr b="0" i="0" sz="920" u="none" cap="none" strike="noStrike">
              <a:solidFill>
                <a:schemeClr val="dk1"/>
              </a:solidFill>
              <a:latin typeface="Calibri"/>
              <a:ea typeface="Calibri"/>
              <a:cs typeface="Calibri"/>
              <a:sym typeface="Calibri"/>
            </a:endParaRPr>
          </a:p>
        </p:txBody>
      </p:sp>
      <p:sp>
        <p:nvSpPr>
          <p:cNvPr id="1119" name="Google Shape;1119;p22"/>
          <p:cNvSpPr/>
          <p:nvPr/>
        </p:nvSpPr>
        <p:spPr>
          <a:xfrm>
            <a:off x="2004365" y="5029200"/>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22"/>
          <p:cNvSpPr/>
          <p:nvPr/>
        </p:nvSpPr>
        <p:spPr>
          <a:xfrm>
            <a:off x="2004365" y="5029200"/>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abroad</a:t>
            </a:r>
            <a:endParaRPr b="0" i="0" sz="920" u="none" cap="none" strike="noStrike">
              <a:solidFill>
                <a:schemeClr val="dk1"/>
              </a:solidFill>
              <a:latin typeface="Calibri"/>
              <a:ea typeface="Calibri"/>
              <a:cs typeface="Calibri"/>
              <a:sym typeface="Calibri"/>
            </a:endParaRPr>
          </a:p>
        </p:txBody>
      </p:sp>
      <p:sp>
        <p:nvSpPr>
          <p:cNvPr id="1121" name="Google Shape;1121;p22"/>
          <p:cNvSpPr/>
          <p:nvPr/>
        </p:nvSpPr>
        <p:spPr>
          <a:xfrm>
            <a:off x="3213202" y="5029200"/>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22"/>
          <p:cNvSpPr/>
          <p:nvPr/>
        </p:nvSpPr>
        <p:spPr>
          <a:xfrm>
            <a:off x="3213202" y="5029200"/>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cheap</a:t>
            </a:r>
            <a:endParaRPr b="0" i="0" sz="920" u="none" cap="none" strike="noStrike">
              <a:solidFill>
                <a:schemeClr val="dk1"/>
              </a:solidFill>
              <a:latin typeface="Calibri"/>
              <a:ea typeface="Calibri"/>
              <a:cs typeface="Calibri"/>
              <a:sym typeface="Calibri"/>
            </a:endParaRPr>
          </a:p>
        </p:txBody>
      </p:sp>
      <p:sp>
        <p:nvSpPr>
          <p:cNvPr id="1123" name="Google Shape;1123;p22"/>
          <p:cNvSpPr/>
          <p:nvPr/>
        </p:nvSpPr>
        <p:spPr>
          <a:xfrm>
            <a:off x="4422038" y="5029200"/>
            <a:ext cx="1117397" cy="292608"/>
          </a:xfrm>
          <a:prstGeom prst="roundRect">
            <a:avLst>
              <a:gd fmla="val 15625" name="adj"/>
            </a:avLst>
          </a:prstGeom>
          <a:solidFill>
            <a:srgbClr val="E2F5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22"/>
          <p:cNvSpPr/>
          <p:nvPr/>
        </p:nvSpPr>
        <p:spPr>
          <a:xfrm>
            <a:off x="4422038" y="5029200"/>
            <a:ext cx="1117397" cy="29260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2B2E2C"/>
              </a:buClr>
              <a:buSzPts val="920"/>
              <a:buFont typeface="Calibri"/>
              <a:buNone/>
            </a:pPr>
            <a:r>
              <a:rPr b="0" i="0" lang="en-US" sz="920" u="none" cap="none" strike="noStrike">
                <a:solidFill>
                  <a:srgbClr val="2B2E2C"/>
                </a:solidFill>
                <a:latin typeface="Calibri"/>
                <a:ea typeface="Calibri"/>
                <a:cs typeface="Calibri"/>
                <a:sym typeface="Calibri"/>
              </a:rPr>
              <a:t>massage</a:t>
            </a:r>
            <a:endParaRPr b="0" i="0" sz="920" u="none" cap="none" strike="noStrike">
              <a:solidFill>
                <a:schemeClr val="dk1"/>
              </a:solidFill>
              <a:latin typeface="Calibri"/>
              <a:ea typeface="Calibri"/>
              <a:cs typeface="Calibri"/>
              <a:sym typeface="Calibri"/>
            </a:endParaRPr>
          </a:p>
        </p:txBody>
      </p:sp>
      <p:sp>
        <p:nvSpPr>
          <p:cNvPr id="1125" name="Google Shape;1125;p22"/>
          <p:cNvSpPr/>
          <p:nvPr/>
        </p:nvSpPr>
        <p:spPr>
          <a:xfrm>
            <a:off x="7269480" y="2615184"/>
            <a:ext cx="4416552" cy="3611880"/>
          </a:xfrm>
          <a:prstGeom prst="roundRect">
            <a:avLst>
              <a:gd fmla="val 2532" name="adj"/>
            </a:avLst>
          </a:prstGeom>
          <a:solidFill>
            <a:srgbClr val="1A2620"/>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22"/>
          <p:cNvSpPr/>
          <p:nvPr/>
        </p:nvSpPr>
        <p:spPr>
          <a:xfrm>
            <a:off x="7525512" y="2852928"/>
            <a:ext cx="512064" cy="512064"/>
          </a:xfrm>
          <a:prstGeom prst="ellipse">
            <a:avLst/>
          </a:prstGeom>
          <a:solidFill>
            <a:srgbClr val="3BE2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an_dark.png" id="1127" name="Google Shape;1127;p22"/>
          <p:cNvPicPr preferRelativeResize="0"/>
          <p:nvPr/>
        </p:nvPicPr>
        <p:blipFill rotWithShape="1">
          <a:blip r:embed="rId5">
            <a:alphaModFix/>
          </a:blip>
          <a:srcRect b="0" l="0" r="0" t="0"/>
          <a:stretch/>
        </p:blipFill>
        <p:spPr>
          <a:xfrm>
            <a:off x="7653528" y="2980944"/>
            <a:ext cx="256032" cy="256032"/>
          </a:xfrm>
          <a:prstGeom prst="rect">
            <a:avLst/>
          </a:prstGeom>
          <a:noFill/>
          <a:ln>
            <a:noFill/>
          </a:ln>
        </p:spPr>
      </p:pic>
      <p:sp>
        <p:nvSpPr>
          <p:cNvPr id="1128" name="Google Shape;1128;p22"/>
          <p:cNvSpPr/>
          <p:nvPr/>
        </p:nvSpPr>
        <p:spPr>
          <a:xfrm>
            <a:off x="8147304" y="2834640"/>
            <a:ext cx="3319272"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50"/>
              <a:buFont typeface="Poppins"/>
              <a:buNone/>
            </a:pPr>
            <a:r>
              <a:rPr b="1" i="0" lang="en-US" sz="1450" u="none" cap="none" strike="noStrike">
                <a:solidFill>
                  <a:srgbClr val="FFFFFF"/>
                </a:solidFill>
                <a:latin typeface="Poppins"/>
                <a:ea typeface="Poppins"/>
                <a:cs typeface="Poppins"/>
                <a:sym typeface="Poppins"/>
              </a:rPr>
              <a:t>Phrase Match Negatives</a:t>
            </a:r>
            <a:endParaRPr b="0" i="0" sz="1450" u="none" cap="none" strike="noStrike">
              <a:solidFill>
                <a:schemeClr val="dk1"/>
              </a:solidFill>
              <a:latin typeface="Calibri"/>
              <a:ea typeface="Calibri"/>
              <a:cs typeface="Calibri"/>
              <a:sym typeface="Calibri"/>
            </a:endParaRPr>
          </a:p>
        </p:txBody>
      </p:sp>
      <p:sp>
        <p:nvSpPr>
          <p:cNvPr id="1129" name="Google Shape;1129;p22"/>
          <p:cNvSpPr/>
          <p:nvPr/>
        </p:nvSpPr>
        <p:spPr>
          <a:xfrm>
            <a:off x="7580376" y="3401568"/>
            <a:ext cx="3813048" cy="2715768"/>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"thread lift"</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"mini facelift"</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"ponytail facelift"</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"liquid facelift"</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"facelift surgery"</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"deep plane"</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"face yoga"</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"face exercises"</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"facial massage"</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"anti wrinkle injections"</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"dermal filler"</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"at home"</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"how to"</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"does it work"</a:t>
            </a:r>
            <a:endParaRPr b="0" i="0" sz="960" u="none" cap="none" strike="noStrike">
              <a:solidFill>
                <a:schemeClr val="dk1"/>
              </a:solidFill>
              <a:latin typeface="Calibri"/>
              <a:ea typeface="Calibri"/>
              <a:cs typeface="Calibri"/>
              <a:sym typeface="Calibri"/>
            </a:endParaRPr>
          </a:p>
          <a:p>
            <a:pPr indent="-139700" lvl="0" marL="139700" marR="0" rtl="0" algn="l">
              <a:lnSpc>
                <a:spcPct val="100000"/>
              </a:lnSpc>
              <a:spcBef>
                <a:spcPts val="160"/>
              </a:spcBef>
              <a:spcAft>
                <a:spcPts val="0"/>
              </a:spcAft>
              <a:buClr>
                <a:srgbClr val="C9D2CE"/>
              </a:buClr>
              <a:buSzPts val="960"/>
              <a:buFont typeface="Calibri"/>
              <a:buChar char="•"/>
            </a:pPr>
            <a:r>
              <a:rPr b="0" i="0" lang="en-US" sz="960" u="none" cap="none" strike="noStrike">
                <a:solidFill>
                  <a:srgbClr val="C9D2CE"/>
                </a:solidFill>
                <a:latin typeface="Calibri"/>
                <a:ea typeface="Calibri"/>
                <a:cs typeface="Calibri"/>
                <a:sym typeface="Calibri"/>
              </a:rPr>
              <a:t>"emface machine"</a:t>
            </a:r>
            <a:endParaRPr b="0" i="0" sz="960" u="none" cap="none" strike="noStrike">
              <a:solidFill>
                <a:schemeClr val="dk1"/>
              </a:solidFill>
              <a:latin typeface="Calibri"/>
              <a:ea typeface="Calibri"/>
              <a:cs typeface="Calibri"/>
              <a:sym typeface="Calibri"/>
            </a:endParaRPr>
          </a:p>
        </p:txBody>
      </p:sp>
      <p:sp>
        <p:nvSpPr>
          <p:cNvPr id="1130" name="Google Shape;1130;p22"/>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131" name="Google Shape;1131;p22"/>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22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6" name="Shape 1136"/>
        <p:cNvGrpSpPr/>
        <p:nvPr/>
      </p:nvGrpSpPr>
      <p:grpSpPr>
        <a:xfrm>
          <a:off x="0" y="0"/>
          <a:ext cx="0" cy="0"/>
          <a:chOff x="0" y="0"/>
          <a:chExt cx="0" cy="0"/>
        </a:xfrm>
      </p:grpSpPr>
      <p:pic>
        <p:nvPicPr>
          <p:cNvPr descr="unpacked/ppt/media/image11.png" id="1137" name="Google Shape;1137;p23"/>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138" name="Google Shape;1138;p23"/>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PMax</a:t>
            </a:r>
            <a:endParaRPr b="0" i="0" sz="1500" u="none" cap="none" strike="noStrike">
              <a:solidFill>
                <a:schemeClr val="dk1"/>
              </a:solidFill>
              <a:latin typeface="Calibri"/>
              <a:ea typeface="Calibri"/>
              <a:cs typeface="Calibri"/>
              <a:sym typeface="Calibri"/>
            </a:endParaRPr>
          </a:p>
        </p:txBody>
      </p:sp>
      <p:sp>
        <p:nvSpPr>
          <p:cNvPr id="1139" name="Google Shape;1139;p23"/>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PHASE 2 · PERFORMANCE MAX</a:t>
            </a:r>
            <a:endParaRPr b="0" i="0" sz="1250" u="none" cap="none" strike="noStrike">
              <a:solidFill>
                <a:schemeClr val="dk1"/>
              </a:solidFill>
              <a:latin typeface="Calibri"/>
              <a:ea typeface="Calibri"/>
              <a:cs typeface="Calibri"/>
              <a:sym typeface="Calibri"/>
            </a:endParaRPr>
          </a:p>
        </p:txBody>
      </p:sp>
      <p:sp>
        <p:nvSpPr>
          <p:cNvPr id="1140" name="Google Shape;1140;p23"/>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Performance Max — Asset Groups</a:t>
            </a:r>
            <a:endParaRPr b="0" i="0" sz="3300" u="none" cap="none" strike="noStrike">
              <a:solidFill>
                <a:schemeClr val="dk1"/>
              </a:solidFill>
              <a:latin typeface="Calibri"/>
              <a:ea typeface="Calibri"/>
              <a:cs typeface="Calibri"/>
              <a:sym typeface="Calibri"/>
            </a:endParaRPr>
          </a:p>
        </p:txBody>
      </p:sp>
      <p:sp>
        <p:nvSpPr>
          <p:cNvPr id="1141" name="Google Shape;1141;p23"/>
          <p:cNvSpPr/>
          <p:nvPr/>
        </p:nvSpPr>
        <p:spPr>
          <a:xfrm>
            <a:off x="502920" y="1993392"/>
            <a:ext cx="1115568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Once Search is delivering, we layer in Performance Max to reach qualified prospects across YouTube, Discover, Gmail, Maps and Display. Each device runs as its own PMax campaign, with two asset groups — one per persona.</a:t>
            </a:r>
            <a:endParaRPr b="0" i="0" sz="1350" u="none" cap="none" strike="noStrike">
              <a:solidFill>
                <a:schemeClr val="dk1"/>
              </a:solidFill>
              <a:latin typeface="Calibri"/>
              <a:ea typeface="Calibri"/>
              <a:cs typeface="Calibri"/>
              <a:sym typeface="Calibri"/>
            </a:endParaRPr>
          </a:p>
        </p:txBody>
      </p:sp>
      <p:sp>
        <p:nvSpPr>
          <p:cNvPr id="1142" name="Google Shape;1142;p23"/>
          <p:cNvSpPr/>
          <p:nvPr/>
        </p:nvSpPr>
        <p:spPr>
          <a:xfrm>
            <a:off x="502920" y="2615184"/>
            <a:ext cx="5440680" cy="548640"/>
          </a:xfrm>
          <a:prstGeom prst="roundRect">
            <a:avLst>
              <a:gd fmla="val 13333" name="adj"/>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23"/>
          <p:cNvSpPr/>
          <p:nvPr/>
        </p:nvSpPr>
        <p:spPr>
          <a:xfrm>
            <a:off x="667512" y="2706624"/>
            <a:ext cx="365760" cy="365760"/>
          </a:xfrm>
          <a:prstGeom prst="ellipse">
            <a:avLst/>
          </a:prstGeom>
          <a:solidFill>
            <a:srgbClr val="3BE2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_dark.png" id="1144" name="Google Shape;1144;p23"/>
          <p:cNvPicPr preferRelativeResize="0"/>
          <p:nvPr/>
        </p:nvPicPr>
        <p:blipFill rotWithShape="1">
          <a:blip r:embed="rId4">
            <a:alphaModFix/>
          </a:blip>
          <a:srcRect b="0" l="0" r="0" t="0"/>
          <a:stretch/>
        </p:blipFill>
        <p:spPr>
          <a:xfrm>
            <a:off x="749808" y="2788920"/>
            <a:ext cx="201168" cy="201168"/>
          </a:xfrm>
          <a:prstGeom prst="rect">
            <a:avLst/>
          </a:prstGeom>
          <a:noFill/>
          <a:ln>
            <a:noFill/>
          </a:ln>
        </p:spPr>
      </p:pic>
      <p:sp>
        <p:nvSpPr>
          <p:cNvPr id="1145" name="Google Shape;1145;p23"/>
          <p:cNvSpPr/>
          <p:nvPr/>
        </p:nvSpPr>
        <p:spPr>
          <a:xfrm>
            <a:off x="1161288" y="2615184"/>
            <a:ext cx="406908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Poppins"/>
              <a:buNone/>
            </a:pPr>
            <a:r>
              <a:rPr b="1" i="0" lang="en-US" sz="1600" u="none" cap="none" strike="noStrike">
                <a:solidFill>
                  <a:srgbClr val="FFFFFF"/>
                </a:solidFill>
                <a:latin typeface="Poppins"/>
                <a:ea typeface="Poppins"/>
                <a:cs typeface="Poppins"/>
                <a:sym typeface="Poppins"/>
              </a:rPr>
              <a:t>EmBody / EMSCULPT NEO</a:t>
            </a:r>
            <a:endParaRPr b="0" i="0" sz="1600" u="none" cap="none" strike="noStrike">
              <a:solidFill>
                <a:schemeClr val="dk1"/>
              </a:solidFill>
              <a:latin typeface="Calibri"/>
              <a:ea typeface="Calibri"/>
              <a:cs typeface="Calibri"/>
              <a:sym typeface="Calibri"/>
            </a:endParaRPr>
          </a:p>
        </p:txBody>
      </p:sp>
      <p:sp>
        <p:nvSpPr>
          <p:cNvPr id="1146" name="Google Shape;1146;p23"/>
          <p:cNvSpPr/>
          <p:nvPr/>
        </p:nvSpPr>
        <p:spPr>
          <a:xfrm>
            <a:off x="4297680" y="2615184"/>
            <a:ext cx="1508760" cy="5486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3BE29F"/>
              </a:buClr>
              <a:buSzPts val="1100"/>
              <a:buFont typeface="Poppins"/>
              <a:buNone/>
            </a:pPr>
            <a:r>
              <a:rPr b="1" i="0" lang="en-US" sz="1100" u="none" cap="none" strike="noStrike">
                <a:solidFill>
                  <a:srgbClr val="3BE29F"/>
                </a:solidFill>
                <a:latin typeface="Poppins"/>
                <a:ea typeface="Poppins"/>
                <a:cs typeface="Poppins"/>
                <a:sym typeface="Poppins"/>
              </a:rPr>
              <a:t>2 asset groups</a:t>
            </a:r>
            <a:endParaRPr b="0" i="0" sz="1100" u="none" cap="none" strike="noStrike">
              <a:solidFill>
                <a:schemeClr val="dk1"/>
              </a:solidFill>
              <a:latin typeface="Calibri"/>
              <a:ea typeface="Calibri"/>
              <a:cs typeface="Calibri"/>
              <a:sym typeface="Calibri"/>
            </a:endParaRPr>
          </a:p>
        </p:txBody>
      </p:sp>
      <p:sp>
        <p:nvSpPr>
          <p:cNvPr id="1147" name="Google Shape;1147;p23"/>
          <p:cNvSpPr/>
          <p:nvPr/>
        </p:nvSpPr>
        <p:spPr>
          <a:xfrm>
            <a:off x="502920" y="3246120"/>
            <a:ext cx="5440680" cy="1078992"/>
          </a:xfrm>
          <a:prstGeom prst="roundRect">
            <a:avLst>
              <a:gd fmla="val 847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23"/>
          <p:cNvSpPr/>
          <p:nvPr/>
        </p:nvSpPr>
        <p:spPr>
          <a:xfrm>
            <a:off x="740664" y="3502152"/>
            <a:ext cx="566928" cy="566928"/>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_white.png" id="1149" name="Google Shape;1149;p23"/>
          <p:cNvPicPr preferRelativeResize="0"/>
          <p:nvPr/>
        </p:nvPicPr>
        <p:blipFill rotWithShape="1">
          <a:blip r:embed="rId5">
            <a:alphaModFix/>
          </a:blip>
          <a:srcRect b="0" l="0" r="0" t="0"/>
          <a:stretch/>
        </p:blipFill>
        <p:spPr>
          <a:xfrm>
            <a:off x="886968" y="3648456"/>
            <a:ext cx="274320" cy="274320"/>
          </a:xfrm>
          <a:prstGeom prst="rect">
            <a:avLst/>
          </a:prstGeom>
          <a:noFill/>
          <a:ln>
            <a:noFill/>
          </a:ln>
        </p:spPr>
      </p:pic>
      <p:sp>
        <p:nvSpPr>
          <p:cNvPr id="1150" name="Google Shape;1150;p23"/>
          <p:cNvSpPr/>
          <p:nvPr/>
        </p:nvSpPr>
        <p:spPr>
          <a:xfrm>
            <a:off x="1453896" y="3429000"/>
            <a:ext cx="4343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ASSET GROUP A</a:t>
            </a:r>
            <a:endParaRPr b="0" i="0" sz="950" u="none" cap="none" strike="noStrike">
              <a:solidFill>
                <a:schemeClr val="dk1"/>
              </a:solidFill>
              <a:latin typeface="Calibri"/>
              <a:ea typeface="Calibri"/>
              <a:cs typeface="Calibri"/>
              <a:sym typeface="Calibri"/>
            </a:endParaRPr>
          </a:p>
        </p:txBody>
      </p:sp>
      <p:sp>
        <p:nvSpPr>
          <p:cNvPr id="1151" name="Google Shape;1151;p23"/>
          <p:cNvSpPr/>
          <p:nvPr/>
        </p:nvSpPr>
        <p:spPr>
          <a:xfrm>
            <a:off x="1453896" y="3630168"/>
            <a:ext cx="4343400" cy="31089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Plateaued Trainer</a:t>
            </a:r>
            <a:endParaRPr b="0" i="0" sz="1500" u="none" cap="none" strike="noStrike">
              <a:solidFill>
                <a:schemeClr val="dk1"/>
              </a:solidFill>
              <a:latin typeface="Calibri"/>
              <a:ea typeface="Calibri"/>
              <a:cs typeface="Calibri"/>
              <a:sym typeface="Calibri"/>
            </a:endParaRPr>
          </a:p>
        </p:txBody>
      </p:sp>
      <p:sp>
        <p:nvSpPr>
          <p:cNvPr id="1152" name="Google Shape;1152;p23"/>
          <p:cNvSpPr/>
          <p:nvPr/>
        </p:nvSpPr>
        <p:spPr>
          <a:xfrm>
            <a:off x="1453896" y="3959352"/>
            <a:ext cx="4343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1050"/>
              <a:buFont typeface="Calibri"/>
              <a:buNone/>
            </a:pPr>
            <a:r>
              <a:rPr b="0" i="0" lang="en-US" sz="1050" u="none" cap="none" strike="noStrike">
                <a:solidFill>
                  <a:srgbClr val="6E7873"/>
                </a:solidFill>
                <a:latin typeface="Calibri"/>
                <a:ea typeface="Calibri"/>
                <a:cs typeface="Calibri"/>
                <a:sym typeface="Calibri"/>
              </a:rPr>
              <a:t>Muscle tone · evidence-led · training plateau</a:t>
            </a:r>
            <a:endParaRPr b="0" i="0" sz="1050" u="none" cap="none" strike="noStrike">
              <a:solidFill>
                <a:schemeClr val="dk1"/>
              </a:solidFill>
              <a:latin typeface="Calibri"/>
              <a:ea typeface="Calibri"/>
              <a:cs typeface="Calibri"/>
              <a:sym typeface="Calibri"/>
            </a:endParaRPr>
          </a:p>
        </p:txBody>
      </p:sp>
      <p:sp>
        <p:nvSpPr>
          <p:cNvPr id="1153" name="Google Shape;1153;p23"/>
          <p:cNvSpPr/>
          <p:nvPr/>
        </p:nvSpPr>
        <p:spPr>
          <a:xfrm>
            <a:off x="502920" y="4471416"/>
            <a:ext cx="5440680" cy="1078992"/>
          </a:xfrm>
          <a:prstGeom prst="roundRect">
            <a:avLst>
              <a:gd fmla="val 847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23"/>
          <p:cNvSpPr/>
          <p:nvPr/>
        </p:nvSpPr>
        <p:spPr>
          <a:xfrm>
            <a:off x="740664" y="4727448"/>
            <a:ext cx="566928" cy="566928"/>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award_white.png" id="1155" name="Google Shape;1155;p23"/>
          <p:cNvPicPr preferRelativeResize="0"/>
          <p:nvPr/>
        </p:nvPicPr>
        <p:blipFill rotWithShape="1">
          <a:blip r:embed="rId6">
            <a:alphaModFix/>
          </a:blip>
          <a:srcRect b="0" l="0" r="0" t="0"/>
          <a:stretch/>
        </p:blipFill>
        <p:spPr>
          <a:xfrm>
            <a:off x="886968" y="4873752"/>
            <a:ext cx="274320" cy="274320"/>
          </a:xfrm>
          <a:prstGeom prst="rect">
            <a:avLst/>
          </a:prstGeom>
          <a:noFill/>
          <a:ln>
            <a:noFill/>
          </a:ln>
        </p:spPr>
      </p:pic>
      <p:sp>
        <p:nvSpPr>
          <p:cNvPr id="1156" name="Google Shape;1156;p23"/>
          <p:cNvSpPr/>
          <p:nvPr/>
        </p:nvSpPr>
        <p:spPr>
          <a:xfrm>
            <a:off x="1453896" y="4654296"/>
            <a:ext cx="4343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ASSET GROUP B</a:t>
            </a:r>
            <a:endParaRPr b="0" i="0" sz="950" u="none" cap="none" strike="noStrike">
              <a:solidFill>
                <a:schemeClr val="dk1"/>
              </a:solidFill>
              <a:latin typeface="Calibri"/>
              <a:ea typeface="Calibri"/>
              <a:cs typeface="Calibri"/>
              <a:sym typeface="Calibri"/>
            </a:endParaRPr>
          </a:p>
        </p:txBody>
      </p:sp>
      <p:sp>
        <p:nvSpPr>
          <p:cNvPr id="1157" name="Google Shape;1157;p23"/>
          <p:cNvSpPr/>
          <p:nvPr/>
        </p:nvSpPr>
        <p:spPr>
          <a:xfrm>
            <a:off x="1453896" y="4855464"/>
            <a:ext cx="4343400" cy="31089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Time-Poor Professional</a:t>
            </a:r>
            <a:endParaRPr b="0" i="0" sz="1500" u="none" cap="none" strike="noStrike">
              <a:solidFill>
                <a:schemeClr val="dk1"/>
              </a:solidFill>
              <a:latin typeface="Calibri"/>
              <a:ea typeface="Calibri"/>
              <a:cs typeface="Calibri"/>
              <a:sym typeface="Calibri"/>
            </a:endParaRPr>
          </a:p>
        </p:txBody>
      </p:sp>
      <p:sp>
        <p:nvSpPr>
          <p:cNvPr id="1158" name="Google Shape;1158;p23"/>
          <p:cNvSpPr/>
          <p:nvPr/>
        </p:nvSpPr>
        <p:spPr>
          <a:xfrm>
            <a:off x="1453896" y="5184648"/>
            <a:ext cx="4343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1050"/>
              <a:buFont typeface="Calibri"/>
              <a:buNone/>
            </a:pPr>
            <a:r>
              <a:rPr b="0" i="0" lang="en-US" sz="1050" u="none" cap="none" strike="noStrike">
                <a:solidFill>
                  <a:srgbClr val="6E7873"/>
                </a:solidFill>
                <a:latin typeface="Calibri"/>
                <a:ea typeface="Calibri"/>
                <a:cs typeface="Calibri"/>
                <a:sym typeface="Calibri"/>
              </a:rPr>
              <a:t>No downtime · 30 minutes · Holborn location</a:t>
            </a:r>
            <a:endParaRPr b="0" i="0" sz="1050" u="none" cap="none" strike="noStrike">
              <a:solidFill>
                <a:schemeClr val="dk1"/>
              </a:solidFill>
              <a:latin typeface="Calibri"/>
              <a:ea typeface="Calibri"/>
              <a:cs typeface="Calibri"/>
              <a:sym typeface="Calibri"/>
            </a:endParaRPr>
          </a:p>
        </p:txBody>
      </p:sp>
      <p:sp>
        <p:nvSpPr>
          <p:cNvPr id="1159" name="Google Shape;1159;p23"/>
          <p:cNvSpPr/>
          <p:nvPr/>
        </p:nvSpPr>
        <p:spPr>
          <a:xfrm>
            <a:off x="6245352" y="2615184"/>
            <a:ext cx="5440680" cy="548640"/>
          </a:xfrm>
          <a:prstGeom prst="roundRect">
            <a:avLst>
              <a:gd fmla="val 13333" name="adj"/>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23"/>
          <p:cNvSpPr/>
          <p:nvPr/>
        </p:nvSpPr>
        <p:spPr>
          <a:xfrm>
            <a:off x="6409944" y="2706624"/>
            <a:ext cx="365760" cy="365760"/>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pa_green.png" id="1161" name="Google Shape;1161;p23"/>
          <p:cNvPicPr preferRelativeResize="0"/>
          <p:nvPr/>
        </p:nvPicPr>
        <p:blipFill rotWithShape="1">
          <a:blip r:embed="rId7">
            <a:alphaModFix/>
          </a:blip>
          <a:srcRect b="0" l="0" r="0" t="0"/>
          <a:stretch/>
        </p:blipFill>
        <p:spPr>
          <a:xfrm>
            <a:off x="6492240" y="2788920"/>
            <a:ext cx="201168" cy="201168"/>
          </a:xfrm>
          <a:prstGeom prst="rect">
            <a:avLst/>
          </a:prstGeom>
          <a:noFill/>
          <a:ln>
            <a:noFill/>
          </a:ln>
        </p:spPr>
      </p:pic>
      <p:sp>
        <p:nvSpPr>
          <p:cNvPr id="1162" name="Google Shape;1162;p23"/>
          <p:cNvSpPr/>
          <p:nvPr/>
        </p:nvSpPr>
        <p:spPr>
          <a:xfrm>
            <a:off x="6903720" y="2615184"/>
            <a:ext cx="406908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Poppins"/>
              <a:buNone/>
            </a:pPr>
            <a:r>
              <a:rPr b="1" i="0" lang="en-US" sz="1600" u="none" cap="none" strike="noStrike">
                <a:solidFill>
                  <a:srgbClr val="FFFFFF"/>
                </a:solidFill>
                <a:latin typeface="Poppins"/>
                <a:ea typeface="Poppins"/>
                <a:cs typeface="Poppins"/>
                <a:sym typeface="Poppins"/>
              </a:rPr>
              <a:t>EmFace</a:t>
            </a:r>
            <a:endParaRPr b="0" i="0" sz="1600" u="none" cap="none" strike="noStrike">
              <a:solidFill>
                <a:schemeClr val="dk1"/>
              </a:solidFill>
              <a:latin typeface="Calibri"/>
              <a:ea typeface="Calibri"/>
              <a:cs typeface="Calibri"/>
              <a:sym typeface="Calibri"/>
            </a:endParaRPr>
          </a:p>
        </p:txBody>
      </p:sp>
      <p:sp>
        <p:nvSpPr>
          <p:cNvPr id="1163" name="Google Shape;1163;p23"/>
          <p:cNvSpPr/>
          <p:nvPr/>
        </p:nvSpPr>
        <p:spPr>
          <a:xfrm>
            <a:off x="10040112" y="2615184"/>
            <a:ext cx="1508760" cy="5486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Poppins"/>
              <a:buNone/>
            </a:pPr>
            <a:r>
              <a:rPr b="1" i="0" lang="en-US" sz="1100" u="none" cap="none" strike="noStrike">
                <a:solidFill>
                  <a:srgbClr val="FFFFFF"/>
                </a:solidFill>
                <a:latin typeface="Poppins"/>
                <a:ea typeface="Poppins"/>
                <a:cs typeface="Poppins"/>
                <a:sym typeface="Poppins"/>
              </a:rPr>
              <a:t>2 asset groups</a:t>
            </a:r>
            <a:endParaRPr b="0" i="0" sz="1100" u="none" cap="none" strike="noStrike">
              <a:solidFill>
                <a:schemeClr val="dk1"/>
              </a:solidFill>
              <a:latin typeface="Calibri"/>
              <a:ea typeface="Calibri"/>
              <a:cs typeface="Calibri"/>
              <a:sym typeface="Calibri"/>
            </a:endParaRPr>
          </a:p>
        </p:txBody>
      </p:sp>
      <p:sp>
        <p:nvSpPr>
          <p:cNvPr id="1164" name="Google Shape;1164;p23"/>
          <p:cNvSpPr/>
          <p:nvPr/>
        </p:nvSpPr>
        <p:spPr>
          <a:xfrm>
            <a:off x="6245352" y="3246120"/>
            <a:ext cx="5440680" cy="1078992"/>
          </a:xfrm>
          <a:prstGeom prst="roundRect">
            <a:avLst>
              <a:gd fmla="val 847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23"/>
          <p:cNvSpPr/>
          <p:nvPr/>
        </p:nvSpPr>
        <p:spPr>
          <a:xfrm>
            <a:off x="6483096" y="3502152"/>
            <a:ext cx="566928" cy="566928"/>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mile_white.png" id="1166" name="Google Shape;1166;p23"/>
          <p:cNvPicPr preferRelativeResize="0"/>
          <p:nvPr/>
        </p:nvPicPr>
        <p:blipFill rotWithShape="1">
          <a:blip r:embed="rId8">
            <a:alphaModFix/>
          </a:blip>
          <a:srcRect b="0" l="0" r="0" t="0"/>
          <a:stretch/>
        </p:blipFill>
        <p:spPr>
          <a:xfrm>
            <a:off x="6629400" y="3648456"/>
            <a:ext cx="274320" cy="274320"/>
          </a:xfrm>
          <a:prstGeom prst="rect">
            <a:avLst/>
          </a:prstGeom>
          <a:noFill/>
          <a:ln>
            <a:noFill/>
          </a:ln>
        </p:spPr>
      </p:pic>
      <p:sp>
        <p:nvSpPr>
          <p:cNvPr id="1167" name="Google Shape;1167;p23"/>
          <p:cNvSpPr/>
          <p:nvPr/>
        </p:nvSpPr>
        <p:spPr>
          <a:xfrm>
            <a:off x="7196328" y="3429000"/>
            <a:ext cx="4343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ASSET GROUP A</a:t>
            </a:r>
            <a:endParaRPr b="0" i="0" sz="950" u="none" cap="none" strike="noStrike">
              <a:solidFill>
                <a:schemeClr val="dk1"/>
              </a:solidFill>
              <a:latin typeface="Calibri"/>
              <a:ea typeface="Calibri"/>
              <a:cs typeface="Calibri"/>
              <a:sym typeface="Calibri"/>
            </a:endParaRPr>
          </a:p>
        </p:txBody>
      </p:sp>
      <p:sp>
        <p:nvSpPr>
          <p:cNvPr id="1168" name="Google Shape;1168;p23"/>
          <p:cNvSpPr/>
          <p:nvPr/>
        </p:nvSpPr>
        <p:spPr>
          <a:xfrm>
            <a:off x="7196328" y="3630168"/>
            <a:ext cx="4343400" cy="31089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Needle-Free Refiner</a:t>
            </a:r>
            <a:endParaRPr b="0" i="0" sz="1500" u="none" cap="none" strike="noStrike">
              <a:solidFill>
                <a:schemeClr val="dk1"/>
              </a:solidFill>
              <a:latin typeface="Calibri"/>
              <a:ea typeface="Calibri"/>
              <a:cs typeface="Calibri"/>
              <a:sym typeface="Calibri"/>
            </a:endParaRPr>
          </a:p>
        </p:txBody>
      </p:sp>
      <p:sp>
        <p:nvSpPr>
          <p:cNvPr id="1169" name="Google Shape;1169;p23"/>
          <p:cNvSpPr/>
          <p:nvPr/>
        </p:nvSpPr>
        <p:spPr>
          <a:xfrm>
            <a:off x="7196328" y="3959352"/>
            <a:ext cx="4343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1050"/>
              <a:buFont typeface="Calibri"/>
              <a:buNone/>
            </a:pPr>
            <a:r>
              <a:rPr b="0" i="0" lang="en-US" sz="1050" u="none" cap="none" strike="noStrike">
                <a:solidFill>
                  <a:srgbClr val="6E7873"/>
                </a:solidFill>
                <a:latin typeface="Calibri"/>
                <a:ea typeface="Calibri"/>
                <a:cs typeface="Calibri"/>
                <a:sym typeface="Calibri"/>
              </a:rPr>
              <a:t>Needle-free · facial muscle tone · no downtime</a:t>
            </a:r>
            <a:endParaRPr b="0" i="0" sz="1050" u="none" cap="none" strike="noStrike">
              <a:solidFill>
                <a:schemeClr val="dk1"/>
              </a:solidFill>
              <a:latin typeface="Calibri"/>
              <a:ea typeface="Calibri"/>
              <a:cs typeface="Calibri"/>
              <a:sym typeface="Calibri"/>
            </a:endParaRPr>
          </a:p>
        </p:txBody>
      </p:sp>
      <p:sp>
        <p:nvSpPr>
          <p:cNvPr id="1170" name="Google Shape;1170;p23"/>
          <p:cNvSpPr/>
          <p:nvPr/>
        </p:nvSpPr>
        <p:spPr>
          <a:xfrm>
            <a:off x="6245352" y="4471416"/>
            <a:ext cx="5440680" cy="1078992"/>
          </a:xfrm>
          <a:prstGeom prst="roundRect">
            <a:avLst>
              <a:gd fmla="val 847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23"/>
          <p:cNvSpPr/>
          <p:nvPr/>
        </p:nvSpPr>
        <p:spPr>
          <a:xfrm>
            <a:off x="6483096" y="4727448"/>
            <a:ext cx="566928" cy="566928"/>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users_white.png" id="1172" name="Google Shape;1172;p23"/>
          <p:cNvPicPr preferRelativeResize="0"/>
          <p:nvPr/>
        </p:nvPicPr>
        <p:blipFill rotWithShape="1">
          <a:blip r:embed="rId9">
            <a:alphaModFix/>
          </a:blip>
          <a:srcRect b="0" l="0" r="0" t="0"/>
          <a:stretch/>
        </p:blipFill>
        <p:spPr>
          <a:xfrm>
            <a:off x="6629400" y="4873752"/>
            <a:ext cx="274320" cy="274320"/>
          </a:xfrm>
          <a:prstGeom prst="rect">
            <a:avLst/>
          </a:prstGeom>
          <a:noFill/>
          <a:ln>
            <a:noFill/>
          </a:ln>
        </p:spPr>
      </p:pic>
      <p:sp>
        <p:nvSpPr>
          <p:cNvPr id="1173" name="Google Shape;1173;p23"/>
          <p:cNvSpPr/>
          <p:nvPr/>
        </p:nvSpPr>
        <p:spPr>
          <a:xfrm>
            <a:off x="7196328" y="4654296"/>
            <a:ext cx="4343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ASSET GROUP B</a:t>
            </a:r>
            <a:endParaRPr b="0" i="0" sz="950" u="none" cap="none" strike="noStrike">
              <a:solidFill>
                <a:schemeClr val="dk1"/>
              </a:solidFill>
              <a:latin typeface="Calibri"/>
              <a:ea typeface="Calibri"/>
              <a:cs typeface="Calibri"/>
              <a:sym typeface="Calibri"/>
            </a:endParaRPr>
          </a:p>
        </p:txBody>
      </p:sp>
      <p:sp>
        <p:nvSpPr>
          <p:cNvPr id="1174" name="Google Shape;1174;p23"/>
          <p:cNvSpPr/>
          <p:nvPr/>
        </p:nvSpPr>
        <p:spPr>
          <a:xfrm>
            <a:off x="7196328" y="4855464"/>
            <a:ext cx="4343400" cy="31089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Early Intervener</a:t>
            </a:r>
            <a:endParaRPr b="0" i="0" sz="1500" u="none" cap="none" strike="noStrike">
              <a:solidFill>
                <a:schemeClr val="dk1"/>
              </a:solidFill>
              <a:latin typeface="Calibri"/>
              <a:ea typeface="Calibri"/>
              <a:cs typeface="Calibri"/>
              <a:sym typeface="Calibri"/>
            </a:endParaRPr>
          </a:p>
        </p:txBody>
      </p:sp>
      <p:sp>
        <p:nvSpPr>
          <p:cNvPr id="1175" name="Google Shape;1175;p23"/>
          <p:cNvSpPr/>
          <p:nvPr/>
        </p:nvSpPr>
        <p:spPr>
          <a:xfrm>
            <a:off x="7196328" y="5184648"/>
            <a:ext cx="4343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1050"/>
              <a:buFont typeface="Calibri"/>
              <a:buNone/>
            </a:pPr>
            <a:r>
              <a:rPr b="0" i="0" lang="en-US" sz="1050" u="none" cap="none" strike="noStrike">
                <a:solidFill>
                  <a:srgbClr val="6E7873"/>
                </a:solidFill>
                <a:latin typeface="Calibri"/>
                <a:ea typeface="Calibri"/>
                <a:cs typeface="Calibri"/>
                <a:sym typeface="Calibri"/>
              </a:rPr>
              <a:t>Preventative · maintenance · long-term plan</a:t>
            </a:r>
            <a:endParaRPr b="0" i="0" sz="1050" u="none" cap="none" strike="noStrike">
              <a:solidFill>
                <a:schemeClr val="dk1"/>
              </a:solidFill>
              <a:latin typeface="Calibri"/>
              <a:ea typeface="Calibri"/>
              <a:cs typeface="Calibri"/>
              <a:sym typeface="Calibri"/>
            </a:endParaRPr>
          </a:p>
        </p:txBody>
      </p:sp>
      <p:sp>
        <p:nvSpPr>
          <p:cNvPr id="1176" name="Google Shape;1176;p23"/>
          <p:cNvSpPr/>
          <p:nvPr/>
        </p:nvSpPr>
        <p:spPr>
          <a:xfrm>
            <a:off x="502920" y="5650992"/>
            <a:ext cx="5440680" cy="786384"/>
          </a:xfrm>
          <a:prstGeom prst="roundRect">
            <a:avLst>
              <a:gd fmla="val 11628"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23"/>
          <p:cNvSpPr/>
          <p:nvPr/>
        </p:nvSpPr>
        <p:spPr>
          <a:xfrm>
            <a:off x="731520" y="5815584"/>
            <a:ext cx="457200" cy="45720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layers_white.png" id="1178" name="Google Shape;1178;p23"/>
          <p:cNvPicPr preferRelativeResize="0"/>
          <p:nvPr/>
        </p:nvPicPr>
        <p:blipFill rotWithShape="1">
          <a:blip r:embed="rId10">
            <a:alphaModFix/>
          </a:blip>
          <a:srcRect b="0" l="0" r="0" t="0"/>
          <a:stretch/>
        </p:blipFill>
        <p:spPr>
          <a:xfrm>
            <a:off x="841248" y="5925312"/>
            <a:ext cx="237744" cy="237744"/>
          </a:xfrm>
          <a:prstGeom prst="rect">
            <a:avLst/>
          </a:prstGeom>
          <a:noFill/>
          <a:ln>
            <a:noFill/>
          </a:ln>
        </p:spPr>
      </p:pic>
      <p:sp>
        <p:nvSpPr>
          <p:cNvPr id="1179" name="Google Shape;1179;p23"/>
          <p:cNvSpPr/>
          <p:nvPr/>
        </p:nvSpPr>
        <p:spPr>
          <a:xfrm>
            <a:off x="1325880" y="5742432"/>
            <a:ext cx="448056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200"/>
              <a:buFont typeface="Poppins"/>
              <a:buNone/>
            </a:pPr>
            <a:r>
              <a:rPr b="1" i="0" lang="en-US" sz="1200" u="none" cap="none" strike="noStrike">
                <a:solidFill>
                  <a:srgbClr val="2B2E2C"/>
                </a:solidFill>
                <a:latin typeface="Poppins"/>
                <a:ea typeface="Poppins"/>
                <a:cs typeface="Poppins"/>
                <a:sym typeface="Poppins"/>
              </a:rPr>
              <a:t>Asset Checklist (per group)</a:t>
            </a:r>
            <a:endParaRPr b="0" i="0" sz="1200" u="none" cap="none" strike="noStrike">
              <a:solidFill>
                <a:schemeClr val="dk1"/>
              </a:solidFill>
              <a:latin typeface="Calibri"/>
              <a:ea typeface="Calibri"/>
              <a:cs typeface="Calibri"/>
              <a:sym typeface="Calibri"/>
            </a:endParaRPr>
          </a:p>
        </p:txBody>
      </p:sp>
      <p:sp>
        <p:nvSpPr>
          <p:cNvPr id="1180" name="Google Shape;1180;p23"/>
          <p:cNvSpPr/>
          <p:nvPr/>
        </p:nvSpPr>
        <p:spPr>
          <a:xfrm>
            <a:off x="1325880" y="6016752"/>
            <a:ext cx="45262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15 headlines (≤30) · 5 long (≤90) · 5 descriptions · images 1.91:1, 1:1 &amp; 4:5 (+ logos) · 1+ YouTube video · CTA: Book Now</a:t>
            </a:r>
            <a:endParaRPr b="0" i="0" sz="900" u="none" cap="none" strike="noStrike">
              <a:solidFill>
                <a:schemeClr val="dk1"/>
              </a:solidFill>
              <a:latin typeface="Calibri"/>
              <a:ea typeface="Calibri"/>
              <a:cs typeface="Calibri"/>
              <a:sym typeface="Calibri"/>
            </a:endParaRPr>
          </a:p>
        </p:txBody>
      </p:sp>
      <p:sp>
        <p:nvSpPr>
          <p:cNvPr id="1181" name="Google Shape;1181;p23"/>
          <p:cNvSpPr/>
          <p:nvPr/>
        </p:nvSpPr>
        <p:spPr>
          <a:xfrm>
            <a:off x="6245352" y="5650992"/>
            <a:ext cx="5440680" cy="786384"/>
          </a:xfrm>
          <a:prstGeom prst="roundRect">
            <a:avLst>
              <a:gd fmla="val 11628" name="adj"/>
            </a:avLst>
          </a:prstGeom>
          <a:solidFill>
            <a:srgbClr val="1A2620"/>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23"/>
          <p:cNvSpPr/>
          <p:nvPr/>
        </p:nvSpPr>
        <p:spPr>
          <a:xfrm>
            <a:off x="6473952" y="5815584"/>
            <a:ext cx="457200" cy="457200"/>
          </a:xfrm>
          <a:prstGeom prst="ellipse">
            <a:avLst/>
          </a:prstGeom>
          <a:solidFill>
            <a:srgbClr val="3BE2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hield_dark.png" id="1183" name="Google Shape;1183;p23"/>
          <p:cNvPicPr preferRelativeResize="0"/>
          <p:nvPr/>
        </p:nvPicPr>
        <p:blipFill rotWithShape="1">
          <a:blip r:embed="rId11">
            <a:alphaModFix/>
          </a:blip>
          <a:srcRect b="0" l="0" r="0" t="0"/>
          <a:stretch/>
        </p:blipFill>
        <p:spPr>
          <a:xfrm>
            <a:off x="6583680" y="5925312"/>
            <a:ext cx="237744" cy="237744"/>
          </a:xfrm>
          <a:prstGeom prst="rect">
            <a:avLst/>
          </a:prstGeom>
          <a:noFill/>
          <a:ln>
            <a:noFill/>
          </a:ln>
        </p:spPr>
      </p:pic>
      <p:sp>
        <p:nvSpPr>
          <p:cNvPr id="1184" name="Google Shape;1184;p23"/>
          <p:cNvSpPr/>
          <p:nvPr/>
        </p:nvSpPr>
        <p:spPr>
          <a:xfrm>
            <a:off x="7068312" y="5742432"/>
            <a:ext cx="448056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Creative Compliance</a:t>
            </a:r>
            <a:endParaRPr b="0" i="0" sz="1200" u="none" cap="none" strike="noStrike">
              <a:solidFill>
                <a:schemeClr val="dk1"/>
              </a:solidFill>
              <a:latin typeface="Calibri"/>
              <a:ea typeface="Calibri"/>
              <a:cs typeface="Calibri"/>
              <a:sym typeface="Calibri"/>
            </a:endParaRPr>
          </a:p>
        </p:txBody>
      </p:sp>
      <p:sp>
        <p:nvSpPr>
          <p:cNvPr id="1185" name="Google Shape;1185;p23"/>
          <p:cNvSpPr/>
          <p:nvPr/>
        </p:nvSpPr>
        <p:spPr>
          <a:xfrm>
            <a:off x="7068312" y="6016752"/>
            <a:ext cx="4526280"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9D2CE"/>
              </a:buClr>
              <a:buSzPts val="900"/>
              <a:buFont typeface="Calibri"/>
              <a:buNone/>
            </a:pPr>
            <a:r>
              <a:rPr b="0" i="0" lang="en-US" sz="900" u="none" cap="none" strike="noStrike">
                <a:solidFill>
                  <a:srgbClr val="C9D2CE"/>
                </a:solidFill>
                <a:latin typeface="Calibri"/>
                <a:ea typeface="Calibri"/>
                <a:cs typeface="Calibri"/>
                <a:sym typeface="Calibri"/>
              </a:rPr>
              <a:t>No outcome claims — 'may help' language only · no before/after as primary creative · no Customer Match or similar lists (health) · written consent for images</a:t>
            </a:r>
            <a:endParaRPr b="0" i="0" sz="900" u="none" cap="none" strike="noStrike">
              <a:solidFill>
                <a:schemeClr val="dk1"/>
              </a:solidFill>
              <a:latin typeface="Calibri"/>
              <a:ea typeface="Calibri"/>
              <a:cs typeface="Calibri"/>
              <a:sym typeface="Calibri"/>
            </a:endParaRPr>
          </a:p>
        </p:txBody>
      </p:sp>
      <p:sp>
        <p:nvSpPr>
          <p:cNvPr id="1186" name="Google Shape;1186;p23"/>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187" name="Google Shape;1187;p23"/>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23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2" name="Shape 1192"/>
        <p:cNvGrpSpPr/>
        <p:nvPr/>
      </p:nvGrpSpPr>
      <p:grpSpPr>
        <a:xfrm>
          <a:off x="0" y="0"/>
          <a:ext cx="0" cy="0"/>
          <a:chOff x="0" y="0"/>
          <a:chExt cx="0" cy="0"/>
        </a:xfrm>
      </p:grpSpPr>
      <p:pic>
        <p:nvPicPr>
          <p:cNvPr descr="unpacked/ppt/media/image11.png" id="1193" name="Google Shape;1193;p24"/>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194" name="Google Shape;1194;p24"/>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Asset Group</a:t>
            </a:r>
            <a:endParaRPr b="0" i="0" sz="1500" u="none" cap="none" strike="noStrike">
              <a:solidFill>
                <a:schemeClr val="dk1"/>
              </a:solidFill>
              <a:latin typeface="Calibri"/>
              <a:ea typeface="Calibri"/>
              <a:cs typeface="Calibri"/>
              <a:sym typeface="Calibri"/>
            </a:endParaRPr>
          </a:p>
        </p:txBody>
      </p:sp>
      <p:sp>
        <p:nvSpPr>
          <p:cNvPr id="1195" name="Google Shape;1195;p24"/>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PERFORMANCE MAX · ASSET GROUP A (EMBODY)</a:t>
            </a:r>
            <a:endParaRPr b="0" i="0" sz="1250" u="none" cap="none" strike="noStrike">
              <a:solidFill>
                <a:schemeClr val="dk1"/>
              </a:solidFill>
              <a:latin typeface="Calibri"/>
              <a:ea typeface="Calibri"/>
              <a:cs typeface="Calibri"/>
              <a:sym typeface="Calibri"/>
            </a:endParaRPr>
          </a:p>
        </p:txBody>
      </p:sp>
      <p:sp>
        <p:nvSpPr>
          <p:cNvPr id="1196" name="Google Shape;1196;p24"/>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Plateaued Trainer</a:t>
            </a:r>
            <a:endParaRPr b="0" i="0" sz="3300" u="none" cap="none" strike="noStrike">
              <a:solidFill>
                <a:schemeClr val="dk1"/>
              </a:solidFill>
              <a:latin typeface="Calibri"/>
              <a:ea typeface="Calibri"/>
              <a:cs typeface="Calibri"/>
              <a:sym typeface="Calibri"/>
            </a:endParaRPr>
          </a:p>
        </p:txBody>
      </p:sp>
      <p:sp>
        <p:nvSpPr>
          <p:cNvPr id="1197" name="Google Shape;1197;p24"/>
          <p:cNvSpPr/>
          <p:nvPr/>
        </p:nvSpPr>
        <p:spPr>
          <a:xfrm>
            <a:off x="502920" y="2048256"/>
            <a:ext cx="5486400" cy="402336"/>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24"/>
          <p:cNvSpPr/>
          <p:nvPr/>
        </p:nvSpPr>
        <p:spPr>
          <a:xfrm>
            <a:off x="649224" y="2048256"/>
            <a:ext cx="521208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RESPONSIVE PMAX COPY</a:t>
            </a:r>
            <a:endParaRPr b="0" i="0" sz="1200" u="none" cap="none" strike="noStrike">
              <a:solidFill>
                <a:schemeClr val="dk1"/>
              </a:solidFill>
              <a:latin typeface="Calibri"/>
              <a:ea typeface="Calibri"/>
              <a:cs typeface="Calibri"/>
              <a:sym typeface="Calibri"/>
            </a:endParaRPr>
          </a:p>
        </p:txBody>
      </p:sp>
      <p:sp>
        <p:nvSpPr>
          <p:cNvPr id="1199" name="Google Shape;1199;p24"/>
          <p:cNvSpPr/>
          <p:nvPr/>
        </p:nvSpPr>
        <p:spPr>
          <a:xfrm>
            <a:off x="539496" y="2560320"/>
            <a:ext cx="5486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SHORT HEADLINES (≤30)</a:t>
            </a:r>
            <a:endParaRPr b="0" i="0" sz="950" u="none" cap="none" strike="noStrike">
              <a:solidFill>
                <a:schemeClr val="dk1"/>
              </a:solidFill>
              <a:latin typeface="Calibri"/>
              <a:ea typeface="Calibri"/>
              <a:cs typeface="Calibri"/>
              <a:sym typeface="Calibri"/>
            </a:endParaRPr>
          </a:p>
        </p:txBody>
      </p:sp>
      <p:sp>
        <p:nvSpPr>
          <p:cNvPr id="1200" name="Google Shape;1200;p24"/>
          <p:cNvSpPr/>
          <p:nvPr/>
        </p:nvSpPr>
        <p:spPr>
          <a:xfrm>
            <a:off x="576072" y="2816352"/>
            <a:ext cx="265176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Muscle Toning Treatment</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EMSCULPT NEO London</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30-Minute Sessions</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Non-Surgical Treatment</a:t>
            </a:r>
            <a:endParaRPr b="0" i="0" sz="1000" u="none" cap="none" strike="noStrike">
              <a:solidFill>
                <a:schemeClr val="dk1"/>
              </a:solidFill>
              <a:latin typeface="Calibri"/>
              <a:ea typeface="Calibri"/>
              <a:cs typeface="Calibri"/>
              <a:sym typeface="Calibri"/>
            </a:endParaRPr>
          </a:p>
        </p:txBody>
      </p:sp>
      <p:sp>
        <p:nvSpPr>
          <p:cNvPr id="1201" name="Google Shape;1201;p24"/>
          <p:cNvSpPr/>
          <p:nvPr/>
        </p:nvSpPr>
        <p:spPr>
          <a:xfrm>
            <a:off x="3246120" y="2816352"/>
            <a:ext cx="265176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No Surgery, No Downtime</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Dermatology-Led Clinic</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Treats Abs, Arms &amp; Thighs</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Book a Free Consultation</a:t>
            </a:r>
            <a:endParaRPr b="0" i="0" sz="1000" u="none" cap="none" strike="noStrike">
              <a:solidFill>
                <a:schemeClr val="dk1"/>
              </a:solidFill>
              <a:latin typeface="Calibri"/>
              <a:ea typeface="Calibri"/>
              <a:cs typeface="Calibri"/>
              <a:sym typeface="Calibri"/>
            </a:endParaRPr>
          </a:p>
        </p:txBody>
      </p:sp>
      <p:sp>
        <p:nvSpPr>
          <p:cNvPr id="1202" name="Google Shape;1202;p24"/>
          <p:cNvSpPr/>
          <p:nvPr/>
        </p:nvSpPr>
        <p:spPr>
          <a:xfrm>
            <a:off x="539496" y="3895344"/>
            <a:ext cx="5486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LONG HEADLINES (≤90)</a:t>
            </a:r>
            <a:endParaRPr b="0" i="0" sz="950" u="none" cap="none" strike="noStrike">
              <a:solidFill>
                <a:schemeClr val="dk1"/>
              </a:solidFill>
              <a:latin typeface="Calibri"/>
              <a:ea typeface="Calibri"/>
              <a:cs typeface="Calibri"/>
              <a:sym typeface="Calibri"/>
            </a:endParaRPr>
          </a:p>
        </p:txBody>
      </p:sp>
      <p:sp>
        <p:nvSpPr>
          <p:cNvPr id="1203" name="Google Shape;1203;p24"/>
          <p:cNvSpPr/>
          <p:nvPr/>
        </p:nvSpPr>
        <p:spPr>
          <a:xfrm>
            <a:off x="576072" y="4151376"/>
            <a:ext cx="5349240" cy="91440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EMSCULPT NEO at a dermatology-led clinic in central London.</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30-minute session that may help tone and strengthen muscle.</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medically supervised course of four, planned around your training.</a:t>
            </a:r>
            <a:endParaRPr b="0" i="0" sz="1000" u="none" cap="none" strike="noStrike">
              <a:solidFill>
                <a:schemeClr val="dk1"/>
              </a:solidFill>
              <a:latin typeface="Calibri"/>
              <a:ea typeface="Calibri"/>
              <a:cs typeface="Calibri"/>
              <a:sym typeface="Calibri"/>
            </a:endParaRPr>
          </a:p>
        </p:txBody>
      </p:sp>
      <p:sp>
        <p:nvSpPr>
          <p:cNvPr id="1204" name="Google Shape;1204;p24"/>
          <p:cNvSpPr/>
          <p:nvPr/>
        </p:nvSpPr>
        <p:spPr>
          <a:xfrm>
            <a:off x="539496" y="5065776"/>
            <a:ext cx="5486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DESCRIPTIONS (≤90)</a:t>
            </a:r>
            <a:endParaRPr b="0" i="0" sz="950" u="none" cap="none" strike="noStrike">
              <a:solidFill>
                <a:schemeClr val="dk1"/>
              </a:solidFill>
              <a:latin typeface="Calibri"/>
              <a:ea typeface="Calibri"/>
              <a:cs typeface="Calibri"/>
              <a:sym typeface="Calibri"/>
            </a:endParaRPr>
          </a:p>
        </p:txBody>
      </p:sp>
      <p:sp>
        <p:nvSpPr>
          <p:cNvPr id="1205" name="Google Shape;1205;p24"/>
          <p:cNvSpPr/>
          <p:nvPr/>
        </p:nvSpPr>
        <p:spPr>
          <a:xfrm>
            <a:off x="576072" y="5321808"/>
            <a:ext cx="5349240" cy="86868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Training support, in 30 minutes. Book today.</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30-minute treatment that may help tone muscle. Book a Holborn consult.</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Dermatology-led and CQC-regulated. Book your free consultation.</a:t>
            </a:r>
            <a:endParaRPr b="0" i="0" sz="1000" u="none" cap="none" strike="noStrike">
              <a:solidFill>
                <a:schemeClr val="dk1"/>
              </a:solidFill>
              <a:latin typeface="Calibri"/>
              <a:ea typeface="Calibri"/>
              <a:cs typeface="Calibri"/>
              <a:sym typeface="Calibri"/>
            </a:endParaRPr>
          </a:p>
        </p:txBody>
      </p:sp>
      <p:sp>
        <p:nvSpPr>
          <p:cNvPr id="1206" name="Google Shape;1206;p24"/>
          <p:cNvSpPr/>
          <p:nvPr/>
        </p:nvSpPr>
        <p:spPr>
          <a:xfrm>
            <a:off x="502920" y="5943600"/>
            <a:ext cx="5486400" cy="384048"/>
          </a:xfrm>
          <a:prstGeom prst="roundRect">
            <a:avLst>
              <a:gd fmla="val 14286" name="adj"/>
            </a:avLst>
          </a:prstGeom>
          <a:solidFill>
            <a:srgbClr val="E2F5EF"/>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24"/>
          <p:cNvSpPr/>
          <p:nvPr/>
        </p:nvSpPr>
        <p:spPr>
          <a:xfrm>
            <a:off x="649224" y="5943600"/>
            <a:ext cx="521208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Business: London Real Skin    CTA: Book Now</a:t>
            </a:r>
            <a:endParaRPr b="0" i="0" sz="1100" u="none" cap="none" strike="noStrike">
              <a:solidFill>
                <a:schemeClr val="dk1"/>
              </a:solidFill>
              <a:latin typeface="Calibri"/>
              <a:ea typeface="Calibri"/>
              <a:cs typeface="Calibri"/>
              <a:sym typeface="Calibri"/>
            </a:endParaRPr>
          </a:p>
        </p:txBody>
      </p:sp>
      <p:sp>
        <p:nvSpPr>
          <p:cNvPr id="1208" name="Google Shape;1208;p24"/>
          <p:cNvSpPr/>
          <p:nvPr/>
        </p:nvSpPr>
        <p:spPr>
          <a:xfrm>
            <a:off x="6245352" y="1792224"/>
            <a:ext cx="5486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CREATIVE ASSETS — stock models, safe-zone cropped</a:t>
            </a:r>
            <a:endParaRPr b="0" i="0" sz="1100" u="none" cap="none" strike="noStrike">
              <a:solidFill>
                <a:schemeClr val="dk1"/>
              </a:solidFill>
              <a:latin typeface="Calibri"/>
              <a:ea typeface="Calibri"/>
              <a:cs typeface="Calibri"/>
              <a:sym typeface="Calibri"/>
            </a:endParaRPr>
          </a:p>
        </p:txBody>
      </p:sp>
      <p:pic>
        <p:nvPicPr>
          <p:cNvPr descr="pmax_img/rhinoA1_1_91x1.jpg" id="1209" name="Google Shape;1209;p24"/>
          <p:cNvPicPr preferRelativeResize="0"/>
          <p:nvPr/>
        </p:nvPicPr>
        <p:blipFill rotWithShape="1">
          <a:blip r:embed="rId4">
            <a:alphaModFix/>
          </a:blip>
          <a:srcRect b="0" l="0" r="0" t="0"/>
          <a:stretch/>
        </p:blipFill>
        <p:spPr>
          <a:xfrm>
            <a:off x="6245352" y="2139696"/>
            <a:ext cx="3108960" cy="1627728"/>
          </a:xfrm>
          <a:prstGeom prst="rect">
            <a:avLst/>
          </a:prstGeom>
          <a:noFill/>
          <a:ln>
            <a:noFill/>
          </a:ln>
        </p:spPr>
      </p:pic>
      <p:sp>
        <p:nvSpPr>
          <p:cNvPr id="1210" name="Google Shape;1210;p24"/>
          <p:cNvSpPr/>
          <p:nvPr/>
        </p:nvSpPr>
        <p:spPr>
          <a:xfrm>
            <a:off x="6300216" y="3511392"/>
            <a:ext cx="566928" cy="201168"/>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24"/>
          <p:cNvSpPr/>
          <p:nvPr/>
        </p:nvSpPr>
        <p:spPr>
          <a:xfrm>
            <a:off x="6300216" y="3511392"/>
            <a:ext cx="566928" cy="20116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Poppins"/>
              <a:buNone/>
            </a:pPr>
            <a:r>
              <a:rPr b="1" i="0" lang="en-US" sz="800" u="none" cap="none" strike="noStrike">
                <a:solidFill>
                  <a:srgbClr val="FFFFFF"/>
                </a:solidFill>
                <a:latin typeface="Poppins"/>
                <a:ea typeface="Poppins"/>
                <a:cs typeface="Poppins"/>
                <a:sym typeface="Poppins"/>
              </a:rPr>
              <a:t>1.91:1</a:t>
            </a:r>
            <a:endParaRPr b="0" i="0" sz="800" u="none" cap="none" strike="noStrike">
              <a:solidFill>
                <a:schemeClr val="dk1"/>
              </a:solidFill>
              <a:latin typeface="Calibri"/>
              <a:ea typeface="Calibri"/>
              <a:cs typeface="Calibri"/>
              <a:sym typeface="Calibri"/>
            </a:endParaRPr>
          </a:p>
        </p:txBody>
      </p:sp>
      <p:pic>
        <p:nvPicPr>
          <p:cNvPr descr="pmax_img/rhinoA1_1x1.jpg" id="1212" name="Google Shape;1212;p24"/>
          <p:cNvPicPr preferRelativeResize="0"/>
          <p:nvPr/>
        </p:nvPicPr>
        <p:blipFill rotWithShape="1">
          <a:blip r:embed="rId5">
            <a:alphaModFix/>
          </a:blip>
          <a:srcRect b="0" l="0" r="0" t="0"/>
          <a:stretch/>
        </p:blipFill>
        <p:spPr>
          <a:xfrm>
            <a:off x="9500616" y="2139696"/>
            <a:ext cx="1481328" cy="1481328"/>
          </a:xfrm>
          <a:prstGeom prst="rect">
            <a:avLst/>
          </a:prstGeom>
          <a:noFill/>
          <a:ln>
            <a:noFill/>
          </a:ln>
        </p:spPr>
      </p:pic>
      <p:sp>
        <p:nvSpPr>
          <p:cNvPr id="1213" name="Google Shape;1213;p24"/>
          <p:cNvSpPr/>
          <p:nvPr/>
        </p:nvSpPr>
        <p:spPr>
          <a:xfrm>
            <a:off x="9555480" y="3364992"/>
            <a:ext cx="566928" cy="201168"/>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24"/>
          <p:cNvSpPr/>
          <p:nvPr/>
        </p:nvSpPr>
        <p:spPr>
          <a:xfrm>
            <a:off x="9555480" y="3364992"/>
            <a:ext cx="566928" cy="20116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Poppins"/>
              <a:buNone/>
            </a:pPr>
            <a:r>
              <a:rPr b="1" i="0" lang="en-US" sz="800" u="none" cap="none" strike="noStrike">
                <a:solidFill>
                  <a:srgbClr val="FFFFFF"/>
                </a:solidFill>
                <a:latin typeface="Poppins"/>
                <a:ea typeface="Poppins"/>
                <a:cs typeface="Poppins"/>
                <a:sym typeface="Poppins"/>
              </a:rPr>
              <a:t>1:1</a:t>
            </a:r>
            <a:endParaRPr b="0" i="0" sz="800" u="none" cap="none" strike="noStrike">
              <a:solidFill>
                <a:schemeClr val="dk1"/>
              </a:solidFill>
              <a:latin typeface="Calibri"/>
              <a:ea typeface="Calibri"/>
              <a:cs typeface="Calibri"/>
              <a:sym typeface="Calibri"/>
            </a:endParaRPr>
          </a:p>
        </p:txBody>
      </p:sp>
      <p:pic>
        <p:nvPicPr>
          <p:cNvPr descr="pmax_img/rhinoA2_4x5.jpg" id="1215" name="Google Shape;1215;p24"/>
          <p:cNvPicPr preferRelativeResize="0"/>
          <p:nvPr/>
        </p:nvPicPr>
        <p:blipFill rotWithShape="1">
          <a:blip r:embed="rId6">
            <a:alphaModFix/>
          </a:blip>
          <a:srcRect b="0" l="0" r="0" t="0"/>
          <a:stretch/>
        </p:blipFill>
        <p:spPr>
          <a:xfrm>
            <a:off x="9500616" y="3712464"/>
            <a:ext cx="1481328" cy="1851660"/>
          </a:xfrm>
          <a:prstGeom prst="rect">
            <a:avLst/>
          </a:prstGeom>
          <a:noFill/>
          <a:ln>
            <a:noFill/>
          </a:ln>
        </p:spPr>
      </p:pic>
      <p:sp>
        <p:nvSpPr>
          <p:cNvPr id="1216" name="Google Shape;1216;p24"/>
          <p:cNvSpPr/>
          <p:nvPr/>
        </p:nvSpPr>
        <p:spPr>
          <a:xfrm>
            <a:off x="9555480" y="5308092"/>
            <a:ext cx="566928" cy="201168"/>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24"/>
          <p:cNvSpPr/>
          <p:nvPr/>
        </p:nvSpPr>
        <p:spPr>
          <a:xfrm>
            <a:off x="9555480" y="5308092"/>
            <a:ext cx="566928" cy="20116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Poppins"/>
              <a:buNone/>
            </a:pPr>
            <a:r>
              <a:rPr b="1" i="0" lang="en-US" sz="800" u="none" cap="none" strike="noStrike">
                <a:solidFill>
                  <a:srgbClr val="FFFFFF"/>
                </a:solidFill>
                <a:latin typeface="Poppins"/>
                <a:ea typeface="Poppins"/>
                <a:cs typeface="Poppins"/>
                <a:sym typeface="Poppins"/>
              </a:rPr>
              <a:t>4:5</a:t>
            </a:r>
            <a:endParaRPr b="0" i="0" sz="800" u="none" cap="none" strike="noStrike">
              <a:solidFill>
                <a:schemeClr val="dk1"/>
              </a:solidFill>
              <a:latin typeface="Calibri"/>
              <a:ea typeface="Calibri"/>
              <a:cs typeface="Calibri"/>
              <a:sym typeface="Calibri"/>
            </a:endParaRPr>
          </a:p>
        </p:txBody>
      </p:sp>
      <p:sp>
        <p:nvSpPr>
          <p:cNvPr id="1218" name="Google Shape;1218;p24"/>
          <p:cNvSpPr/>
          <p:nvPr/>
        </p:nvSpPr>
        <p:spPr>
          <a:xfrm>
            <a:off x="6245350" y="3877150"/>
            <a:ext cx="3108900" cy="988200"/>
          </a:xfrm>
          <a:prstGeom prst="roundRect">
            <a:avLst>
              <a:gd fmla="val 8421" name="adj"/>
            </a:avLst>
          </a:prstGeom>
          <a:solidFill>
            <a:srgbClr val="E2F5EF"/>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24"/>
          <p:cNvSpPr/>
          <p:nvPr/>
        </p:nvSpPr>
        <p:spPr>
          <a:xfrm>
            <a:off x="6391656" y="4005168"/>
            <a:ext cx="365760" cy="36576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lobe_white.png" id="1220" name="Google Shape;1220;p24"/>
          <p:cNvPicPr preferRelativeResize="0"/>
          <p:nvPr/>
        </p:nvPicPr>
        <p:blipFill rotWithShape="1">
          <a:blip r:embed="rId7">
            <a:alphaModFix/>
          </a:blip>
          <a:srcRect b="0" l="0" r="0" t="0"/>
          <a:stretch/>
        </p:blipFill>
        <p:spPr>
          <a:xfrm>
            <a:off x="6483096" y="4096608"/>
            <a:ext cx="182880" cy="182880"/>
          </a:xfrm>
          <a:prstGeom prst="rect">
            <a:avLst/>
          </a:prstGeom>
          <a:noFill/>
          <a:ln>
            <a:noFill/>
          </a:ln>
        </p:spPr>
      </p:pic>
      <p:sp>
        <p:nvSpPr>
          <p:cNvPr id="1221" name="Google Shape;1221;p24"/>
          <p:cNvSpPr/>
          <p:nvPr/>
        </p:nvSpPr>
        <p:spPr>
          <a:xfrm>
            <a:off x="6830568" y="4005168"/>
            <a:ext cx="246888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50"/>
              <a:buFont typeface="Poppins"/>
              <a:buNone/>
            </a:pPr>
            <a:r>
              <a:rPr b="1" i="0" lang="en-US" sz="1050" u="none" cap="none" strike="noStrike">
                <a:solidFill>
                  <a:srgbClr val="2B2E2C"/>
                </a:solidFill>
                <a:latin typeface="Poppins"/>
                <a:ea typeface="Poppins"/>
                <a:cs typeface="Poppins"/>
                <a:sym typeface="Poppins"/>
              </a:rPr>
              <a:t>VIDEO 16:9 · YouTube</a:t>
            </a:r>
            <a:endParaRPr b="0" i="0" sz="1050" u="none" cap="none" strike="noStrike">
              <a:solidFill>
                <a:schemeClr val="dk1"/>
              </a:solidFill>
              <a:latin typeface="Calibri"/>
              <a:ea typeface="Calibri"/>
              <a:cs typeface="Calibri"/>
              <a:sym typeface="Calibri"/>
            </a:endParaRPr>
          </a:p>
        </p:txBody>
      </p:sp>
      <p:sp>
        <p:nvSpPr>
          <p:cNvPr id="1222" name="Google Shape;1222;p24"/>
          <p:cNvSpPr/>
          <p:nvPr/>
        </p:nvSpPr>
        <p:spPr>
          <a:xfrm>
            <a:off x="6391656" y="4334352"/>
            <a:ext cx="2816352"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800"/>
              <a:buFont typeface="Calibri"/>
              <a:buNone/>
            </a:pPr>
            <a:r>
              <a:rPr b="0" i="0" lang="en-US" sz="800" u="none" cap="none" strike="noStrike">
                <a:solidFill>
                  <a:srgbClr val="6E7873"/>
                </a:solidFill>
                <a:latin typeface="Calibri"/>
                <a:ea typeface="Calibri"/>
                <a:cs typeface="Calibri"/>
                <a:sym typeface="Calibri"/>
              </a:rPr>
              <a:t>15–30s: clinician introduction, how HIFEM + RF works, 30-minute session walk-through, soft CTA 'Book a consultation'. Calm, clinical, credible tone.</a:t>
            </a:r>
            <a:endParaRPr b="0" i="0" sz="800" u="none" cap="none" strike="noStrike">
              <a:solidFill>
                <a:schemeClr val="dk1"/>
              </a:solidFill>
              <a:latin typeface="Calibri"/>
              <a:ea typeface="Calibri"/>
              <a:cs typeface="Calibri"/>
              <a:sym typeface="Calibri"/>
            </a:endParaRPr>
          </a:p>
        </p:txBody>
      </p:sp>
      <p:sp>
        <p:nvSpPr>
          <p:cNvPr id="1223" name="Google Shape;1223;p24"/>
          <p:cNvSpPr/>
          <p:nvPr/>
        </p:nvSpPr>
        <p:spPr>
          <a:xfrm>
            <a:off x="6245350" y="5687576"/>
            <a:ext cx="5029200" cy="868800"/>
          </a:xfrm>
          <a:prstGeom prst="roundRect">
            <a:avLst>
              <a:gd fmla="val 12195" name="adj"/>
            </a:avLst>
          </a:prstGeom>
          <a:solidFill>
            <a:srgbClr val="1A2620"/>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24"/>
          <p:cNvSpPr/>
          <p:nvPr/>
        </p:nvSpPr>
        <p:spPr>
          <a:xfrm>
            <a:off x="6464808" y="5852160"/>
            <a:ext cx="420624" cy="420624"/>
          </a:xfrm>
          <a:prstGeom prst="ellipse">
            <a:avLst/>
          </a:prstGeom>
          <a:solidFill>
            <a:srgbClr val="3BE2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target_dark.png" id="1225" name="Google Shape;1225;p24"/>
          <p:cNvPicPr preferRelativeResize="0"/>
          <p:nvPr/>
        </p:nvPicPr>
        <p:blipFill rotWithShape="1">
          <a:blip r:embed="rId8">
            <a:alphaModFix/>
          </a:blip>
          <a:srcRect b="0" l="0" r="0" t="0"/>
          <a:stretch/>
        </p:blipFill>
        <p:spPr>
          <a:xfrm>
            <a:off x="6565392" y="5952744"/>
            <a:ext cx="219456" cy="219456"/>
          </a:xfrm>
          <a:prstGeom prst="rect">
            <a:avLst/>
          </a:prstGeom>
          <a:noFill/>
          <a:ln>
            <a:noFill/>
          </a:ln>
        </p:spPr>
      </p:pic>
      <p:sp>
        <p:nvSpPr>
          <p:cNvPr id="1226" name="Google Shape;1226;p24"/>
          <p:cNvSpPr/>
          <p:nvPr/>
        </p:nvSpPr>
        <p:spPr>
          <a:xfrm>
            <a:off x="7013448" y="5760720"/>
            <a:ext cx="411480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50"/>
              <a:buFont typeface="Poppins"/>
              <a:buNone/>
            </a:pPr>
            <a:r>
              <a:rPr b="1" i="0" lang="en-US" sz="1150" u="none" cap="none" strike="noStrike">
                <a:solidFill>
                  <a:srgbClr val="FFFFFF"/>
                </a:solidFill>
                <a:latin typeface="Poppins"/>
                <a:ea typeface="Poppins"/>
                <a:cs typeface="Poppins"/>
                <a:sym typeface="Poppins"/>
              </a:rPr>
              <a:t>Audience Signals</a:t>
            </a:r>
            <a:endParaRPr b="0" i="0" sz="1150" u="none" cap="none" strike="noStrike">
              <a:solidFill>
                <a:schemeClr val="dk1"/>
              </a:solidFill>
              <a:latin typeface="Calibri"/>
              <a:ea typeface="Calibri"/>
              <a:cs typeface="Calibri"/>
              <a:sym typeface="Calibri"/>
            </a:endParaRPr>
          </a:p>
        </p:txBody>
      </p:sp>
      <p:sp>
        <p:nvSpPr>
          <p:cNvPr id="1227" name="Google Shape;1227;p24"/>
          <p:cNvSpPr/>
          <p:nvPr/>
        </p:nvSpPr>
        <p:spPr>
          <a:xfrm>
            <a:off x="7013448" y="5998464"/>
            <a:ext cx="4206240" cy="420624"/>
          </a:xfrm>
          <a:prstGeom prst="rect">
            <a:avLst/>
          </a:prstGeom>
          <a:noFill/>
          <a:ln>
            <a:noFill/>
          </a:ln>
        </p:spPr>
        <p:txBody>
          <a:bodyPr anchorCtr="0" anchor="t" bIns="45700" lIns="91425" spcFirstLastPara="1" rIns="91425" wrap="square" tIns="45700">
            <a:noAutofit/>
          </a:bodyPr>
          <a:lstStyle/>
          <a:p>
            <a:pPr indent="-127000" lvl="0" marL="127000" marR="0" rtl="0" algn="l">
              <a:lnSpc>
                <a:spcPct val="100000"/>
              </a:lnSpc>
              <a:spcBef>
                <a:spcPts val="0"/>
              </a:spcBef>
              <a:spcAft>
                <a:spcPts val="0"/>
              </a:spcAft>
              <a:buClr>
                <a:srgbClr val="C9D2CE"/>
              </a:buClr>
              <a:buSzPts val="800"/>
              <a:buFont typeface="Calibri"/>
              <a:buChar char="•"/>
            </a:pPr>
            <a:r>
              <a:rPr b="0" i="0" lang="en-US" sz="800" u="none" cap="none" strike="noStrike">
                <a:solidFill>
                  <a:srgbClr val="C9D2CE"/>
                </a:solidFill>
                <a:latin typeface="Calibri"/>
                <a:ea typeface="Calibri"/>
                <a:cs typeface="Calibri"/>
                <a:sym typeface="Calibri"/>
              </a:rPr>
              <a:t>Search themes: emsculpt neo, body sculpting, muscle toning</a:t>
            </a:r>
            <a:endParaRPr b="0" i="0" sz="800" u="none" cap="none" strike="noStrike">
              <a:solidFill>
                <a:schemeClr val="dk1"/>
              </a:solidFill>
              <a:latin typeface="Calibri"/>
              <a:ea typeface="Calibri"/>
              <a:cs typeface="Calibri"/>
              <a:sym typeface="Calibri"/>
            </a:endParaRPr>
          </a:p>
          <a:p>
            <a:pPr indent="-127000" lvl="0" marL="127000" marR="0" rtl="0" algn="l">
              <a:lnSpc>
                <a:spcPct val="100000"/>
              </a:lnSpc>
              <a:spcBef>
                <a:spcPts val="100"/>
              </a:spcBef>
              <a:spcAft>
                <a:spcPts val="0"/>
              </a:spcAft>
              <a:buClr>
                <a:srgbClr val="C9D2CE"/>
              </a:buClr>
              <a:buSzPts val="800"/>
              <a:buFont typeface="Calibri"/>
              <a:buChar char="•"/>
            </a:pPr>
            <a:r>
              <a:rPr b="0" i="0" lang="en-US" sz="800" u="none" cap="none" strike="noStrike">
                <a:solidFill>
                  <a:srgbClr val="C9D2CE"/>
                </a:solidFill>
                <a:latin typeface="Calibri"/>
                <a:ea typeface="Calibri"/>
                <a:cs typeface="Calibri"/>
                <a:sym typeface="Calibri"/>
              </a:rPr>
              <a:t>In-market: fitness &amp; wellness, beauty services</a:t>
            </a:r>
            <a:endParaRPr b="0" i="0" sz="800" u="none" cap="none" strike="noStrike">
              <a:solidFill>
                <a:schemeClr val="dk1"/>
              </a:solidFill>
              <a:latin typeface="Calibri"/>
              <a:ea typeface="Calibri"/>
              <a:cs typeface="Calibri"/>
              <a:sym typeface="Calibri"/>
            </a:endParaRPr>
          </a:p>
          <a:p>
            <a:pPr indent="-127000" lvl="0" marL="127000" marR="0" rtl="0" algn="l">
              <a:lnSpc>
                <a:spcPct val="100000"/>
              </a:lnSpc>
              <a:spcBef>
                <a:spcPts val="100"/>
              </a:spcBef>
              <a:spcAft>
                <a:spcPts val="0"/>
              </a:spcAft>
              <a:buClr>
                <a:srgbClr val="C9D2CE"/>
              </a:buClr>
              <a:buSzPts val="800"/>
              <a:buFont typeface="Calibri"/>
              <a:buChar char="•"/>
            </a:pPr>
            <a:r>
              <a:rPr b="0" i="0" lang="en-US" sz="800" u="none" cap="none" strike="noStrike">
                <a:solidFill>
                  <a:srgbClr val="C9D2CE"/>
                </a:solidFill>
                <a:latin typeface="Calibri"/>
                <a:ea typeface="Calibri"/>
                <a:cs typeface="Calibri"/>
                <a:sym typeface="Calibri"/>
              </a:rPr>
              <a:t>Demographics: 30–50, all genders, central London + 5 mi</a:t>
            </a:r>
            <a:endParaRPr b="0" i="0" sz="800" u="none" cap="none" strike="noStrike">
              <a:solidFill>
                <a:schemeClr val="dk1"/>
              </a:solidFill>
              <a:latin typeface="Calibri"/>
              <a:ea typeface="Calibri"/>
              <a:cs typeface="Calibri"/>
              <a:sym typeface="Calibri"/>
            </a:endParaRPr>
          </a:p>
        </p:txBody>
      </p:sp>
      <p:sp>
        <p:nvSpPr>
          <p:cNvPr id="1228" name="Google Shape;1228;p24"/>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229" name="Google Shape;1229;p24"/>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24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4" name="Shape 1234"/>
        <p:cNvGrpSpPr/>
        <p:nvPr/>
      </p:nvGrpSpPr>
      <p:grpSpPr>
        <a:xfrm>
          <a:off x="0" y="0"/>
          <a:ext cx="0" cy="0"/>
          <a:chOff x="0" y="0"/>
          <a:chExt cx="0" cy="0"/>
        </a:xfrm>
      </p:grpSpPr>
      <p:pic>
        <p:nvPicPr>
          <p:cNvPr descr="unpacked/ppt/media/image11.png" id="1235" name="Google Shape;1235;p25"/>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236" name="Google Shape;1236;p25"/>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Asset Group</a:t>
            </a:r>
            <a:endParaRPr b="0" i="0" sz="1500" u="none" cap="none" strike="noStrike">
              <a:solidFill>
                <a:schemeClr val="dk1"/>
              </a:solidFill>
              <a:latin typeface="Calibri"/>
              <a:ea typeface="Calibri"/>
              <a:cs typeface="Calibri"/>
              <a:sym typeface="Calibri"/>
            </a:endParaRPr>
          </a:p>
        </p:txBody>
      </p:sp>
      <p:sp>
        <p:nvSpPr>
          <p:cNvPr id="1237" name="Google Shape;1237;p25"/>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PERFORMANCE MAX · ASSET GROUP B (EMBODY)</a:t>
            </a:r>
            <a:endParaRPr b="0" i="0" sz="1250" u="none" cap="none" strike="noStrike">
              <a:solidFill>
                <a:schemeClr val="dk1"/>
              </a:solidFill>
              <a:latin typeface="Calibri"/>
              <a:ea typeface="Calibri"/>
              <a:cs typeface="Calibri"/>
              <a:sym typeface="Calibri"/>
            </a:endParaRPr>
          </a:p>
        </p:txBody>
      </p:sp>
      <p:sp>
        <p:nvSpPr>
          <p:cNvPr id="1238" name="Google Shape;1238;p25"/>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Time-Poor Professional</a:t>
            </a:r>
            <a:endParaRPr b="0" i="0" sz="3300" u="none" cap="none" strike="noStrike">
              <a:solidFill>
                <a:schemeClr val="dk1"/>
              </a:solidFill>
              <a:latin typeface="Calibri"/>
              <a:ea typeface="Calibri"/>
              <a:cs typeface="Calibri"/>
              <a:sym typeface="Calibri"/>
            </a:endParaRPr>
          </a:p>
        </p:txBody>
      </p:sp>
      <p:sp>
        <p:nvSpPr>
          <p:cNvPr id="1239" name="Google Shape;1239;p25"/>
          <p:cNvSpPr/>
          <p:nvPr/>
        </p:nvSpPr>
        <p:spPr>
          <a:xfrm>
            <a:off x="502920" y="2048256"/>
            <a:ext cx="5486400" cy="402336"/>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0" name="Google Shape;1240;p25"/>
          <p:cNvSpPr/>
          <p:nvPr/>
        </p:nvSpPr>
        <p:spPr>
          <a:xfrm>
            <a:off x="649224" y="2048256"/>
            <a:ext cx="521208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RESPONSIVE PMAX COPY</a:t>
            </a:r>
            <a:endParaRPr b="0" i="0" sz="1200" u="none" cap="none" strike="noStrike">
              <a:solidFill>
                <a:schemeClr val="dk1"/>
              </a:solidFill>
              <a:latin typeface="Calibri"/>
              <a:ea typeface="Calibri"/>
              <a:cs typeface="Calibri"/>
              <a:sym typeface="Calibri"/>
            </a:endParaRPr>
          </a:p>
        </p:txBody>
      </p:sp>
      <p:sp>
        <p:nvSpPr>
          <p:cNvPr id="1241" name="Google Shape;1241;p25"/>
          <p:cNvSpPr/>
          <p:nvPr/>
        </p:nvSpPr>
        <p:spPr>
          <a:xfrm>
            <a:off x="539496" y="2560320"/>
            <a:ext cx="5486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SHORT HEADLINES (≤30)</a:t>
            </a:r>
            <a:endParaRPr b="0" i="0" sz="950" u="none" cap="none" strike="noStrike">
              <a:solidFill>
                <a:schemeClr val="dk1"/>
              </a:solidFill>
              <a:latin typeface="Calibri"/>
              <a:ea typeface="Calibri"/>
              <a:cs typeface="Calibri"/>
              <a:sym typeface="Calibri"/>
            </a:endParaRPr>
          </a:p>
        </p:txBody>
      </p:sp>
      <p:sp>
        <p:nvSpPr>
          <p:cNvPr id="1242" name="Google Shape;1242;p25"/>
          <p:cNvSpPr/>
          <p:nvPr/>
        </p:nvSpPr>
        <p:spPr>
          <a:xfrm>
            <a:off x="576072" y="2816352"/>
            <a:ext cx="265176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Thirty Minutes, No Downtime</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Body Sculpting, Holborn</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Clinic Near the City</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CQC-Regulated Clinic</a:t>
            </a:r>
            <a:endParaRPr b="0" i="0" sz="1000" u="none" cap="none" strike="noStrike">
              <a:solidFill>
                <a:schemeClr val="dk1"/>
              </a:solidFill>
              <a:latin typeface="Calibri"/>
              <a:ea typeface="Calibri"/>
              <a:cs typeface="Calibri"/>
              <a:sym typeface="Calibri"/>
            </a:endParaRPr>
          </a:p>
        </p:txBody>
      </p:sp>
      <p:sp>
        <p:nvSpPr>
          <p:cNvPr id="1243" name="Google Shape;1243;p25"/>
          <p:cNvSpPr/>
          <p:nvPr/>
        </p:nvSpPr>
        <p:spPr>
          <a:xfrm>
            <a:off x="3246120" y="2816352"/>
            <a:ext cx="265176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Monthly Payment Options</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Non-Surgical Contouring</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Medically Supervised</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Book a Free Consultation</a:t>
            </a:r>
            <a:endParaRPr b="0" i="0" sz="1000" u="none" cap="none" strike="noStrike">
              <a:solidFill>
                <a:schemeClr val="dk1"/>
              </a:solidFill>
              <a:latin typeface="Calibri"/>
              <a:ea typeface="Calibri"/>
              <a:cs typeface="Calibri"/>
              <a:sym typeface="Calibri"/>
            </a:endParaRPr>
          </a:p>
        </p:txBody>
      </p:sp>
      <p:sp>
        <p:nvSpPr>
          <p:cNvPr id="1244" name="Google Shape;1244;p25"/>
          <p:cNvSpPr/>
          <p:nvPr/>
        </p:nvSpPr>
        <p:spPr>
          <a:xfrm>
            <a:off x="539496" y="3895344"/>
            <a:ext cx="5486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LONG HEADLINES (≤90)</a:t>
            </a:r>
            <a:endParaRPr b="0" i="0" sz="950" u="none" cap="none" strike="noStrike">
              <a:solidFill>
                <a:schemeClr val="dk1"/>
              </a:solidFill>
              <a:latin typeface="Calibri"/>
              <a:ea typeface="Calibri"/>
              <a:cs typeface="Calibri"/>
              <a:sym typeface="Calibri"/>
            </a:endParaRPr>
          </a:p>
        </p:txBody>
      </p:sp>
      <p:sp>
        <p:nvSpPr>
          <p:cNvPr id="1245" name="Google Shape;1245;p25"/>
          <p:cNvSpPr/>
          <p:nvPr/>
        </p:nvSpPr>
        <p:spPr>
          <a:xfrm>
            <a:off x="576072" y="4151376"/>
            <a:ext cx="5349240" cy="91440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Body sculpting that fits a working day — 30 minutes, no downtime.</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CQC-regulated clinic at 233 High Holborn, minutes from the City.</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Medically supervised plans with monthly payment options available.</a:t>
            </a:r>
            <a:endParaRPr b="0" i="0" sz="1000" u="none" cap="none" strike="noStrike">
              <a:solidFill>
                <a:schemeClr val="dk1"/>
              </a:solidFill>
              <a:latin typeface="Calibri"/>
              <a:ea typeface="Calibri"/>
              <a:cs typeface="Calibri"/>
              <a:sym typeface="Calibri"/>
            </a:endParaRPr>
          </a:p>
        </p:txBody>
      </p:sp>
      <p:sp>
        <p:nvSpPr>
          <p:cNvPr id="1246" name="Google Shape;1246;p25"/>
          <p:cNvSpPr/>
          <p:nvPr/>
        </p:nvSpPr>
        <p:spPr>
          <a:xfrm>
            <a:off x="539496" y="5065776"/>
            <a:ext cx="5486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DESCRIPTIONS (≤90)</a:t>
            </a:r>
            <a:endParaRPr b="0" i="0" sz="950" u="none" cap="none" strike="noStrike">
              <a:solidFill>
                <a:schemeClr val="dk1"/>
              </a:solidFill>
              <a:latin typeface="Calibri"/>
              <a:ea typeface="Calibri"/>
              <a:cs typeface="Calibri"/>
              <a:sym typeface="Calibri"/>
            </a:endParaRPr>
          </a:p>
        </p:txBody>
      </p:sp>
      <p:sp>
        <p:nvSpPr>
          <p:cNvPr id="1247" name="Google Shape;1247;p25"/>
          <p:cNvSpPr/>
          <p:nvPr/>
        </p:nvSpPr>
        <p:spPr>
          <a:xfrm>
            <a:off x="576072" y="5321808"/>
            <a:ext cx="5349240" cy="86868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Thirty minutes. No downtime. Book today.</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dermatology-led clinic close to the office. Book a local consult.</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Monthly payment options available. Book your free consultation.</a:t>
            </a:r>
            <a:endParaRPr b="0" i="0" sz="1000" u="none" cap="none" strike="noStrike">
              <a:solidFill>
                <a:schemeClr val="dk1"/>
              </a:solidFill>
              <a:latin typeface="Calibri"/>
              <a:ea typeface="Calibri"/>
              <a:cs typeface="Calibri"/>
              <a:sym typeface="Calibri"/>
            </a:endParaRPr>
          </a:p>
        </p:txBody>
      </p:sp>
      <p:sp>
        <p:nvSpPr>
          <p:cNvPr id="1248" name="Google Shape;1248;p25"/>
          <p:cNvSpPr/>
          <p:nvPr/>
        </p:nvSpPr>
        <p:spPr>
          <a:xfrm>
            <a:off x="502920" y="5943600"/>
            <a:ext cx="5486400" cy="384048"/>
          </a:xfrm>
          <a:prstGeom prst="roundRect">
            <a:avLst>
              <a:gd fmla="val 14286" name="adj"/>
            </a:avLst>
          </a:prstGeom>
          <a:solidFill>
            <a:srgbClr val="E2F5EF"/>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25"/>
          <p:cNvSpPr/>
          <p:nvPr/>
        </p:nvSpPr>
        <p:spPr>
          <a:xfrm>
            <a:off x="649224" y="5943600"/>
            <a:ext cx="521208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Business: London Real Skin    CTA: Book Now</a:t>
            </a:r>
            <a:endParaRPr b="0" i="0" sz="1100" u="none" cap="none" strike="noStrike">
              <a:solidFill>
                <a:schemeClr val="dk1"/>
              </a:solidFill>
              <a:latin typeface="Calibri"/>
              <a:ea typeface="Calibri"/>
              <a:cs typeface="Calibri"/>
              <a:sym typeface="Calibri"/>
            </a:endParaRPr>
          </a:p>
        </p:txBody>
      </p:sp>
      <p:sp>
        <p:nvSpPr>
          <p:cNvPr id="1250" name="Google Shape;1250;p25"/>
          <p:cNvSpPr/>
          <p:nvPr/>
        </p:nvSpPr>
        <p:spPr>
          <a:xfrm>
            <a:off x="6245352" y="1792224"/>
            <a:ext cx="5486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CREATIVE ASSETS — stock models, safe-zone cropped</a:t>
            </a:r>
            <a:endParaRPr b="0" i="0" sz="1100" u="none" cap="none" strike="noStrike">
              <a:solidFill>
                <a:schemeClr val="dk1"/>
              </a:solidFill>
              <a:latin typeface="Calibri"/>
              <a:ea typeface="Calibri"/>
              <a:cs typeface="Calibri"/>
              <a:sym typeface="Calibri"/>
            </a:endParaRPr>
          </a:p>
        </p:txBody>
      </p:sp>
      <p:pic>
        <p:nvPicPr>
          <p:cNvPr descr="pmax_img/rhinoB1_1_91x1.jpg" id="1251" name="Google Shape;1251;p25"/>
          <p:cNvPicPr preferRelativeResize="0"/>
          <p:nvPr/>
        </p:nvPicPr>
        <p:blipFill rotWithShape="1">
          <a:blip r:embed="rId4">
            <a:alphaModFix/>
          </a:blip>
          <a:srcRect b="0" l="0" r="0" t="0"/>
          <a:stretch/>
        </p:blipFill>
        <p:spPr>
          <a:xfrm>
            <a:off x="6245352" y="2139696"/>
            <a:ext cx="3108960" cy="1627728"/>
          </a:xfrm>
          <a:prstGeom prst="rect">
            <a:avLst/>
          </a:prstGeom>
          <a:noFill/>
          <a:ln>
            <a:noFill/>
          </a:ln>
        </p:spPr>
      </p:pic>
      <p:sp>
        <p:nvSpPr>
          <p:cNvPr id="1252" name="Google Shape;1252;p25"/>
          <p:cNvSpPr/>
          <p:nvPr/>
        </p:nvSpPr>
        <p:spPr>
          <a:xfrm>
            <a:off x="6300216" y="3511392"/>
            <a:ext cx="566928" cy="201168"/>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25"/>
          <p:cNvSpPr/>
          <p:nvPr/>
        </p:nvSpPr>
        <p:spPr>
          <a:xfrm>
            <a:off x="6300216" y="3511392"/>
            <a:ext cx="566928" cy="20116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Poppins"/>
              <a:buNone/>
            </a:pPr>
            <a:r>
              <a:rPr b="1" i="0" lang="en-US" sz="800" u="none" cap="none" strike="noStrike">
                <a:solidFill>
                  <a:srgbClr val="FFFFFF"/>
                </a:solidFill>
                <a:latin typeface="Poppins"/>
                <a:ea typeface="Poppins"/>
                <a:cs typeface="Poppins"/>
                <a:sym typeface="Poppins"/>
              </a:rPr>
              <a:t>1.91:1</a:t>
            </a:r>
            <a:endParaRPr b="0" i="0" sz="800" u="none" cap="none" strike="noStrike">
              <a:solidFill>
                <a:schemeClr val="dk1"/>
              </a:solidFill>
              <a:latin typeface="Calibri"/>
              <a:ea typeface="Calibri"/>
              <a:cs typeface="Calibri"/>
              <a:sym typeface="Calibri"/>
            </a:endParaRPr>
          </a:p>
        </p:txBody>
      </p:sp>
      <p:pic>
        <p:nvPicPr>
          <p:cNvPr descr="pmax_img/rhinoB1_1x1.jpg" id="1254" name="Google Shape;1254;p25"/>
          <p:cNvPicPr preferRelativeResize="0"/>
          <p:nvPr/>
        </p:nvPicPr>
        <p:blipFill rotWithShape="1">
          <a:blip r:embed="rId5">
            <a:alphaModFix/>
          </a:blip>
          <a:srcRect b="0" l="0" r="0" t="0"/>
          <a:stretch/>
        </p:blipFill>
        <p:spPr>
          <a:xfrm>
            <a:off x="9500616" y="2139696"/>
            <a:ext cx="1481328" cy="1481328"/>
          </a:xfrm>
          <a:prstGeom prst="rect">
            <a:avLst/>
          </a:prstGeom>
          <a:noFill/>
          <a:ln>
            <a:noFill/>
          </a:ln>
        </p:spPr>
      </p:pic>
      <p:sp>
        <p:nvSpPr>
          <p:cNvPr id="1255" name="Google Shape;1255;p25"/>
          <p:cNvSpPr/>
          <p:nvPr/>
        </p:nvSpPr>
        <p:spPr>
          <a:xfrm>
            <a:off x="9555480" y="3364992"/>
            <a:ext cx="566928" cy="201168"/>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25"/>
          <p:cNvSpPr/>
          <p:nvPr/>
        </p:nvSpPr>
        <p:spPr>
          <a:xfrm>
            <a:off x="9555480" y="3364992"/>
            <a:ext cx="566928" cy="20116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Poppins"/>
              <a:buNone/>
            </a:pPr>
            <a:r>
              <a:rPr b="1" i="0" lang="en-US" sz="800" u="none" cap="none" strike="noStrike">
                <a:solidFill>
                  <a:srgbClr val="FFFFFF"/>
                </a:solidFill>
                <a:latin typeface="Poppins"/>
                <a:ea typeface="Poppins"/>
                <a:cs typeface="Poppins"/>
                <a:sym typeface="Poppins"/>
              </a:rPr>
              <a:t>1:1</a:t>
            </a:r>
            <a:endParaRPr b="0" i="0" sz="800" u="none" cap="none" strike="noStrike">
              <a:solidFill>
                <a:schemeClr val="dk1"/>
              </a:solidFill>
              <a:latin typeface="Calibri"/>
              <a:ea typeface="Calibri"/>
              <a:cs typeface="Calibri"/>
              <a:sym typeface="Calibri"/>
            </a:endParaRPr>
          </a:p>
        </p:txBody>
      </p:sp>
      <p:pic>
        <p:nvPicPr>
          <p:cNvPr descr="pmax_img/rhinoB2_4x5.jpg" id="1257" name="Google Shape;1257;p25"/>
          <p:cNvPicPr preferRelativeResize="0"/>
          <p:nvPr/>
        </p:nvPicPr>
        <p:blipFill rotWithShape="1">
          <a:blip r:embed="rId6">
            <a:alphaModFix/>
          </a:blip>
          <a:srcRect b="0" l="0" r="0" t="0"/>
          <a:stretch/>
        </p:blipFill>
        <p:spPr>
          <a:xfrm>
            <a:off x="9500616" y="3712464"/>
            <a:ext cx="1481328" cy="1851660"/>
          </a:xfrm>
          <a:prstGeom prst="rect">
            <a:avLst/>
          </a:prstGeom>
          <a:noFill/>
          <a:ln>
            <a:noFill/>
          </a:ln>
        </p:spPr>
      </p:pic>
      <p:sp>
        <p:nvSpPr>
          <p:cNvPr id="1258" name="Google Shape;1258;p25"/>
          <p:cNvSpPr/>
          <p:nvPr/>
        </p:nvSpPr>
        <p:spPr>
          <a:xfrm>
            <a:off x="9555480" y="5308092"/>
            <a:ext cx="566928" cy="201168"/>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25"/>
          <p:cNvSpPr/>
          <p:nvPr/>
        </p:nvSpPr>
        <p:spPr>
          <a:xfrm>
            <a:off x="9555480" y="5308092"/>
            <a:ext cx="566928" cy="20116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Poppins"/>
              <a:buNone/>
            </a:pPr>
            <a:r>
              <a:rPr b="1" i="0" lang="en-US" sz="800" u="none" cap="none" strike="noStrike">
                <a:solidFill>
                  <a:srgbClr val="FFFFFF"/>
                </a:solidFill>
                <a:latin typeface="Poppins"/>
                <a:ea typeface="Poppins"/>
                <a:cs typeface="Poppins"/>
                <a:sym typeface="Poppins"/>
              </a:rPr>
              <a:t>4:5</a:t>
            </a:r>
            <a:endParaRPr b="0" i="0" sz="800" u="none" cap="none" strike="noStrike">
              <a:solidFill>
                <a:schemeClr val="dk1"/>
              </a:solidFill>
              <a:latin typeface="Calibri"/>
              <a:ea typeface="Calibri"/>
              <a:cs typeface="Calibri"/>
              <a:sym typeface="Calibri"/>
            </a:endParaRPr>
          </a:p>
        </p:txBody>
      </p:sp>
      <p:sp>
        <p:nvSpPr>
          <p:cNvPr id="1260" name="Google Shape;1260;p25"/>
          <p:cNvSpPr/>
          <p:nvPr/>
        </p:nvSpPr>
        <p:spPr>
          <a:xfrm>
            <a:off x="6245350" y="3877150"/>
            <a:ext cx="3108900" cy="988200"/>
          </a:xfrm>
          <a:prstGeom prst="roundRect">
            <a:avLst>
              <a:gd fmla="val 8421" name="adj"/>
            </a:avLst>
          </a:prstGeom>
          <a:solidFill>
            <a:srgbClr val="E2F5EF"/>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25"/>
          <p:cNvSpPr/>
          <p:nvPr/>
        </p:nvSpPr>
        <p:spPr>
          <a:xfrm>
            <a:off x="6391656" y="4005168"/>
            <a:ext cx="365760" cy="36576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lobe_white.png" id="1262" name="Google Shape;1262;p25"/>
          <p:cNvPicPr preferRelativeResize="0"/>
          <p:nvPr/>
        </p:nvPicPr>
        <p:blipFill rotWithShape="1">
          <a:blip r:embed="rId7">
            <a:alphaModFix/>
          </a:blip>
          <a:srcRect b="0" l="0" r="0" t="0"/>
          <a:stretch/>
        </p:blipFill>
        <p:spPr>
          <a:xfrm>
            <a:off x="6483096" y="4096608"/>
            <a:ext cx="182880" cy="182880"/>
          </a:xfrm>
          <a:prstGeom prst="rect">
            <a:avLst/>
          </a:prstGeom>
          <a:noFill/>
          <a:ln>
            <a:noFill/>
          </a:ln>
        </p:spPr>
      </p:pic>
      <p:sp>
        <p:nvSpPr>
          <p:cNvPr id="1263" name="Google Shape;1263;p25"/>
          <p:cNvSpPr/>
          <p:nvPr/>
        </p:nvSpPr>
        <p:spPr>
          <a:xfrm>
            <a:off x="6830568" y="4005168"/>
            <a:ext cx="246888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50"/>
              <a:buFont typeface="Poppins"/>
              <a:buNone/>
            </a:pPr>
            <a:r>
              <a:rPr b="1" i="0" lang="en-US" sz="1050" u="none" cap="none" strike="noStrike">
                <a:solidFill>
                  <a:srgbClr val="2B2E2C"/>
                </a:solidFill>
                <a:latin typeface="Poppins"/>
                <a:ea typeface="Poppins"/>
                <a:cs typeface="Poppins"/>
                <a:sym typeface="Poppins"/>
              </a:rPr>
              <a:t>VIDEO 16:9 · YouTube</a:t>
            </a:r>
            <a:endParaRPr b="0" i="0" sz="1050" u="none" cap="none" strike="noStrike">
              <a:solidFill>
                <a:schemeClr val="dk1"/>
              </a:solidFill>
              <a:latin typeface="Calibri"/>
              <a:ea typeface="Calibri"/>
              <a:cs typeface="Calibri"/>
              <a:sym typeface="Calibri"/>
            </a:endParaRPr>
          </a:p>
        </p:txBody>
      </p:sp>
      <p:sp>
        <p:nvSpPr>
          <p:cNvPr id="1264" name="Google Shape;1264;p25"/>
          <p:cNvSpPr/>
          <p:nvPr/>
        </p:nvSpPr>
        <p:spPr>
          <a:xfrm>
            <a:off x="6391656" y="4334352"/>
            <a:ext cx="2816352"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800"/>
              <a:buFont typeface="Calibri"/>
              <a:buNone/>
            </a:pPr>
            <a:r>
              <a:rPr b="0" i="0" lang="en-US" sz="800" u="none" cap="none" strike="noStrike">
                <a:solidFill>
                  <a:srgbClr val="6E7873"/>
                </a:solidFill>
                <a:latin typeface="Calibri"/>
                <a:ea typeface="Calibri"/>
                <a:cs typeface="Calibri"/>
                <a:sym typeface="Calibri"/>
              </a:rPr>
              <a:t>15–30s: clinic interior, convenience of the Holborn location, 30-minute session, CTA 'Book a consultation'. Premium, reassuring, professional tone.</a:t>
            </a:r>
            <a:endParaRPr b="0" i="0" sz="800" u="none" cap="none" strike="noStrike">
              <a:solidFill>
                <a:schemeClr val="dk1"/>
              </a:solidFill>
              <a:latin typeface="Calibri"/>
              <a:ea typeface="Calibri"/>
              <a:cs typeface="Calibri"/>
              <a:sym typeface="Calibri"/>
            </a:endParaRPr>
          </a:p>
        </p:txBody>
      </p:sp>
      <p:sp>
        <p:nvSpPr>
          <p:cNvPr id="1265" name="Google Shape;1265;p25"/>
          <p:cNvSpPr/>
          <p:nvPr/>
        </p:nvSpPr>
        <p:spPr>
          <a:xfrm>
            <a:off x="6245350" y="5687576"/>
            <a:ext cx="5029200" cy="914400"/>
          </a:xfrm>
          <a:prstGeom prst="roundRect">
            <a:avLst>
              <a:gd fmla="val 12195" name="adj"/>
            </a:avLst>
          </a:prstGeom>
          <a:solidFill>
            <a:srgbClr val="1A2620"/>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25"/>
          <p:cNvSpPr/>
          <p:nvPr/>
        </p:nvSpPr>
        <p:spPr>
          <a:xfrm>
            <a:off x="6464808" y="5852160"/>
            <a:ext cx="420624" cy="420624"/>
          </a:xfrm>
          <a:prstGeom prst="ellipse">
            <a:avLst/>
          </a:prstGeom>
          <a:solidFill>
            <a:srgbClr val="3BE2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target_dark.png" id="1267" name="Google Shape;1267;p25"/>
          <p:cNvPicPr preferRelativeResize="0"/>
          <p:nvPr/>
        </p:nvPicPr>
        <p:blipFill rotWithShape="1">
          <a:blip r:embed="rId8">
            <a:alphaModFix/>
          </a:blip>
          <a:srcRect b="0" l="0" r="0" t="0"/>
          <a:stretch/>
        </p:blipFill>
        <p:spPr>
          <a:xfrm>
            <a:off x="6565392" y="5952744"/>
            <a:ext cx="219456" cy="219456"/>
          </a:xfrm>
          <a:prstGeom prst="rect">
            <a:avLst/>
          </a:prstGeom>
          <a:noFill/>
          <a:ln>
            <a:noFill/>
          </a:ln>
        </p:spPr>
      </p:pic>
      <p:sp>
        <p:nvSpPr>
          <p:cNvPr id="1268" name="Google Shape;1268;p25"/>
          <p:cNvSpPr/>
          <p:nvPr/>
        </p:nvSpPr>
        <p:spPr>
          <a:xfrm>
            <a:off x="7013448" y="5760720"/>
            <a:ext cx="411480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50"/>
              <a:buFont typeface="Poppins"/>
              <a:buNone/>
            </a:pPr>
            <a:r>
              <a:rPr b="1" i="0" lang="en-US" sz="1150" u="none" cap="none" strike="noStrike">
                <a:solidFill>
                  <a:srgbClr val="FFFFFF"/>
                </a:solidFill>
                <a:latin typeface="Poppins"/>
                <a:ea typeface="Poppins"/>
                <a:cs typeface="Poppins"/>
                <a:sym typeface="Poppins"/>
              </a:rPr>
              <a:t>Audience Signals</a:t>
            </a:r>
            <a:endParaRPr b="0" i="0" sz="1150" u="none" cap="none" strike="noStrike">
              <a:solidFill>
                <a:schemeClr val="dk1"/>
              </a:solidFill>
              <a:latin typeface="Calibri"/>
              <a:ea typeface="Calibri"/>
              <a:cs typeface="Calibri"/>
              <a:sym typeface="Calibri"/>
            </a:endParaRPr>
          </a:p>
        </p:txBody>
      </p:sp>
      <p:sp>
        <p:nvSpPr>
          <p:cNvPr id="1269" name="Google Shape;1269;p25"/>
          <p:cNvSpPr/>
          <p:nvPr/>
        </p:nvSpPr>
        <p:spPr>
          <a:xfrm>
            <a:off x="7013448" y="5998464"/>
            <a:ext cx="4206240" cy="420624"/>
          </a:xfrm>
          <a:prstGeom prst="rect">
            <a:avLst/>
          </a:prstGeom>
          <a:noFill/>
          <a:ln>
            <a:noFill/>
          </a:ln>
        </p:spPr>
        <p:txBody>
          <a:bodyPr anchorCtr="0" anchor="t" bIns="45700" lIns="91425" spcFirstLastPara="1" rIns="91425" wrap="square" tIns="45700">
            <a:noAutofit/>
          </a:bodyPr>
          <a:lstStyle/>
          <a:p>
            <a:pPr indent="-127000" lvl="0" marL="127000" marR="0" rtl="0" algn="l">
              <a:lnSpc>
                <a:spcPct val="100000"/>
              </a:lnSpc>
              <a:spcBef>
                <a:spcPts val="0"/>
              </a:spcBef>
              <a:spcAft>
                <a:spcPts val="0"/>
              </a:spcAft>
              <a:buClr>
                <a:srgbClr val="C9D2CE"/>
              </a:buClr>
              <a:buSzPts val="800"/>
              <a:buFont typeface="Calibri"/>
              <a:buChar char="•"/>
            </a:pPr>
            <a:r>
              <a:rPr b="0" i="0" lang="en-US" sz="800" u="none" cap="none" strike="noStrike">
                <a:solidFill>
                  <a:srgbClr val="C9D2CE"/>
                </a:solidFill>
                <a:latin typeface="Calibri"/>
                <a:ea typeface="Calibri"/>
                <a:cs typeface="Calibri"/>
                <a:sym typeface="Calibri"/>
              </a:rPr>
              <a:t>Search themes: body contouring london, body sculpting near me</a:t>
            </a:r>
            <a:endParaRPr b="0" i="0" sz="800" u="none" cap="none" strike="noStrike">
              <a:solidFill>
                <a:schemeClr val="dk1"/>
              </a:solidFill>
              <a:latin typeface="Calibri"/>
              <a:ea typeface="Calibri"/>
              <a:cs typeface="Calibri"/>
              <a:sym typeface="Calibri"/>
            </a:endParaRPr>
          </a:p>
          <a:p>
            <a:pPr indent="-127000" lvl="0" marL="127000" marR="0" rtl="0" algn="l">
              <a:lnSpc>
                <a:spcPct val="100000"/>
              </a:lnSpc>
              <a:spcBef>
                <a:spcPts val="100"/>
              </a:spcBef>
              <a:spcAft>
                <a:spcPts val="0"/>
              </a:spcAft>
              <a:buClr>
                <a:srgbClr val="C9D2CE"/>
              </a:buClr>
              <a:buSzPts val="800"/>
              <a:buFont typeface="Calibri"/>
              <a:buChar char="•"/>
            </a:pPr>
            <a:r>
              <a:rPr b="0" i="0" lang="en-US" sz="800" u="none" cap="none" strike="noStrike">
                <a:solidFill>
                  <a:srgbClr val="C9D2CE"/>
                </a:solidFill>
                <a:latin typeface="Calibri"/>
                <a:ea typeface="Calibri"/>
                <a:cs typeface="Calibri"/>
                <a:sym typeface="Calibri"/>
              </a:rPr>
              <a:t>In-market: beauty &amp; personal care services</a:t>
            </a:r>
            <a:endParaRPr b="0" i="0" sz="800" u="none" cap="none" strike="noStrike">
              <a:solidFill>
                <a:schemeClr val="dk1"/>
              </a:solidFill>
              <a:latin typeface="Calibri"/>
              <a:ea typeface="Calibri"/>
              <a:cs typeface="Calibri"/>
              <a:sym typeface="Calibri"/>
            </a:endParaRPr>
          </a:p>
          <a:p>
            <a:pPr indent="-127000" lvl="0" marL="127000" marR="0" rtl="0" algn="l">
              <a:lnSpc>
                <a:spcPct val="100000"/>
              </a:lnSpc>
              <a:spcBef>
                <a:spcPts val="100"/>
              </a:spcBef>
              <a:spcAft>
                <a:spcPts val="0"/>
              </a:spcAft>
              <a:buClr>
                <a:srgbClr val="C9D2CE"/>
              </a:buClr>
              <a:buSzPts val="800"/>
              <a:buFont typeface="Calibri"/>
              <a:buChar char="•"/>
            </a:pPr>
            <a:r>
              <a:rPr b="0" i="0" lang="en-US" sz="800" u="none" cap="none" strike="noStrike">
                <a:solidFill>
                  <a:srgbClr val="C9D2CE"/>
                </a:solidFill>
                <a:latin typeface="Calibri"/>
                <a:ea typeface="Calibri"/>
                <a:cs typeface="Calibri"/>
                <a:sym typeface="Calibri"/>
              </a:rPr>
              <a:t>Demographics: 35–55, all genders, central London + 5 mi</a:t>
            </a:r>
            <a:endParaRPr b="0" i="0" sz="800" u="none" cap="none" strike="noStrike">
              <a:solidFill>
                <a:schemeClr val="dk1"/>
              </a:solidFill>
              <a:latin typeface="Calibri"/>
              <a:ea typeface="Calibri"/>
              <a:cs typeface="Calibri"/>
              <a:sym typeface="Calibri"/>
            </a:endParaRPr>
          </a:p>
        </p:txBody>
      </p:sp>
      <p:sp>
        <p:nvSpPr>
          <p:cNvPr id="1270" name="Google Shape;1270;p25"/>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271" name="Google Shape;1271;p25"/>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25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6" name="Shape 1276"/>
        <p:cNvGrpSpPr/>
        <p:nvPr/>
      </p:nvGrpSpPr>
      <p:grpSpPr>
        <a:xfrm>
          <a:off x="0" y="0"/>
          <a:ext cx="0" cy="0"/>
          <a:chOff x="0" y="0"/>
          <a:chExt cx="0" cy="0"/>
        </a:xfrm>
      </p:grpSpPr>
      <p:pic>
        <p:nvPicPr>
          <p:cNvPr descr="unpacked/ppt/media/image11.png" id="1277" name="Google Shape;1277;p26"/>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278" name="Google Shape;1278;p26"/>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Asset Group</a:t>
            </a:r>
            <a:endParaRPr b="0" i="0" sz="1500" u="none" cap="none" strike="noStrike">
              <a:solidFill>
                <a:schemeClr val="dk1"/>
              </a:solidFill>
              <a:latin typeface="Calibri"/>
              <a:ea typeface="Calibri"/>
              <a:cs typeface="Calibri"/>
              <a:sym typeface="Calibri"/>
            </a:endParaRPr>
          </a:p>
        </p:txBody>
      </p:sp>
      <p:sp>
        <p:nvSpPr>
          <p:cNvPr id="1279" name="Google Shape;1279;p26"/>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PERFORMANCE MAX · ASSET GROUP A (EMFACE)</a:t>
            </a:r>
            <a:endParaRPr b="0" i="0" sz="1250" u="none" cap="none" strike="noStrike">
              <a:solidFill>
                <a:schemeClr val="dk1"/>
              </a:solidFill>
              <a:latin typeface="Calibri"/>
              <a:ea typeface="Calibri"/>
              <a:cs typeface="Calibri"/>
              <a:sym typeface="Calibri"/>
            </a:endParaRPr>
          </a:p>
        </p:txBody>
      </p:sp>
      <p:sp>
        <p:nvSpPr>
          <p:cNvPr id="1280" name="Google Shape;1280;p26"/>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Needle-Free Refiner</a:t>
            </a:r>
            <a:endParaRPr b="0" i="0" sz="3300" u="none" cap="none" strike="noStrike">
              <a:solidFill>
                <a:schemeClr val="dk1"/>
              </a:solidFill>
              <a:latin typeface="Calibri"/>
              <a:ea typeface="Calibri"/>
              <a:cs typeface="Calibri"/>
              <a:sym typeface="Calibri"/>
            </a:endParaRPr>
          </a:p>
        </p:txBody>
      </p:sp>
      <p:sp>
        <p:nvSpPr>
          <p:cNvPr id="1281" name="Google Shape;1281;p26"/>
          <p:cNvSpPr/>
          <p:nvPr/>
        </p:nvSpPr>
        <p:spPr>
          <a:xfrm>
            <a:off x="502920" y="2048256"/>
            <a:ext cx="5486400" cy="402336"/>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26"/>
          <p:cNvSpPr/>
          <p:nvPr/>
        </p:nvSpPr>
        <p:spPr>
          <a:xfrm>
            <a:off x="649224" y="2048256"/>
            <a:ext cx="521208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RESPONSIVE PMAX COPY</a:t>
            </a:r>
            <a:endParaRPr b="0" i="0" sz="1200" u="none" cap="none" strike="noStrike">
              <a:solidFill>
                <a:schemeClr val="dk1"/>
              </a:solidFill>
              <a:latin typeface="Calibri"/>
              <a:ea typeface="Calibri"/>
              <a:cs typeface="Calibri"/>
              <a:sym typeface="Calibri"/>
            </a:endParaRPr>
          </a:p>
        </p:txBody>
      </p:sp>
      <p:sp>
        <p:nvSpPr>
          <p:cNvPr id="1283" name="Google Shape;1283;p26"/>
          <p:cNvSpPr/>
          <p:nvPr/>
        </p:nvSpPr>
        <p:spPr>
          <a:xfrm>
            <a:off x="539496" y="2560320"/>
            <a:ext cx="5486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SHORT HEADLINES (≤30)</a:t>
            </a:r>
            <a:endParaRPr b="0" i="0" sz="950" u="none" cap="none" strike="noStrike">
              <a:solidFill>
                <a:schemeClr val="dk1"/>
              </a:solidFill>
              <a:latin typeface="Calibri"/>
              <a:ea typeface="Calibri"/>
              <a:cs typeface="Calibri"/>
              <a:sym typeface="Calibri"/>
            </a:endParaRPr>
          </a:p>
        </p:txBody>
      </p:sp>
      <p:sp>
        <p:nvSpPr>
          <p:cNvPr id="1284" name="Google Shape;1284;p26"/>
          <p:cNvSpPr/>
          <p:nvPr/>
        </p:nvSpPr>
        <p:spPr>
          <a:xfrm>
            <a:off x="576072" y="2816352"/>
            <a:ext cx="265176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Needle-Free Treatment</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EmFace in London</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Facial Toning Treatment</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20-Minute Sessions</a:t>
            </a:r>
            <a:endParaRPr b="0" i="0" sz="1000" u="none" cap="none" strike="noStrike">
              <a:solidFill>
                <a:schemeClr val="dk1"/>
              </a:solidFill>
              <a:latin typeface="Calibri"/>
              <a:ea typeface="Calibri"/>
              <a:cs typeface="Calibri"/>
              <a:sym typeface="Calibri"/>
            </a:endParaRPr>
          </a:p>
        </p:txBody>
      </p:sp>
      <p:sp>
        <p:nvSpPr>
          <p:cNvPr id="1285" name="Google Shape;1285;p26"/>
          <p:cNvSpPr/>
          <p:nvPr/>
        </p:nvSpPr>
        <p:spPr>
          <a:xfrm>
            <a:off x="3246120" y="2816352"/>
            <a:ext cx="265176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No Needles, No Downtime</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Dermatology-Led Clinic</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Non-Surgical Treatment</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Book a Free Consultation</a:t>
            </a:r>
            <a:endParaRPr b="0" i="0" sz="1000" u="none" cap="none" strike="noStrike">
              <a:solidFill>
                <a:schemeClr val="dk1"/>
              </a:solidFill>
              <a:latin typeface="Calibri"/>
              <a:ea typeface="Calibri"/>
              <a:cs typeface="Calibri"/>
              <a:sym typeface="Calibri"/>
            </a:endParaRPr>
          </a:p>
        </p:txBody>
      </p:sp>
      <p:sp>
        <p:nvSpPr>
          <p:cNvPr id="1286" name="Google Shape;1286;p26"/>
          <p:cNvSpPr/>
          <p:nvPr/>
        </p:nvSpPr>
        <p:spPr>
          <a:xfrm>
            <a:off x="539496" y="3895344"/>
            <a:ext cx="5486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LONG HEADLINES (≤90)</a:t>
            </a:r>
            <a:endParaRPr b="0" i="0" sz="950" u="none" cap="none" strike="noStrike">
              <a:solidFill>
                <a:schemeClr val="dk1"/>
              </a:solidFill>
              <a:latin typeface="Calibri"/>
              <a:ea typeface="Calibri"/>
              <a:cs typeface="Calibri"/>
              <a:sym typeface="Calibri"/>
            </a:endParaRPr>
          </a:p>
        </p:txBody>
      </p:sp>
      <p:sp>
        <p:nvSpPr>
          <p:cNvPr id="1287" name="Google Shape;1287;p26"/>
          <p:cNvSpPr/>
          <p:nvPr/>
        </p:nvSpPr>
        <p:spPr>
          <a:xfrm>
            <a:off x="576072" y="4151376"/>
            <a:ext cx="5349240" cy="91440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needle-free facial treatment at a dermatology-led London clinic.</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EmFace works on facial muscle as well as skin — no downtime.</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dermatology-led, CQC-regulated clinic at 233 High Holborn.</a:t>
            </a:r>
            <a:endParaRPr b="0" i="0" sz="1000" u="none" cap="none" strike="noStrike">
              <a:solidFill>
                <a:schemeClr val="dk1"/>
              </a:solidFill>
              <a:latin typeface="Calibri"/>
              <a:ea typeface="Calibri"/>
              <a:cs typeface="Calibri"/>
              <a:sym typeface="Calibri"/>
            </a:endParaRPr>
          </a:p>
        </p:txBody>
      </p:sp>
      <p:sp>
        <p:nvSpPr>
          <p:cNvPr id="1288" name="Google Shape;1288;p26"/>
          <p:cNvSpPr/>
          <p:nvPr/>
        </p:nvSpPr>
        <p:spPr>
          <a:xfrm>
            <a:off x="539496" y="5065776"/>
            <a:ext cx="5486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DESCRIPTIONS (≤90)</a:t>
            </a:r>
            <a:endParaRPr b="0" i="0" sz="950" u="none" cap="none" strike="noStrike">
              <a:solidFill>
                <a:schemeClr val="dk1"/>
              </a:solidFill>
              <a:latin typeface="Calibri"/>
              <a:ea typeface="Calibri"/>
              <a:cs typeface="Calibri"/>
              <a:sym typeface="Calibri"/>
            </a:endParaRPr>
          </a:p>
        </p:txBody>
      </p:sp>
      <p:sp>
        <p:nvSpPr>
          <p:cNvPr id="1289" name="Google Shape;1289;p26"/>
          <p:cNvSpPr/>
          <p:nvPr/>
        </p:nvSpPr>
        <p:spPr>
          <a:xfrm>
            <a:off x="576072" y="5321808"/>
            <a:ext cx="5349240" cy="86868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Needle-free, no downtime. Book today.</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20-minute treatment that may help lift and tone. Book a consult.</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Dermatology-led and CQC-regulated. Book your free consultation.</a:t>
            </a:r>
            <a:endParaRPr b="0" i="0" sz="1000" u="none" cap="none" strike="noStrike">
              <a:solidFill>
                <a:schemeClr val="dk1"/>
              </a:solidFill>
              <a:latin typeface="Calibri"/>
              <a:ea typeface="Calibri"/>
              <a:cs typeface="Calibri"/>
              <a:sym typeface="Calibri"/>
            </a:endParaRPr>
          </a:p>
        </p:txBody>
      </p:sp>
      <p:sp>
        <p:nvSpPr>
          <p:cNvPr id="1290" name="Google Shape;1290;p26"/>
          <p:cNvSpPr/>
          <p:nvPr/>
        </p:nvSpPr>
        <p:spPr>
          <a:xfrm>
            <a:off x="502920" y="5943600"/>
            <a:ext cx="5486400" cy="384048"/>
          </a:xfrm>
          <a:prstGeom prst="roundRect">
            <a:avLst>
              <a:gd fmla="val 14286" name="adj"/>
            </a:avLst>
          </a:prstGeom>
          <a:solidFill>
            <a:srgbClr val="E2F5EF"/>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26"/>
          <p:cNvSpPr/>
          <p:nvPr/>
        </p:nvSpPr>
        <p:spPr>
          <a:xfrm>
            <a:off x="649224" y="5943600"/>
            <a:ext cx="521208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Business: London Real Skin    CTA: Book Now</a:t>
            </a:r>
            <a:endParaRPr b="0" i="0" sz="1100" u="none" cap="none" strike="noStrike">
              <a:solidFill>
                <a:schemeClr val="dk1"/>
              </a:solidFill>
              <a:latin typeface="Calibri"/>
              <a:ea typeface="Calibri"/>
              <a:cs typeface="Calibri"/>
              <a:sym typeface="Calibri"/>
            </a:endParaRPr>
          </a:p>
        </p:txBody>
      </p:sp>
      <p:sp>
        <p:nvSpPr>
          <p:cNvPr id="1292" name="Google Shape;1292;p26"/>
          <p:cNvSpPr/>
          <p:nvPr/>
        </p:nvSpPr>
        <p:spPr>
          <a:xfrm>
            <a:off x="6245352" y="1792224"/>
            <a:ext cx="5486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CREATIVE ASSETS — stock models, safe-zone cropped</a:t>
            </a:r>
            <a:endParaRPr b="0" i="0" sz="1100" u="none" cap="none" strike="noStrike">
              <a:solidFill>
                <a:schemeClr val="dk1"/>
              </a:solidFill>
              <a:latin typeface="Calibri"/>
              <a:ea typeface="Calibri"/>
              <a:cs typeface="Calibri"/>
              <a:sym typeface="Calibri"/>
            </a:endParaRPr>
          </a:p>
        </p:txBody>
      </p:sp>
      <p:pic>
        <p:nvPicPr>
          <p:cNvPr descr="pmax_img/faceA1_1_91x1.jpg" id="1293" name="Google Shape;1293;p26"/>
          <p:cNvPicPr preferRelativeResize="0"/>
          <p:nvPr/>
        </p:nvPicPr>
        <p:blipFill rotWithShape="1">
          <a:blip r:embed="rId4">
            <a:alphaModFix/>
          </a:blip>
          <a:srcRect b="0" l="0" r="0" t="0"/>
          <a:stretch/>
        </p:blipFill>
        <p:spPr>
          <a:xfrm>
            <a:off x="6245352" y="2139696"/>
            <a:ext cx="3108960" cy="1627728"/>
          </a:xfrm>
          <a:prstGeom prst="rect">
            <a:avLst/>
          </a:prstGeom>
          <a:noFill/>
          <a:ln>
            <a:noFill/>
          </a:ln>
        </p:spPr>
      </p:pic>
      <p:sp>
        <p:nvSpPr>
          <p:cNvPr id="1294" name="Google Shape;1294;p26"/>
          <p:cNvSpPr/>
          <p:nvPr/>
        </p:nvSpPr>
        <p:spPr>
          <a:xfrm>
            <a:off x="6300216" y="3511392"/>
            <a:ext cx="566928" cy="201168"/>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p26"/>
          <p:cNvSpPr/>
          <p:nvPr/>
        </p:nvSpPr>
        <p:spPr>
          <a:xfrm>
            <a:off x="6300216" y="3511392"/>
            <a:ext cx="566928" cy="20116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Poppins"/>
              <a:buNone/>
            </a:pPr>
            <a:r>
              <a:rPr b="1" i="0" lang="en-US" sz="800" u="none" cap="none" strike="noStrike">
                <a:solidFill>
                  <a:srgbClr val="FFFFFF"/>
                </a:solidFill>
                <a:latin typeface="Poppins"/>
                <a:ea typeface="Poppins"/>
                <a:cs typeface="Poppins"/>
                <a:sym typeface="Poppins"/>
              </a:rPr>
              <a:t>1.91:1</a:t>
            </a:r>
            <a:endParaRPr b="0" i="0" sz="800" u="none" cap="none" strike="noStrike">
              <a:solidFill>
                <a:schemeClr val="dk1"/>
              </a:solidFill>
              <a:latin typeface="Calibri"/>
              <a:ea typeface="Calibri"/>
              <a:cs typeface="Calibri"/>
              <a:sym typeface="Calibri"/>
            </a:endParaRPr>
          </a:p>
        </p:txBody>
      </p:sp>
      <p:pic>
        <p:nvPicPr>
          <p:cNvPr descr="pmax_img/faceA1_1x1.jpg" id="1296" name="Google Shape;1296;p26"/>
          <p:cNvPicPr preferRelativeResize="0"/>
          <p:nvPr/>
        </p:nvPicPr>
        <p:blipFill rotWithShape="1">
          <a:blip r:embed="rId5">
            <a:alphaModFix/>
          </a:blip>
          <a:srcRect b="0" l="0" r="0" t="0"/>
          <a:stretch/>
        </p:blipFill>
        <p:spPr>
          <a:xfrm>
            <a:off x="9500616" y="2139696"/>
            <a:ext cx="1481328" cy="1481328"/>
          </a:xfrm>
          <a:prstGeom prst="rect">
            <a:avLst/>
          </a:prstGeom>
          <a:noFill/>
          <a:ln>
            <a:noFill/>
          </a:ln>
        </p:spPr>
      </p:pic>
      <p:sp>
        <p:nvSpPr>
          <p:cNvPr id="1297" name="Google Shape;1297;p26"/>
          <p:cNvSpPr/>
          <p:nvPr/>
        </p:nvSpPr>
        <p:spPr>
          <a:xfrm>
            <a:off x="9555480" y="3364992"/>
            <a:ext cx="566928" cy="201168"/>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26"/>
          <p:cNvSpPr/>
          <p:nvPr/>
        </p:nvSpPr>
        <p:spPr>
          <a:xfrm>
            <a:off x="9555480" y="3364992"/>
            <a:ext cx="566928" cy="20116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Poppins"/>
              <a:buNone/>
            </a:pPr>
            <a:r>
              <a:rPr b="1" i="0" lang="en-US" sz="800" u="none" cap="none" strike="noStrike">
                <a:solidFill>
                  <a:srgbClr val="FFFFFF"/>
                </a:solidFill>
                <a:latin typeface="Poppins"/>
                <a:ea typeface="Poppins"/>
                <a:cs typeface="Poppins"/>
                <a:sym typeface="Poppins"/>
              </a:rPr>
              <a:t>1:1</a:t>
            </a:r>
            <a:endParaRPr b="0" i="0" sz="800" u="none" cap="none" strike="noStrike">
              <a:solidFill>
                <a:schemeClr val="dk1"/>
              </a:solidFill>
              <a:latin typeface="Calibri"/>
              <a:ea typeface="Calibri"/>
              <a:cs typeface="Calibri"/>
              <a:sym typeface="Calibri"/>
            </a:endParaRPr>
          </a:p>
        </p:txBody>
      </p:sp>
      <p:pic>
        <p:nvPicPr>
          <p:cNvPr descr="pmax_img/faceA2_4x5.jpg" id="1299" name="Google Shape;1299;p26"/>
          <p:cNvPicPr preferRelativeResize="0"/>
          <p:nvPr/>
        </p:nvPicPr>
        <p:blipFill rotWithShape="1">
          <a:blip r:embed="rId6">
            <a:alphaModFix/>
          </a:blip>
          <a:srcRect b="0" l="0" r="0" t="0"/>
          <a:stretch/>
        </p:blipFill>
        <p:spPr>
          <a:xfrm>
            <a:off x="9500616" y="3712464"/>
            <a:ext cx="1481328" cy="1851660"/>
          </a:xfrm>
          <a:prstGeom prst="rect">
            <a:avLst/>
          </a:prstGeom>
          <a:noFill/>
          <a:ln>
            <a:noFill/>
          </a:ln>
        </p:spPr>
      </p:pic>
      <p:sp>
        <p:nvSpPr>
          <p:cNvPr id="1300" name="Google Shape;1300;p26"/>
          <p:cNvSpPr/>
          <p:nvPr/>
        </p:nvSpPr>
        <p:spPr>
          <a:xfrm>
            <a:off x="9555480" y="5308092"/>
            <a:ext cx="566928" cy="201168"/>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p26"/>
          <p:cNvSpPr/>
          <p:nvPr/>
        </p:nvSpPr>
        <p:spPr>
          <a:xfrm>
            <a:off x="9555480" y="5308092"/>
            <a:ext cx="566928" cy="20116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Poppins"/>
              <a:buNone/>
            </a:pPr>
            <a:r>
              <a:rPr b="1" i="0" lang="en-US" sz="800" u="none" cap="none" strike="noStrike">
                <a:solidFill>
                  <a:srgbClr val="FFFFFF"/>
                </a:solidFill>
                <a:latin typeface="Poppins"/>
                <a:ea typeface="Poppins"/>
                <a:cs typeface="Poppins"/>
                <a:sym typeface="Poppins"/>
              </a:rPr>
              <a:t>4:5</a:t>
            </a:r>
            <a:endParaRPr b="0" i="0" sz="800" u="none" cap="none" strike="noStrike">
              <a:solidFill>
                <a:schemeClr val="dk1"/>
              </a:solidFill>
              <a:latin typeface="Calibri"/>
              <a:ea typeface="Calibri"/>
              <a:cs typeface="Calibri"/>
              <a:sym typeface="Calibri"/>
            </a:endParaRPr>
          </a:p>
        </p:txBody>
      </p:sp>
      <p:sp>
        <p:nvSpPr>
          <p:cNvPr id="1302" name="Google Shape;1302;p26"/>
          <p:cNvSpPr/>
          <p:nvPr/>
        </p:nvSpPr>
        <p:spPr>
          <a:xfrm>
            <a:off x="6245350" y="3877150"/>
            <a:ext cx="3108900" cy="988200"/>
          </a:xfrm>
          <a:prstGeom prst="roundRect">
            <a:avLst>
              <a:gd fmla="val 8421" name="adj"/>
            </a:avLst>
          </a:prstGeom>
          <a:solidFill>
            <a:srgbClr val="E2F5EF"/>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26"/>
          <p:cNvSpPr/>
          <p:nvPr/>
        </p:nvSpPr>
        <p:spPr>
          <a:xfrm>
            <a:off x="6391656" y="4005168"/>
            <a:ext cx="365760" cy="36576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lobe_white.png" id="1304" name="Google Shape;1304;p26"/>
          <p:cNvPicPr preferRelativeResize="0"/>
          <p:nvPr/>
        </p:nvPicPr>
        <p:blipFill rotWithShape="1">
          <a:blip r:embed="rId7">
            <a:alphaModFix/>
          </a:blip>
          <a:srcRect b="0" l="0" r="0" t="0"/>
          <a:stretch/>
        </p:blipFill>
        <p:spPr>
          <a:xfrm>
            <a:off x="6483096" y="4096608"/>
            <a:ext cx="182880" cy="182880"/>
          </a:xfrm>
          <a:prstGeom prst="rect">
            <a:avLst/>
          </a:prstGeom>
          <a:noFill/>
          <a:ln>
            <a:noFill/>
          </a:ln>
        </p:spPr>
      </p:pic>
      <p:sp>
        <p:nvSpPr>
          <p:cNvPr id="1305" name="Google Shape;1305;p26"/>
          <p:cNvSpPr/>
          <p:nvPr/>
        </p:nvSpPr>
        <p:spPr>
          <a:xfrm>
            <a:off x="6830568" y="4005168"/>
            <a:ext cx="246888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50"/>
              <a:buFont typeface="Poppins"/>
              <a:buNone/>
            </a:pPr>
            <a:r>
              <a:rPr b="1" i="0" lang="en-US" sz="1050" u="none" cap="none" strike="noStrike">
                <a:solidFill>
                  <a:srgbClr val="2B2E2C"/>
                </a:solidFill>
                <a:latin typeface="Poppins"/>
                <a:ea typeface="Poppins"/>
                <a:cs typeface="Poppins"/>
                <a:sym typeface="Poppins"/>
              </a:rPr>
              <a:t>VIDEO 16:9 · YouTube</a:t>
            </a:r>
            <a:endParaRPr b="0" i="0" sz="1050" u="none" cap="none" strike="noStrike">
              <a:solidFill>
                <a:schemeClr val="dk1"/>
              </a:solidFill>
              <a:latin typeface="Calibri"/>
              <a:ea typeface="Calibri"/>
              <a:cs typeface="Calibri"/>
              <a:sym typeface="Calibri"/>
            </a:endParaRPr>
          </a:p>
        </p:txBody>
      </p:sp>
      <p:sp>
        <p:nvSpPr>
          <p:cNvPr id="1306" name="Google Shape;1306;p26"/>
          <p:cNvSpPr/>
          <p:nvPr/>
        </p:nvSpPr>
        <p:spPr>
          <a:xfrm>
            <a:off x="6391656" y="4334352"/>
            <a:ext cx="2816352"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800"/>
              <a:buFont typeface="Calibri"/>
              <a:buNone/>
            </a:pPr>
            <a:r>
              <a:rPr b="0" i="0" lang="en-US" sz="800" u="none" cap="none" strike="noStrike">
                <a:solidFill>
                  <a:srgbClr val="6E7873"/>
                </a:solidFill>
                <a:latin typeface="Calibri"/>
                <a:ea typeface="Calibri"/>
                <a:cs typeface="Calibri"/>
                <a:sym typeface="Calibri"/>
              </a:rPr>
              <a:t>15–30s: clinician explains facial muscle toning, needle-free message, 20-minute session, CTA 'Book a consultation'. Warm, premium, reassuring tone.</a:t>
            </a:r>
            <a:endParaRPr b="0" i="0" sz="800" u="none" cap="none" strike="noStrike">
              <a:solidFill>
                <a:schemeClr val="dk1"/>
              </a:solidFill>
              <a:latin typeface="Calibri"/>
              <a:ea typeface="Calibri"/>
              <a:cs typeface="Calibri"/>
              <a:sym typeface="Calibri"/>
            </a:endParaRPr>
          </a:p>
        </p:txBody>
      </p:sp>
      <p:sp>
        <p:nvSpPr>
          <p:cNvPr id="1307" name="Google Shape;1307;p26"/>
          <p:cNvSpPr/>
          <p:nvPr/>
        </p:nvSpPr>
        <p:spPr>
          <a:xfrm>
            <a:off x="6245350" y="5687576"/>
            <a:ext cx="5029200" cy="868800"/>
          </a:xfrm>
          <a:prstGeom prst="roundRect">
            <a:avLst>
              <a:gd fmla="val 12195" name="adj"/>
            </a:avLst>
          </a:prstGeom>
          <a:solidFill>
            <a:srgbClr val="1A2620"/>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26"/>
          <p:cNvSpPr/>
          <p:nvPr/>
        </p:nvSpPr>
        <p:spPr>
          <a:xfrm>
            <a:off x="6464808" y="5852160"/>
            <a:ext cx="420624" cy="420624"/>
          </a:xfrm>
          <a:prstGeom prst="ellipse">
            <a:avLst/>
          </a:prstGeom>
          <a:solidFill>
            <a:srgbClr val="3BE2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target_dark.png" id="1309" name="Google Shape;1309;p26"/>
          <p:cNvPicPr preferRelativeResize="0"/>
          <p:nvPr/>
        </p:nvPicPr>
        <p:blipFill rotWithShape="1">
          <a:blip r:embed="rId8">
            <a:alphaModFix/>
          </a:blip>
          <a:srcRect b="0" l="0" r="0" t="0"/>
          <a:stretch/>
        </p:blipFill>
        <p:spPr>
          <a:xfrm>
            <a:off x="6565392" y="5952744"/>
            <a:ext cx="219456" cy="219456"/>
          </a:xfrm>
          <a:prstGeom prst="rect">
            <a:avLst/>
          </a:prstGeom>
          <a:noFill/>
          <a:ln>
            <a:noFill/>
          </a:ln>
        </p:spPr>
      </p:pic>
      <p:sp>
        <p:nvSpPr>
          <p:cNvPr id="1310" name="Google Shape;1310;p26"/>
          <p:cNvSpPr/>
          <p:nvPr/>
        </p:nvSpPr>
        <p:spPr>
          <a:xfrm>
            <a:off x="7013448" y="5760720"/>
            <a:ext cx="411480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50"/>
              <a:buFont typeface="Poppins"/>
              <a:buNone/>
            </a:pPr>
            <a:r>
              <a:rPr b="1" i="0" lang="en-US" sz="1150" u="none" cap="none" strike="noStrike">
                <a:solidFill>
                  <a:srgbClr val="FFFFFF"/>
                </a:solidFill>
                <a:latin typeface="Poppins"/>
                <a:ea typeface="Poppins"/>
                <a:cs typeface="Poppins"/>
                <a:sym typeface="Poppins"/>
              </a:rPr>
              <a:t>Audience Signals</a:t>
            </a:r>
            <a:endParaRPr b="0" i="0" sz="1150" u="none" cap="none" strike="noStrike">
              <a:solidFill>
                <a:schemeClr val="dk1"/>
              </a:solidFill>
              <a:latin typeface="Calibri"/>
              <a:ea typeface="Calibri"/>
              <a:cs typeface="Calibri"/>
              <a:sym typeface="Calibri"/>
            </a:endParaRPr>
          </a:p>
        </p:txBody>
      </p:sp>
      <p:sp>
        <p:nvSpPr>
          <p:cNvPr id="1311" name="Google Shape;1311;p26"/>
          <p:cNvSpPr/>
          <p:nvPr/>
        </p:nvSpPr>
        <p:spPr>
          <a:xfrm>
            <a:off x="7013448" y="5998464"/>
            <a:ext cx="4206240" cy="420624"/>
          </a:xfrm>
          <a:prstGeom prst="rect">
            <a:avLst/>
          </a:prstGeom>
          <a:noFill/>
          <a:ln>
            <a:noFill/>
          </a:ln>
        </p:spPr>
        <p:txBody>
          <a:bodyPr anchorCtr="0" anchor="t" bIns="45700" lIns="91425" spcFirstLastPara="1" rIns="91425" wrap="square" tIns="45700">
            <a:noAutofit/>
          </a:bodyPr>
          <a:lstStyle/>
          <a:p>
            <a:pPr indent="-127000" lvl="0" marL="127000" marR="0" rtl="0" algn="l">
              <a:lnSpc>
                <a:spcPct val="100000"/>
              </a:lnSpc>
              <a:spcBef>
                <a:spcPts val="0"/>
              </a:spcBef>
              <a:spcAft>
                <a:spcPts val="0"/>
              </a:spcAft>
              <a:buClr>
                <a:srgbClr val="C9D2CE"/>
              </a:buClr>
              <a:buSzPts val="800"/>
              <a:buFont typeface="Calibri"/>
              <a:buChar char="•"/>
            </a:pPr>
            <a:r>
              <a:rPr b="0" i="0" lang="en-US" sz="800" u="none" cap="none" strike="noStrike">
                <a:solidFill>
                  <a:srgbClr val="C9D2CE"/>
                </a:solidFill>
                <a:latin typeface="Calibri"/>
                <a:ea typeface="Calibri"/>
                <a:cs typeface="Calibri"/>
                <a:sym typeface="Calibri"/>
              </a:rPr>
              <a:t>Search themes: emface, non surgical facelift, skin tightening</a:t>
            </a:r>
            <a:endParaRPr b="0" i="0" sz="800" u="none" cap="none" strike="noStrike">
              <a:solidFill>
                <a:schemeClr val="dk1"/>
              </a:solidFill>
              <a:latin typeface="Calibri"/>
              <a:ea typeface="Calibri"/>
              <a:cs typeface="Calibri"/>
              <a:sym typeface="Calibri"/>
            </a:endParaRPr>
          </a:p>
          <a:p>
            <a:pPr indent="-127000" lvl="0" marL="127000" marR="0" rtl="0" algn="l">
              <a:lnSpc>
                <a:spcPct val="100000"/>
              </a:lnSpc>
              <a:spcBef>
                <a:spcPts val="100"/>
              </a:spcBef>
              <a:spcAft>
                <a:spcPts val="0"/>
              </a:spcAft>
              <a:buClr>
                <a:srgbClr val="C9D2CE"/>
              </a:buClr>
              <a:buSzPts val="800"/>
              <a:buFont typeface="Calibri"/>
              <a:buChar char="•"/>
            </a:pPr>
            <a:r>
              <a:rPr b="0" i="0" lang="en-US" sz="800" u="none" cap="none" strike="noStrike">
                <a:solidFill>
                  <a:srgbClr val="C9D2CE"/>
                </a:solidFill>
                <a:latin typeface="Calibri"/>
                <a:ea typeface="Calibri"/>
                <a:cs typeface="Calibri"/>
                <a:sym typeface="Calibri"/>
              </a:rPr>
              <a:t>In-market: beauty services, skin care</a:t>
            </a:r>
            <a:endParaRPr b="0" i="0" sz="800" u="none" cap="none" strike="noStrike">
              <a:solidFill>
                <a:schemeClr val="dk1"/>
              </a:solidFill>
              <a:latin typeface="Calibri"/>
              <a:ea typeface="Calibri"/>
              <a:cs typeface="Calibri"/>
              <a:sym typeface="Calibri"/>
            </a:endParaRPr>
          </a:p>
          <a:p>
            <a:pPr indent="-127000" lvl="0" marL="127000" marR="0" rtl="0" algn="l">
              <a:lnSpc>
                <a:spcPct val="100000"/>
              </a:lnSpc>
              <a:spcBef>
                <a:spcPts val="100"/>
              </a:spcBef>
              <a:spcAft>
                <a:spcPts val="0"/>
              </a:spcAft>
              <a:buClr>
                <a:srgbClr val="C9D2CE"/>
              </a:buClr>
              <a:buSzPts val="800"/>
              <a:buFont typeface="Calibri"/>
              <a:buChar char="•"/>
            </a:pPr>
            <a:r>
              <a:rPr b="0" i="0" lang="en-US" sz="800" u="none" cap="none" strike="noStrike">
                <a:solidFill>
                  <a:srgbClr val="C9D2CE"/>
                </a:solidFill>
                <a:latin typeface="Calibri"/>
                <a:ea typeface="Calibri"/>
                <a:cs typeface="Calibri"/>
                <a:sym typeface="Calibri"/>
              </a:rPr>
              <a:t>Demographics: 35–55, female-skewed, central London + 5 mi</a:t>
            </a:r>
            <a:endParaRPr b="0" i="0" sz="800" u="none" cap="none" strike="noStrike">
              <a:solidFill>
                <a:schemeClr val="dk1"/>
              </a:solidFill>
              <a:latin typeface="Calibri"/>
              <a:ea typeface="Calibri"/>
              <a:cs typeface="Calibri"/>
              <a:sym typeface="Calibri"/>
            </a:endParaRPr>
          </a:p>
        </p:txBody>
      </p:sp>
      <p:sp>
        <p:nvSpPr>
          <p:cNvPr id="1312" name="Google Shape;1312;p26"/>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313" name="Google Shape;1313;p26"/>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8" name="Shape 1318"/>
        <p:cNvGrpSpPr/>
        <p:nvPr/>
      </p:nvGrpSpPr>
      <p:grpSpPr>
        <a:xfrm>
          <a:off x="0" y="0"/>
          <a:ext cx="0" cy="0"/>
          <a:chOff x="0" y="0"/>
          <a:chExt cx="0" cy="0"/>
        </a:xfrm>
      </p:grpSpPr>
      <p:pic>
        <p:nvPicPr>
          <p:cNvPr descr="unpacked/ppt/media/image11.png" id="1319" name="Google Shape;1319;p27"/>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320" name="Google Shape;1320;p27"/>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Asset Group</a:t>
            </a:r>
            <a:endParaRPr b="0" i="0" sz="1500" u="none" cap="none" strike="noStrike">
              <a:solidFill>
                <a:schemeClr val="dk1"/>
              </a:solidFill>
              <a:latin typeface="Calibri"/>
              <a:ea typeface="Calibri"/>
              <a:cs typeface="Calibri"/>
              <a:sym typeface="Calibri"/>
            </a:endParaRPr>
          </a:p>
        </p:txBody>
      </p:sp>
      <p:sp>
        <p:nvSpPr>
          <p:cNvPr id="1321" name="Google Shape;1321;p27"/>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PERFORMANCE MAX · ASSET GROUP B (EMFACE)</a:t>
            </a:r>
            <a:endParaRPr b="0" i="0" sz="1250" u="none" cap="none" strike="noStrike">
              <a:solidFill>
                <a:schemeClr val="dk1"/>
              </a:solidFill>
              <a:latin typeface="Calibri"/>
              <a:ea typeface="Calibri"/>
              <a:cs typeface="Calibri"/>
              <a:sym typeface="Calibri"/>
            </a:endParaRPr>
          </a:p>
        </p:txBody>
      </p:sp>
      <p:sp>
        <p:nvSpPr>
          <p:cNvPr id="1322" name="Google Shape;1322;p27"/>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Early Intervener</a:t>
            </a:r>
            <a:endParaRPr b="0" i="0" sz="3300" u="none" cap="none" strike="noStrike">
              <a:solidFill>
                <a:schemeClr val="dk1"/>
              </a:solidFill>
              <a:latin typeface="Calibri"/>
              <a:ea typeface="Calibri"/>
              <a:cs typeface="Calibri"/>
              <a:sym typeface="Calibri"/>
            </a:endParaRPr>
          </a:p>
        </p:txBody>
      </p:sp>
      <p:sp>
        <p:nvSpPr>
          <p:cNvPr id="1323" name="Google Shape;1323;p27"/>
          <p:cNvSpPr/>
          <p:nvPr/>
        </p:nvSpPr>
        <p:spPr>
          <a:xfrm>
            <a:off x="502920" y="2048256"/>
            <a:ext cx="5486400" cy="402336"/>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27"/>
          <p:cNvSpPr/>
          <p:nvPr/>
        </p:nvSpPr>
        <p:spPr>
          <a:xfrm>
            <a:off x="649224" y="2048256"/>
            <a:ext cx="5212080" cy="4023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RESPONSIVE PMAX COPY</a:t>
            </a:r>
            <a:endParaRPr b="0" i="0" sz="1200" u="none" cap="none" strike="noStrike">
              <a:solidFill>
                <a:schemeClr val="dk1"/>
              </a:solidFill>
              <a:latin typeface="Calibri"/>
              <a:ea typeface="Calibri"/>
              <a:cs typeface="Calibri"/>
              <a:sym typeface="Calibri"/>
            </a:endParaRPr>
          </a:p>
        </p:txBody>
      </p:sp>
      <p:sp>
        <p:nvSpPr>
          <p:cNvPr id="1325" name="Google Shape;1325;p27"/>
          <p:cNvSpPr/>
          <p:nvPr/>
        </p:nvSpPr>
        <p:spPr>
          <a:xfrm>
            <a:off x="539496" y="2560320"/>
            <a:ext cx="5486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SHORT HEADLINES (≤30)</a:t>
            </a:r>
            <a:endParaRPr b="0" i="0" sz="950" u="none" cap="none" strike="noStrike">
              <a:solidFill>
                <a:schemeClr val="dk1"/>
              </a:solidFill>
              <a:latin typeface="Calibri"/>
              <a:ea typeface="Calibri"/>
              <a:cs typeface="Calibri"/>
              <a:sym typeface="Calibri"/>
            </a:endParaRPr>
          </a:p>
        </p:txBody>
      </p:sp>
      <p:sp>
        <p:nvSpPr>
          <p:cNvPr id="1326" name="Google Shape;1326;p27"/>
          <p:cNvSpPr/>
          <p:nvPr/>
        </p:nvSpPr>
        <p:spPr>
          <a:xfrm>
            <a:off x="576072" y="2816352"/>
            <a:ext cx="265176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Start Before You Need To</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Preventative Face Toning</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EmFace in London</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Maintenance Plans Available</a:t>
            </a:r>
            <a:endParaRPr b="0" i="0" sz="1000" u="none" cap="none" strike="noStrike">
              <a:solidFill>
                <a:schemeClr val="dk1"/>
              </a:solidFill>
              <a:latin typeface="Calibri"/>
              <a:ea typeface="Calibri"/>
              <a:cs typeface="Calibri"/>
              <a:sym typeface="Calibri"/>
            </a:endParaRPr>
          </a:p>
        </p:txBody>
      </p:sp>
      <p:sp>
        <p:nvSpPr>
          <p:cNvPr id="1327" name="Google Shape;1327;p27"/>
          <p:cNvSpPr/>
          <p:nvPr/>
        </p:nvSpPr>
        <p:spPr>
          <a:xfrm>
            <a:off x="3246120" y="2816352"/>
            <a:ext cx="265176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No Needles, No Downtime</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Dermatology-Led Clinic</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Central London Clinic</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250"/>
              </a:spcBef>
              <a:spcAft>
                <a:spcPts val="0"/>
              </a:spcAft>
              <a:buClr>
                <a:srgbClr val="2B2E2C"/>
              </a:buClr>
              <a:buSzPts val="1000"/>
              <a:buFont typeface="Calibri"/>
              <a:buNone/>
            </a:pPr>
            <a:r>
              <a:rPr b="0" i="0" lang="en-US" sz="1000" u="none" cap="none" strike="noStrike">
                <a:solidFill>
                  <a:srgbClr val="2B2E2C"/>
                </a:solidFill>
                <a:latin typeface="Calibri"/>
                <a:ea typeface="Calibri"/>
                <a:cs typeface="Calibri"/>
                <a:sym typeface="Calibri"/>
              </a:rPr>
              <a:t>Book a Free Consultation</a:t>
            </a:r>
            <a:endParaRPr b="0" i="0" sz="1000" u="none" cap="none" strike="noStrike">
              <a:solidFill>
                <a:schemeClr val="dk1"/>
              </a:solidFill>
              <a:latin typeface="Calibri"/>
              <a:ea typeface="Calibri"/>
              <a:cs typeface="Calibri"/>
              <a:sym typeface="Calibri"/>
            </a:endParaRPr>
          </a:p>
        </p:txBody>
      </p:sp>
      <p:sp>
        <p:nvSpPr>
          <p:cNvPr id="1328" name="Google Shape;1328;p27"/>
          <p:cNvSpPr/>
          <p:nvPr/>
        </p:nvSpPr>
        <p:spPr>
          <a:xfrm>
            <a:off x="539496" y="3895344"/>
            <a:ext cx="5486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LONG HEADLINES (≤90)</a:t>
            </a:r>
            <a:endParaRPr b="0" i="0" sz="950" u="none" cap="none" strike="noStrike">
              <a:solidFill>
                <a:schemeClr val="dk1"/>
              </a:solidFill>
              <a:latin typeface="Calibri"/>
              <a:ea typeface="Calibri"/>
              <a:cs typeface="Calibri"/>
              <a:sym typeface="Calibri"/>
            </a:endParaRPr>
          </a:p>
        </p:txBody>
      </p:sp>
      <p:sp>
        <p:nvSpPr>
          <p:cNvPr id="1329" name="Google Shape;1329;p27"/>
          <p:cNvSpPr/>
          <p:nvPr/>
        </p:nvSpPr>
        <p:spPr>
          <a:xfrm>
            <a:off x="576072" y="4151376"/>
            <a:ext cx="5349240" cy="91440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preventative, needle-free treatment with a planned maintenance schedule.</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Dermatology-led assessment and a maintenance plan built around you.</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EmFace and Exion protocols at a CQC-regulated central London clinic.</a:t>
            </a:r>
            <a:endParaRPr b="0" i="0" sz="1000" u="none" cap="none" strike="noStrike">
              <a:solidFill>
                <a:schemeClr val="dk1"/>
              </a:solidFill>
              <a:latin typeface="Calibri"/>
              <a:ea typeface="Calibri"/>
              <a:cs typeface="Calibri"/>
              <a:sym typeface="Calibri"/>
            </a:endParaRPr>
          </a:p>
        </p:txBody>
      </p:sp>
      <p:sp>
        <p:nvSpPr>
          <p:cNvPr id="1330" name="Google Shape;1330;p27"/>
          <p:cNvSpPr/>
          <p:nvPr/>
        </p:nvSpPr>
        <p:spPr>
          <a:xfrm>
            <a:off x="539496" y="5065776"/>
            <a:ext cx="548640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950"/>
              <a:buFont typeface="Poppins"/>
              <a:buNone/>
            </a:pPr>
            <a:r>
              <a:rPr b="1" i="0" lang="en-US" sz="950" u="none" cap="none" strike="noStrike">
                <a:solidFill>
                  <a:srgbClr val="16A879"/>
                </a:solidFill>
                <a:latin typeface="Poppins"/>
                <a:ea typeface="Poppins"/>
                <a:cs typeface="Poppins"/>
                <a:sym typeface="Poppins"/>
              </a:rPr>
              <a:t>DESCRIPTIONS (≤90)</a:t>
            </a:r>
            <a:endParaRPr b="0" i="0" sz="950" u="none" cap="none" strike="noStrike">
              <a:solidFill>
                <a:schemeClr val="dk1"/>
              </a:solidFill>
              <a:latin typeface="Calibri"/>
              <a:ea typeface="Calibri"/>
              <a:cs typeface="Calibri"/>
              <a:sym typeface="Calibri"/>
            </a:endParaRPr>
          </a:p>
        </p:txBody>
      </p:sp>
      <p:sp>
        <p:nvSpPr>
          <p:cNvPr id="1331" name="Google Shape;1331;p27"/>
          <p:cNvSpPr/>
          <p:nvPr/>
        </p:nvSpPr>
        <p:spPr>
          <a:xfrm>
            <a:off x="576072" y="5321808"/>
            <a:ext cx="5349240" cy="868680"/>
          </a:xfrm>
          <a:prstGeom prst="rect">
            <a:avLst/>
          </a:prstGeom>
          <a:noFill/>
          <a:ln>
            <a:noFill/>
          </a:ln>
        </p:spPr>
        <p:txBody>
          <a:bodyPr anchorCtr="0" anchor="t" bIns="45700" lIns="91425" spcFirstLastPara="1" rIns="91425" wrap="square" tIns="45700">
            <a:noAutofit/>
          </a:bodyPr>
          <a:lstStyle/>
          <a:p>
            <a:pPr indent="-139700" lvl="0" marL="139700" marR="0" rtl="0" algn="l">
              <a:lnSpc>
                <a:spcPct val="100000"/>
              </a:lnSpc>
              <a:spcBef>
                <a:spcPts val="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preventative plan. Book today.</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A preventative plan from a dermatology-led clinic. Book a consult.</a:t>
            </a:r>
            <a:endParaRPr b="0" i="0" sz="10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rgbClr val="2B2E2C"/>
              </a:buClr>
              <a:buSzPts val="1000"/>
              <a:buFont typeface="Calibri"/>
              <a:buChar char="•"/>
            </a:pPr>
            <a:r>
              <a:rPr b="0" i="0" lang="en-US" sz="1000" u="none" cap="none" strike="noStrike">
                <a:solidFill>
                  <a:srgbClr val="2B2E2C"/>
                </a:solidFill>
                <a:latin typeface="Calibri"/>
                <a:ea typeface="Calibri"/>
                <a:cs typeface="Calibri"/>
                <a:sym typeface="Calibri"/>
              </a:rPr>
              <a:t>Maintenance sessions after your course. Book a free consultation.</a:t>
            </a:r>
            <a:endParaRPr b="0" i="0" sz="1000" u="none" cap="none" strike="noStrike">
              <a:solidFill>
                <a:schemeClr val="dk1"/>
              </a:solidFill>
              <a:latin typeface="Calibri"/>
              <a:ea typeface="Calibri"/>
              <a:cs typeface="Calibri"/>
              <a:sym typeface="Calibri"/>
            </a:endParaRPr>
          </a:p>
        </p:txBody>
      </p:sp>
      <p:sp>
        <p:nvSpPr>
          <p:cNvPr id="1332" name="Google Shape;1332;p27"/>
          <p:cNvSpPr/>
          <p:nvPr/>
        </p:nvSpPr>
        <p:spPr>
          <a:xfrm>
            <a:off x="502920" y="5943600"/>
            <a:ext cx="5486400" cy="384048"/>
          </a:xfrm>
          <a:prstGeom prst="roundRect">
            <a:avLst>
              <a:gd fmla="val 14286" name="adj"/>
            </a:avLst>
          </a:prstGeom>
          <a:solidFill>
            <a:srgbClr val="E2F5EF"/>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27"/>
          <p:cNvSpPr/>
          <p:nvPr/>
        </p:nvSpPr>
        <p:spPr>
          <a:xfrm>
            <a:off x="649224" y="5943600"/>
            <a:ext cx="521208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Business: London Real Skin    CTA: Book Now</a:t>
            </a:r>
            <a:endParaRPr b="0" i="0" sz="1100" u="none" cap="none" strike="noStrike">
              <a:solidFill>
                <a:schemeClr val="dk1"/>
              </a:solidFill>
              <a:latin typeface="Calibri"/>
              <a:ea typeface="Calibri"/>
              <a:cs typeface="Calibri"/>
              <a:sym typeface="Calibri"/>
            </a:endParaRPr>
          </a:p>
        </p:txBody>
      </p:sp>
      <p:sp>
        <p:nvSpPr>
          <p:cNvPr id="1334" name="Google Shape;1334;p27"/>
          <p:cNvSpPr/>
          <p:nvPr/>
        </p:nvSpPr>
        <p:spPr>
          <a:xfrm>
            <a:off x="6245352" y="1792224"/>
            <a:ext cx="5486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CREATIVE ASSETS — stock models, safe-zone cropped</a:t>
            </a:r>
            <a:endParaRPr b="0" i="0" sz="1100" u="none" cap="none" strike="noStrike">
              <a:solidFill>
                <a:schemeClr val="dk1"/>
              </a:solidFill>
              <a:latin typeface="Calibri"/>
              <a:ea typeface="Calibri"/>
              <a:cs typeface="Calibri"/>
              <a:sym typeface="Calibri"/>
            </a:endParaRPr>
          </a:p>
        </p:txBody>
      </p:sp>
      <p:pic>
        <p:nvPicPr>
          <p:cNvPr descr="pmax_img/faceB1_1_91x1.jpg" id="1335" name="Google Shape;1335;p27"/>
          <p:cNvPicPr preferRelativeResize="0"/>
          <p:nvPr/>
        </p:nvPicPr>
        <p:blipFill rotWithShape="1">
          <a:blip r:embed="rId4">
            <a:alphaModFix/>
          </a:blip>
          <a:srcRect b="0" l="0" r="0" t="0"/>
          <a:stretch/>
        </p:blipFill>
        <p:spPr>
          <a:xfrm>
            <a:off x="6245352" y="2139696"/>
            <a:ext cx="3108960" cy="1627728"/>
          </a:xfrm>
          <a:prstGeom prst="rect">
            <a:avLst/>
          </a:prstGeom>
          <a:noFill/>
          <a:ln>
            <a:noFill/>
          </a:ln>
        </p:spPr>
      </p:pic>
      <p:sp>
        <p:nvSpPr>
          <p:cNvPr id="1336" name="Google Shape;1336;p27"/>
          <p:cNvSpPr/>
          <p:nvPr/>
        </p:nvSpPr>
        <p:spPr>
          <a:xfrm>
            <a:off x="6300216" y="3511392"/>
            <a:ext cx="566928" cy="201168"/>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27"/>
          <p:cNvSpPr/>
          <p:nvPr/>
        </p:nvSpPr>
        <p:spPr>
          <a:xfrm>
            <a:off x="6300216" y="3511392"/>
            <a:ext cx="566928" cy="20116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Poppins"/>
              <a:buNone/>
            </a:pPr>
            <a:r>
              <a:rPr b="1" i="0" lang="en-US" sz="800" u="none" cap="none" strike="noStrike">
                <a:solidFill>
                  <a:srgbClr val="FFFFFF"/>
                </a:solidFill>
                <a:latin typeface="Poppins"/>
                <a:ea typeface="Poppins"/>
                <a:cs typeface="Poppins"/>
                <a:sym typeface="Poppins"/>
              </a:rPr>
              <a:t>1.91:1</a:t>
            </a:r>
            <a:endParaRPr b="0" i="0" sz="800" u="none" cap="none" strike="noStrike">
              <a:solidFill>
                <a:schemeClr val="dk1"/>
              </a:solidFill>
              <a:latin typeface="Calibri"/>
              <a:ea typeface="Calibri"/>
              <a:cs typeface="Calibri"/>
              <a:sym typeface="Calibri"/>
            </a:endParaRPr>
          </a:p>
        </p:txBody>
      </p:sp>
      <p:pic>
        <p:nvPicPr>
          <p:cNvPr descr="pmax_img/faceB1_1x1.jpg" id="1338" name="Google Shape;1338;p27"/>
          <p:cNvPicPr preferRelativeResize="0"/>
          <p:nvPr/>
        </p:nvPicPr>
        <p:blipFill rotWithShape="1">
          <a:blip r:embed="rId5">
            <a:alphaModFix/>
          </a:blip>
          <a:srcRect b="0" l="0" r="0" t="0"/>
          <a:stretch/>
        </p:blipFill>
        <p:spPr>
          <a:xfrm>
            <a:off x="9500616" y="2139696"/>
            <a:ext cx="1481328" cy="1481328"/>
          </a:xfrm>
          <a:prstGeom prst="rect">
            <a:avLst/>
          </a:prstGeom>
          <a:noFill/>
          <a:ln>
            <a:noFill/>
          </a:ln>
        </p:spPr>
      </p:pic>
      <p:sp>
        <p:nvSpPr>
          <p:cNvPr id="1339" name="Google Shape;1339;p27"/>
          <p:cNvSpPr/>
          <p:nvPr/>
        </p:nvSpPr>
        <p:spPr>
          <a:xfrm>
            <a:off x="9555480" y="3364992"/>
            <a:ext cx="566928" cy="201168"/>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27"/>
          <p:cNvSpPr/>
          <p:nvPr/>
        </p:nvSpPr>
        <p:spPr>
          <a:xfrm>
            <a:off x="9555480" y="3364992"/>
            <a:ext cx="566928" cy="20116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Poppins"/>
              <a:buNone/>
            </a:pPr>
            <a:r>
              <a:rPr b="1" i="0" lang="en-US" sz="800" u="none" cap="none" strike="noStrike">
                <a:solidFill>
                  <a:srgbClr val="FFFFFF"/>
                </a:solidFill>
                <a:latin typeface="Poppins"/>
                <a:ea typeface="Poppins"/>
                <a:cs typeface="Poppins"/>
                <a:sym typeface="Poppins"/>
              </a:rPr>
              <a:t>1:1</a:t>
            </a:r>
            <a:endParaRPr b="0" i="0" sz="800" u="none" cap="none" strike="noStrike">
              <a:solidFill>
                <a:schemeClr val="dk1"/>
              </a:solidFill>
              <a:latin typeface="Calibri"/>
              <a:ea typeface="Calibri"/>
              <a:cs typeface="Calibri"/>
              <a:sym typeface="Calibri"/>
            </a:endParaRPr>
          </a:p>
        </p:txBody>
      </p:sp>
      <p:pic>
        <p:nvPicPr>
          <p:cNvPr descr="pmax_img/faceB2_4x5.jpg" id="1341" name="Google Shape;1341;p27"/>
          <p:cNvPicPr preferRelativeResize="0"/>
          <p:nvPr/>
        </p:nvPicPr>
        <p:blipFill rotWithShape="1">
          <a:blip r:embed="rId6">
            <a:alphaModFix/>
          </a:blip>
          <a:srcRect b="0" l="0" r="0" t="0"/>
          <a:stretch/>
        </p:blipFill>
        <p:spPr>
          <a:xfrm>
            <a:off x="9500616" y="3712464"/>
            <a:ext cx="1481328" cy="1851660"/>
          </a:xfrm>
          <a:prstGeom prst="rect">
            <a:avLst/>
          </a:prstGeom>
          <a:noFill/>
          <a:ln>
            <a:noFill/>
          </a:ln>
        </p:spPr>
      </p:pic>
      <p:sp>
        <p:nvSpPr>
          <p:cNvPr id="1342" name="Google Shape;1342;p27"/>
          <p:cNvSpPr/>
          <p:nvPr/>
        </p:nvSpPr>
        <p:spPr>
          <a:xfrm>
            <a:off x="9555480" y="5308092"/>
            <a:ext cx="566928" cy="201168"/>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27"/>
          <p:cNvSpPr/>
          <p:nvPr/>
        </p:nvSpPr>
        <p:spPr>
          <a:xfrm>
            <a:off x="9555480" y="5308092"/>
            <a:ext cx="566928" cy="20116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
              <a:buFont typeface="Poppins"/>
              <a:buNone/>
            </a:pPr>
            <a:r>
              <a:rPr b="1" i="0" lang="en-US" sz="800" u="none" cap="none" strike="noStrike">
                <a:solidFill>
                  <a:srgbClr val="FFFFFF"/>
                </a:solidFill>
                <a:latin typeface="Poppins"/>
                <a:ea typeface="Poppins"/>
                <a:cs typeface="Poppins"/>
                <a:sym typeface="Poppins"/>
              </a:rPr>
              <a:t>4:5</a:t>
            </a:r>
            <a:endParaRPr b="0" i="0" sz="800" u="none" cap="none" strike="noStrike">
              <a:solidFill>
                <a:schemeClr val="dk1"/>
              </a:solidFill>
              <a:latin typeface="Calibri"/>
              <a:ea typeface="Calibri"/>
              <a:cs typeface="Calibri"/>
              <a:sym typeface="Calibri"/>
            </a:endParaRPr>
          </a:p>
        </p:txBody>
      </p:sp>
      <p:sp>
        <p:nvSpPr>
          <p:cNvPr id="1344" name="Google Shape;1344;p27"/>
          <p:cNvSpPr/>
          <p:nvPr/>
        </p:nvSpPr>
        <p:spPr>
          <a:xfrm>
            <a:off x="6245350" y="3877150"/>
            <a:ext cx="3108900" cy="988200"/>
          </a:xfrm>
          <a:prstGeom prst="roundRect">
            <a:avLst>
              <a:gd fmla="val 8421" name="adj"/>
            </a:avLst>
          </a:prstGeom>
          <a:solidFill>
            <a:srgbClr val="E2F5EF"/>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27"/>
          <p:cNvSpPr/>
          <p:nvPr/>
        </p:nvSpPr>
        <p:spPr>
          <a:xfrm>
            <a:off x="6391656" y="4005168"/>
            <a:ext cx="365760" cy="36576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lobe_white.png" id="1346" name="Google Shape;1346;p27"/>
          <p:cNvPicPr preferRelativeResize="0"/>
          <p:nvPr/>
        </p:nvPicPr>
        <p:blipFill rotWithShape="1">
          <a:blip r:embed="rId7">
            <a:alphaModFix/>
          </a:blip>
          <a:srcRect b="0" l="0" r="0" t="0"/>
          <a:stretch/>
        </p:blipFill>
        <p:spPr>
          <a:xfrm>
            <a:off x="6483096" y="4096608"/>
            <a:ext cx="182880" cy="182880"/>
          </a:xfrm>
          <a:prstGeom prst="rect">
            <a:avLst/>
          </a:prstGeom>
          <a:noFill/>
          <a:ln>
            <a:noFill/>
          </a:ln>
        </p:spPr>
      </p:pic>
      <p:sp>
        <p:nvSpPr>
          <p:cNvPr id="1347" name="Google Shape;1347;p27"/>
          <p:cNvSpPr/>
          <p:nvPr/>
        </p:nvSpPr>
        <p:spPr>
          <a:xfrm>
            <a:off x="6830568" y="4005168"/>
            <a:ext cx="246888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50"/>
              <a:buFont typeface="Poppins"/>
              <a:buNone/>
            </a:pPr>
            <a:r>
              <a:rPr b="1" i="0" lang="en-US" sz="1050" u="none" cap="none" strike="noStrike">
                <a:solidFill>
                  <a:srgbClr val="2B2E2C"/>
                </a:solidFill>
                <a:latin typeface="Poppins"/>
                <a:ea typeface="Poppins"/>
                <a:cs typeface="Poppins"/>
                <a:sym typeface="Poppins"/>
              </a:rPr>
              <a:t>VIDEO 16:9 · YouTube</a:t>
            </a:r>
            <a:endParaRPr b="0" i="0" sz="1050" u="none" cap="none" strike="noStrike">
              <a:solidFill>
                <a:schemeClr val="dk1"/>
              </a:solidFill>
              <a:latin typeface="Calibri"/>
              <a:ea typeface="Calibri"/>
              <a:cs typeface="Calibri"/>
              <a:sym typeface="Calibri"/>
            </a:endParaRPr>
          </a:p>
        </p:txBody>
      </p:sp>
      <p:sp>
        <p:nvSpPr>
          <p:cNvPr id="1348" name="Google Shape;1348;p27"/>
          <p:cNvSpPr/>
          <p:nvPr/>
        </p:nvSpPr>
        <p:spPr>
          <a:xfrm>
            <a:off x="6391656" y="4334352"/>
            <a:ext cx="2816352" cy="38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800"/>
              <a:buFont typeface="Calibri"/>
              <a:buNone/>
            </a:pPr>
            <a:r>
              <a:rPr b="0" i="0" lang="en-US" sz="800" u="none" cap="none" strike="noStrike">
                <a:solidFill>
                  <a:srgbClr val="6E7873"/>
                </a:solidFill>
                <a:latin typeface="Calibri"/>
                <a:ea typeface="Calibri"/>
                <a:cs typeface="Calibri"/>
                <a:sym typeface="Calibri"/>
              </a:rPr>
              <a:t>15–30s: preventative-care message, consultation and planning, maintenance schedule, CTA 'Book a consultation'. Considered, medical, understated tone.</a:t>
            </a:r>
            <a:endParaRPr b="0" i="0" sz="800" u="none" cap="none" strike="noStrike">
              <a:solidFill>
                <a:schemeClr val="dk1"/>
              </a:solidFill>
              <a:latin typeface="Calibri"/>
              <a:ea typeface="Calibri"/>
              <a:cs typeface="Calibri"/>
              <a:sym typeface="Calibri"/>
            </a:endParaRPr>
          </a:p>
        </p:txBody>
      </p:sp>
      <p:sp>
        <p:nvSpPr>
          <p:cNvPr id="1349" name="Google Shape;1349;p27"/>
          <p:cNvSpPr/>
          <p:nvPr/>
        </p:nvSpPr>
        <p:spPr>
          <a:xfrm>
            <a:off x="6245350" y="5687576"/>
            <a:ext cx="5029200" cy="914400"/>
          </a:xfrm>
          <a:prstGeom prst="roundRect">
            <a:avLst>
              <a:gd fmla="val 12195" name="adj"/>
            </a:avLst>
          </a:prstGeom>
          <a:solidFill>
            <a:srgbClr val="1A2620"/>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27"/>
          <p:cNvSpPr/>
          <p:nvPr/>
        </p:nvSpPr>
        <p:spPr>
          <a:xfrm>
            <a:off x="6464808" y="5852160"/>
            <a:ext cx="420624" cy="420624"/>
          </a:xfrm>
          <a:prstGeom prst="ellipse">
            <a:avLst/>
          </a:prstGeom>
          <a:solidFill>
            <a:srgbClr val="3BE2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target_dark.png" id="1351" name="Google Shape;1351;p27"/>
          <p:cNvPicPr preferRelativeResize="0"/>
          <p:nvPr/>
        </p:nvPicPr>
        <p:blipFill rotWithShape="1">
          <a:blip r:embed="rId8">
            <a:alphaModFix/>
          </a:blip>
          <a:srcRect b="0" l="0" r="0" t="0"/>
          <a:stretch/>
        </p:blipFill>
        <p:spPr>
          <a:xfrm>
            <a:off x="6565392" y="5952744"/>
            <a:ext cx="219456" cy="219456"/>
          </a:xfrm>
          <a:prstGeom prst="rect">
            <a:avLst/>
          </a:prstGeom>
          <a:noFill/>
          <a:ln>
            <a:noFill/>
          </a:ln>
        </p:spPr>
      </p:pic>
      <p:sp>
        <p:nvSpPr>
          <p:cNvPr id="1352" name="Google Shape;1352;p27"/>
          <p:cNvSpPr/>
          <p:nvPr/>
        </p:nvSpPr>
        <p:spPr>
          <a:xfrm>
            <a:off x="7013448" y="5760720"/>
            <a:ext cx="411480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50"/>
              <a:buFont typeface="Poppins"/>
              <a:buNone/>
            </a:pPr>
            <a:r>
              <a:rPr b="1" i="0" lang="en-US" sz="1150" u="none" cap="none" strike="noStrike">
                <a:solidFill>
                  <a:srgbClr val="FFFFFF"/>
                </a:solidFill>
                <a:latin typeface="Poppins"/>
                <a:ea typeface="Poppins"/>
                <a:cs typeface="Poppins"/>
                <a:sym typeface="Poppins"/>
              </a:rPr>
              <a:t>Audience Signals</a:t>
            </a:r>
            <a:endParaRPr b="0" i="0" sz="1150" u="none" cap="none" strike="noStrike">
              <a:solidFill>
                <a:schemeClr val="dk1"/>
              </a:solidFill>
              <a:latin typeface="Calibri"/>
              <a:ea typeface="Calibri"/>
              <a:cs typeface="Calibri"/>
              <a:sym typeface="Calibri"/>
            </a:endParaRPr>
          </a:p>
        </p:txBody>
      </p:sp>
      <p:sp>
        <p:nvSpPr>
          <p:cNvPr id="1353" name="Google Shape;1353;p27"/>
          <p:cNvSpPr/>
          <p:nvPr/>
        </p:nvSpPr>
        <p:spPr>
          <a:xfrm>
            <a:off x="7013448" y="5998464"/>
            <a:ext cx="4206240" cy="420624"/>
          </a:xfrm>
          <a:prstGeom prst="rect">
            <a:avLst/>
          </a:prstGeom>
          <a:noFill/>
          <a:ln>
            <a:noFill/>
          </a:ln>
        </p:spPr>
        <p:txBody>
          <a:bodyPr anchorCtr="0" anchor="t" bIns="45700" lIns="91425" spcFirstLastPara="1" rIns="91425" wrap="square" tIns="45700">
            <a:noAutofit/>
          </a:bodyPr>
          <a:lstStyle/>
          <a:p>
            <a:pPr indent="-127000" lvl="0" marL="127000" marR="0" rtl="0" algn="l">
              <a:lnSpc>
                <a:spcPct val="100000"/>
              </a:lnSpc>
              <a:spcBef>
                <a:spcPts val="0"/>
              </a:spcBef>
              <a:spcAft>
                <a:spcPts val="0"/>
              </a:spcAft>
              <a:buClr>
                <a:srgbClr val="C9D2CE"/>
              </a:buClr>
              <a:buSzPts val="800"/>
              <a:buFont typeface="Calibri"/>
              <a:buChar char="•"/>
            </a:pPr>
            <a:r>
              <a:rPr b="0" i="0" lang="en-US" sz="800" u="none" cap="none" strike="noStrike">
                <a:solidFill>
                  <a:srgbClr val="C9D2CE"/>
                </a:solidFill>
                <a:latin typeface="Calibri"/>
                <a:ea typeface="Calibri"/>
                <a:cs typeface="Calibri"/>
                <a:sym typeface="Calibri"/>
              </a:rPr>
              <a:t>Search themes: facial toning, skin tightening, jawline treatment</a:t>
            </a:r>
            <a:endParaRPr b="0" i="0" sz="800" u="none" cap="none" strike="noStrike">
              <a:solidFill>
                <a:schemeClr val="dk1"/>
              </a:solidFill>
              <a:latin typeface="Calibri"/>
              <a:ea typeface="Calibri"/>
              <a:cs typeface="Calibri"/>
              <a:sym typeface="Calibri"/>
            </a:endParaRPr>
          </a:p>
          <a:p>
            <a:pPr indent="-127000" lvl="0" marL="127000" marR="0" rtl="0" algn="l">
              <a:lnSpc>
                <a:spcPct val="100000"/>
              </a:lnSpc>
              <a:spcBef>
                <a:spcPts val="100"/>
              </a:spcBef>
              <a:spcAft>
                <a:spcPts val="0"/>
              </a:spcAft>
              <a:buClr>
                <a:srgbClr val="C9D2CE"/>
              </a:buClr>
              <a:buSzPts val="800"/>
              <a:buFont typeface="Calibri"/>
              <a:buChar char="•"/>
            </a:pPr>
            <a:r>
              <a:rPr b="0" i="0" lang="en-US" sz="800" u="none" cap="none" strike="noStrike">
                <a:solidFill>
                  <a:srgbClr val="C9D2CE"/>
                </a:solidFill>
                <a:latin typeface="Calibri"/>
                <a:ea typeface="Calibri"/>
                <a:cs typeface="Calibri"/>
                <a:sym typeface="Calibri"/>
              </a:rPr>
              <a:t>In-market: skin care &amp; beauty services</a:t>
            </a:r>
            <a:endParaRPr b="0" i="0" sz="800" u="none" cap="none" strike="noStrike">
              <a:solidFill>
                <a:schemeClr val="dk1"/>
              </a:solidFill>
              <a:latin typeface="Calibri"/>
              <a:ea typeface="Calibri"/>
              <a:cs typeface="Calibri"/>
              <a:sym typeface="Calibri"/>
            </a:endParaRPr>
          </a:p>
          <a:p>
            <a:pPr indent="-127000" lvl="0" marL="127000" marR="0" rtl="0" algn="l">
              <a:lnSpc>
                <a:spcPct val="100000"/>
              </a:lnSpc>
              <a:spcBef>
                <a:spcPts val="100"/>
              </a:spcBef>
              <a:spcAft>
                <a:spcPts val="0"/>
              </a:spcAft>
              <a:buClr>
                <a:srgbClr val="C9D2CE"/>
              </a:buClr>
              <a:buSzPts val="800"/>
              <a:buFont typeface="Calibri"/>
              <a:buChar char="•"/>
            </a:pPr>
            <a:r>
              <a:rPr b="0" i="0" lang="en-US" sz="800" u="none" cap="none" strike="noStrike">
                <a:solidFill>
                  <a:srgbClr val="C9D2CE"/>
                </a:solidFill>
                <a:latin typeface="Calibri"/>
                <a:ea typeface="Calibri"/>
                <a:cs typeface="Calibri"/>
                <a:sym typeface="Calibri"/>
              </a:rPr>
              <a:t>Demographics: 30–45, female-skewed, central London + 5 mi</a:t>
            </a:r>
            <a:endParaRPr b="0" i="0" sz="800" u="none" cap="none" strike="noStrike">
              <a:solidFill>
                <a:schemeClr val="dk1"/>
              </a:solidFill>
              <a:latin typeface="Calibri"/>
              <a:ea typeface="Calibri"/>
              <a:cs typeface="Calibri"/>
              <a:sym typeface="Calibri"/>
            </a:endParaRPr>
          </a:p>
        </p:txBody>
      </p:sp>
      <p:sp>
        <p:nvSpPr>
          <p:cNvPr id="1354" name="Google Shape;1354;p27"/>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355" name="Google Shape;1355;p27"/>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27</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0" name="Shape 1360"/>
        <p:cNvGrpSpPr/>
        <p:nvPr/>
      </p:nvGrpSpPr>
      <p:grpSpPr>
        <a:xfrm>
          <a:off x="0" y="0"/>
          <a:ext cx="0" cy="0"/>
          <a:chOff x="0" y="0"/>
          <a:chExt cx="0" cy="0"/>
        </a:xfrm>
      </p:grpSpPr>
      <p:pic>
        <p:nvPicPr>
          <p:cNvPr descr="unpacked/ppt/media/image11.png" id="1361" name="Google Shape;1361;p28"/>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362" name="Google Shape;1362;p28"/>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Budget</a:t>
            </a:r>
            <a:endParaRPr b="0" i="0" sz="1500" u="none" cap="none" strike="noStrike">
              <a:solidFill>
                <a:schemeClr val="dk1"/>
              </a:solidFill>
              <a:latin typeface="Calibri"/>
              <a:ea typeface="Calibri"/>
              <a:cs typeface="Calibri"/>
              <a:sym typeface="Calibri"/>
            </a:endParaRPr>
          </a:p>
        </p:txBody>
      </p:sp>
      <p:sp>
        <p:nvSpPr>
          <p:cNvPr id="1363" name="Google Shape;1363;p28"/>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INVESTMENT</a:t>
            </a:r>
            <a:endParaRPr b="0" i="0" sz="1250" u="none" cap="none" strike="noStrike">
              <a:solidFill>
                <a:schemeClr val="dk1"/>
              </a:solidFill>
              <a:latin typeface="Calibri"/>
              <a:ea typeface="Calibri"/>
              <a:cs typeface="Calibri"/>
              <a:sym typeface="Calibri"/>
            </a:endParaRPr>
          </a:p>
        </p:txBody>
      </p:sp>
      <p:sp>
        <p:nvSpPr>
          <p:cNvPr id="1364" name="Google Shape;1364;p28"/>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Media Budget &amp; Phasing</a:t>
            </a:r>
            <a:endParaRPr b="0" i="0" sz="3300" u="none" cap="none" strike="noStrike">
              <a:solidFill>
                <a:schemeClr val="dk1"/>
              </a:solidFill>
              <a:latin typeface="Calibri"/>
              <a:ea typeface="Calibri"/>
              <a:cs typeface="Calibri"/>
              <a:sym typeface="Calibri"/>
            </a:endParaRPr>
          </a:p>
        </p:txBody>
      </p:sp>
      <p:sp>
        <p:nvSpPr>
          <p:cNvPr id="1365" name="Google Shape;1365;p28"/>
          <p:cNvSpPr/>
          <p:nvPr/>
        </p:nvSpPr>
        <p:spPr>
          <a:xfrm>
            <a:off x="502920" y="2148840"/>
            <a:ext cx="4114800" cy="3657600"/>
          </a:xfrm>
          <a:prstGeom prst="roundRect">
            <a:avLst>
              <a:gd fmla="val 3000" name="adj"/>
            </a:avLst>
          </a:prstGeom>
          <a:solidFill>
            <a:srgbClr val="1A2620"/>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28"/>
          <p:cNvSpPr/>
          <p:nvPr/>
        </p:nvSpPr>
        <p:spPr>
          <a:xfrm>
            <a:off x="868680" y="2514600"/>
            <a:ext cx="777240" cy="777240"/>
          </a:xfrm>
          <a:prstGeom prst="ellipse">
            <a:avLst/>
          </a:prstGeom>
          <a:solidFill>
            <a:srgbClr val="3BE2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pound_dark.png" id="1367" name="Google Shape;1367;p28"/>
          <p:cNvPicPr preferRelativeResize="0"/>
          <p:nvPr/>
        </p:nvPicPr>
        <p:blipFill rotWithShape="1">
          <a:blip r:embed="rId4">
            <a:alphaModFix/>
          </a:blip>
          <a:srcRect b="0" l="0" r="0" t="0"/>
          <a:stretch/>
        </p:blipFill>
        <p:spPr>
          <a:xfrm>
            <a:off x="1065276" y="2711196"/>
            <a:ext cx="384048" cy="384048"/>
          </a:xfrm>
          <a:prstGeom prst="rect">
            <a:avLst/>
          </a:prstGeom>
          <a:noFill/>
          <a:ln>
            <a:noFill/>
          </a:ln>
        </p:spPr>
      </p:pic>
      <p:sp>
        <p:nvSpPr>
          <p:cNvPr id="1368" name="Google Shape;1368;p28"/>
          <p:cNvSpPr/>
          <p:nvPr/>
        </p:nvSpPr>
        <p:spPr>
          <a:xfrm>
            <a:off x="502920" y="3291840"/>
            <a:ext cx="4114800" cy="11887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8000"/>
              <a:buFont typeface="Poppins"/>
              <a:buNone/>
            </a:pPr>
            <a:r>
              <a:rPr b="1" i="0" lang="en-US" sz="8000" u="none" cap="none" strike="noStrike">
                <a:solidFill>
                  <a:srgbClr val="FFFFFF"/>
                </a:solidFill>
                <a:latin typeface="Poppins"/>
                <a:ea typeface="Poppins"/>
                <a:cs typeface="Poppins"/>
                <a:sym typeface="Poppins"/>
              </a:rPr>
              <a:t>£60</a:t>
            </a:r>
            <a:endParaRPr b="0" i="0" sz="8000" u="none" cap="none" strike="noStrike">
              <a:solidFill>
                <a:schemeClr val="dk1"/>
              </a:solidFill>
              <a:latin typeface="Calibri"/>
              <a:ea typeface="Calibri"/>
              <a:cs typeface="Calibri"/>
              <a:sym typeface="Calibri"/>
            </a:endParaRPr>
          </a:p>
        </p:txBody>
      </p:sp>
      <p:sp>
        <p:nvSpPr>
          <p:cNvPr id="1369" name="Google Shape;1369;p28"/>
          <p:cNvSpPr/>
          <p:nvPr/>
        </p:nvSpPr>
        <p:spPr>
          <a:xfrm>
            <a:off x="502920" y="4434840"/>
            <a:ext cx="411480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BE29F"/>
              </a:buClr>
              <a:buSzPts val="1600"/>
              <a:buFont typeface="Poppins"/>
              <a:buNone/>
            </a:pPr>
            <a:r>
              <a:rPr b="1" i="0" lang="en-US" sz="1600" u="none" cap="none" strike="noStrike">
                <a:solidFill>
                  <a:srgbClr val="3BE29F"/>
                </a:solidFill>
                <a:latin typeface="Poppins"/>
                <a:ea typeface="Poppins"/>
                <a:cs typeface="Poppins"/>
                <a:sym typeface="Poppins"/>
              </a:rPr>
              <a:t>per day · combined</a:t>
            </a:r>
            <a:endParaRPr b="0" i="0" sz="1600" u="none" cap="none" strike="noStrike">
              <a:solidFill>
                <a:schemeClr val="dk1"/>
              </a:solidFill>
              <a:latin typeface="Calibri"/>
              <a:ea typeface="Calibri"/>
              <a:cs typeface="Calibri"/>
              <a:sym typeface="Calibri"/>
            </a:endParaRPr>
          </a:p>
        </p:txBody>
      </p:sp>
      <p:cxnSp>
        <p:nvCxnSpPr>
          <p:cNvPr id="1370" name="Google Shape;1370;p28"/>
          <p:cNvCxnSpPr/>
          <p:nvPr/>
        </p:nvCxnSpPr>
        <p:spPr>
          <a:xfrm>
            <a:off x="1234440" y="4892040"/>
            <a:ext cx="2651760" cy="0"/>
          </a:xfrm>
          <a:prstGeom prst="straightConnector1">
            <a:avLst/>
          </a:prstGeom>
          <a:noFill/>
          <a:ln cap="flat" cmpd="sng" w="12700">
            <a:solidFill>
              <a:srgbClr val="16A879"/>
            </a:solidFill>
            <a:prstDash val="solid"/>
            <a:round/>
            <a:headEnd len="sm" w="sm" type="none"/>
            <a:tailEnd len="sm" w="sm" type="none"/>
          </a:ln>
        </p:spPr>
      </p:cxnSp>
      <p:sp>
        <p:nvSpPr>
          <p:cNvPr id="1371" name="Google Shape;1371;p28"/>
          <p:cNvSpPr/>
          <p:nvPr/>
        </p:nvSpPr>
        <p:spPr>
          <a:xfrm>
            <a:off x="502920" y="4983480"/>
            <a:ext cx="4114800" cy="640080"/>
          </a:xfrm>
          <a:prstGeom prst="rect">
            <a:avLst/>
          </a:prstGeom>
          <a:noFill/>
          <a:ln>
            <a:noFill/>
          </a:ln>
        </p:spPr>
        <p:txBody>
          <a:bodyPr anchorCtr="0" anchor="ctr" bIns="45700" lIns="91425" spcFirstLastPara="1" rIns="91425" wrap="square" tIns="45700">
            <a:noAutofit/>
          </a:bodyPr>
          <a:lstStyle/>
          <a:p>
            <a:pPr indent="0" lvl="0" marL="0" marR="0" rtl="0" algn="ctr">
              <a:lnSpc>
                <a:spcPct val="157142"/>
              </a:lnSpc>
              <a:spcBef>
                <a:spcPts val="0"/>
              </a:spcBef>
              <a:spcAft>
                <a:spcPts val="0"/>
              </a:spcAft>
              <a:buClr>
                <a:srgbClr val="FFFFFF"/>
              </a:buClr>
              <a:buSzPts val="1400"/>
              <a:buFont typeface="Poppins"/>
              <a:buNone/>
            </a:pPr>
            <a:r>
              <a:rPr b="1" i="0" lang="en-US" sz="1400" u="none" cap="none" strike="noStrike">
                <a:solidFill>
                  <a:srgbClr val="FFFFFF"/>
                </a:solidFill>
                <a:latin typeface="Poppins"/>
                <a:ea typeface="Poppins"/>
                <a:cs typeface="Poppins"/>
                <a:sym typeface="Poppins"/>
              </a:rPr>
              <a:t>≈ £420 / week</a:t>
            </a:r>
            <a:endParaRPr b="0" i="0" sz="1400" u="none" cap="none" strike="noStrike">
              <a:solidFill>
                <a:schemeClr val="dk1"/>
              </a:solidFill>
              <a:latin typeface="Calibri"/>
              <a:ea typeface="Calibri"/>
              <a:cs typeface="Calibri"/>
              <a:sym typeface="Calibri"/>
            </a:endParaRPr>
          </a:p>
          <a:p>
            <a:pPr indent="0" lvl="0" marL="0" marR="0" rtl="0" algn="ctr">
              <a:lnSpc>
                <a:spcPct val="157142"/>
              </a:lnSpc>
              <a:spcBef>
                <a:spcPts val="0"/>
              </a:spcBef>
              <a:spcAft>
                <a:spcPts val="0"/>
              </a:spcAft>
              <a:buClr>
                <a:srgbClr val="FFFFFF"/>
              </a:buClr>
              <a:buSzPts val="1400"/>
              <a:buFont typeface="Poppins"/>
              <a:buNone/>
            </a:pPr>
            <a:r>
              <a:rPr b="1" i="0" lang="en-US" sz="1400" u="none" cap="none" strike="noStrike">
                <a:solidFill>
                  <a:srgbClr val="FFFFFF"/>
                </a:solidFill>
                <a:latin typeface="Poppins"/>
                <a:ea typeface="Poppins"/>
                <a:cs typeface="Poppins"/>
                <a:sym typeface="Poppins"/>
              </a:rPr>
              <a:t>≈ £1,824 / month total budget</a:t>
            </a:r>
            <a:endParaRPr b="0" i="0" sz="1400" u="none" cap="none" strike="noStrike">
              <a:solidFill>
                <a:schemeClr val="dk1"/>
              </a:solidFill>
              <a:latin typeface="Calibri"/>
              <a:ea typeface="Calibri"/>
              <a:cs typeface="Calibri"/>
              <a:sym typeface="Calibri"/>
            </a:endParaRPr>
          </a:p>
        </p:txBody>
      </p:sp>
      <p:sp>
        <p:nvSpPr>
          <p:cNvPr id="1372" name="Google Shape;1372;p28"/>
          <p:cNvSpPr/>
          <p:nvPr/>
        </p:nvSpPr>
        <p:spPr>
          <a:xfrm>
            <a:off x="4846320" y="2148840"/>
            <a:ext cx="6839712" cy="713232"/>
          </a:xfrm>
          <a:prstGeom prst="roundRect">
            <a:avLst>
              <a:gd fmla="val 12821" name="adj"/>
            </a:avLst>
          </a:prstGeom>
          <a:solidFill>
            <a:srgbClr val="E2F5EF"/>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28"/>
          <p:cNvSpPr/>
          <p:nvPr/>
        </p:nvSpPr>
        <p:spPr>
          <a:xfrm>
            <a:off x="5074920" y="2148840"/>
            <a:ext cx="640080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300"/>
              <a:buFont typeface="Poppins"/>
              <a:buNone/>
            </a:pPr>
            <a:r>
              <a:rPr b="1" i="0" lang="en-US" sz="1300" u="none" cap="none" strike="noStrike">
                <a:solidFill>
                  <a:srgbClr val="16A879"/>
                </a:solidFill>
                <a:latin typeface="Poppins"/>
                <a:ea typeface="Poppins"/>
                <a:cs typeface="Poppins"/>
                <a:sym typeface="Poppins"/>
              </a:rPr>
              <a:t>Split by opportunity:  £40 / day EmBody  ·  £20 / day EmFace  —  each runs as its own campaign.</a:t>
            </a:r>
            <a:endParaRPr b="0" i="0" sz="1300" u="none" cap="none" strike="noStrike">
              <a:solidFill>
                <a:schemeClr val="dk1"/>
              </a:solidFill>
              <a:latin typeface="Calibri"/>
              <a:ea typeface="Calibri"/>
              <a:cs typeface="Calibri"/>
              <a:sym typeface="Calibri"/>
            </a:endParaRPr>
          </a:p>
        </p:txBody>
      </p:sp>
      <p:sp>
        <p:nvSpPr>
          <p:cNvPr id="1374" name="Google Shape;1374;p28"/>
          <p:cNvSpPr/>
          <p:nvPr/>
        </p:nvSpPr>
        <p:spPr>
          <a:xfrm>
            <a:off x="4846320" y="3017520"/>
            <a:ext cx="6839712" cy="877824"/>
          </a:xfrm>
          <a:prstGeom prst="roundRect">
            <a:avLst>
              <a:gd fmla="val 10417"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28"/>
          <p:cNvSpPr/>
          <p:nvPr/>
        </p:nvSpPr>
        <p:spPr>
          <a:xfrm>
            <a:off x="5074920" y="3218688"/>
            <a:ext cx="475488" cy="475488"/>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earch_white.png" id="1376" name="Google Shape;1376;p28"/>
          <p:cNvPicPr preferRelativeResize="0"/>
          <p:nvPr/>
        </p:nvPicPr>
        <p:blipFill rotWithShape="1">
          <a:blip r:embed="rId5">
            <a:alphaModFix/>
          </a:blip>
          <a:srcRect b="0" l="0" r="0" t="0"/>
          <a:stretch/>
        </p:blipFill>
        <p:spPr>
          <a:xfrm>
            <a:off x="5193792" y="3337560"/>
            <a:ext cx="237744" cy="237744"/>
          </a:xfrm>
          <a:prstGeom prst="rect">
            <a:avLst/>
          </a:prstGeom>
          <a:noFill/>
          <a:ln>
            <a:noFill/>
          </a:ln>
        </p:spPr>
      </p:pic>
      <p:sp>
        <p:nvSpPr>
          <p:cNvPr id="1377" name="Google Shape;1377;p28"/>
          <p:cNvSpPr/>
          <p:nvPr/>
        </p:nvSpPr>
        <p:spPr>
          <a:xfrm>
            <a:off x="5715000" y="3145536"/>
            <a:ext cx="5852160" cy="31089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400"/>
              <a:buFont typeface="Poppins"/>
              <a:buNone/>
            </a:pPr>
            <a:r>
              <a:rPr b="1" i="0" lang="en-US" sz="1400" u="none" cap="none" strike="noStrike">
                <a:solidFill>
                  <a:srgbClr val="2B2E2C"/>
                </a:solidFill>
                <a:latin typeface="Poppins"/>
                <a:ea typeface="Poppins"/>
                <a:cs typeface="Poppins"/>
                <a:sym typeface="Poppins"/>
              </a:rPr>
              <a:t>Phase 1 — Search first</a:t>
            </a:r>
            <a:endParaRPr b="0" i="0" sz="1400" u="none" cap="none" strike="noStrike">
              <a:solidFill>
                <a:schemeClr val="dk1"/>
              </a:solidFill>
              <a:latin typeface="Calibri"/>
              <a:ea typeface="Calibri"/>
              <a:cs typeface="Calibri"/>
              <a:sym typeface="Calibri"/>
            </a:endParaRPr>
          </a:p>
        </p:txBody>
      </p:sp>
      <p:sp>
        <p:nvSpPr>
          <p:cNvPr id="1378" name="Google Shape;1378;p28"/>
          <p:cNvSpPr/>
          <p:nvPr/>
        </p:nvSpPr>
        <p:spPr>
          <a:xfrm>
            <a:off x="5715000" y="3438144"/>
            <a:ext cx="5806440" cy="4206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1100"/>
              <a:buFont typeface="Calibri"/>
              <a:buNone/>
            </a:pPr>
            <a:r>
              <a:rPr b="0" i="0" lang="en-US" sz="1100" u="none" cap="none" strike="noStrike">
                <a:solidFill>
                  <a:srgbClr val="6E7873"/>
                </a:solidFill>
                <a:latin typeface="Calibri"/>
                <a:ea typeface="Calibri"/>
                <a:cs typeface="Calibri"/>
                <a:sym typeface="Calibri"/>
              </a:rPr>
              <a:t>The combined £60/day launches on Google Search, profiled per device, while we gather conversion data, refine keywords and build Quality Score.</a:t>
            </a:r>
            <a:endParaRPr b="0" i="0" sz="1100" u="none" cap="none" strike="noStrike">
              <a:solidFill>
                <a:schemeClr val="dk1"/>
              </a:solidFill>
              <a:latin typeface="Calibri"/>
              <a:ea typeface="Calibri"/>
              <a:cs typeface="Calibri"/>
              <a:sym typeface="Calibri"/>
            </a:endParaRPr>
          </a:p>
        </p:txBody>
      </p:sp>
      <p:sp>
        <p:nvSpPr>
          <p:cNvPr id="1379" name="Google Shape;1379;p28"/>
          <p:cNvSpPr/>
          <p:nvPr/>
        </p:nvSpPr>
        <p:spPr>
          <a:xfrm>
            <a:off x="4846320" y="3986784"/>
            <a:ext cx="6839712" cy="877824"/>
          </a:xfrm>
          <a:prstGeom prst="roundRect">
            <a:avLst>
              <a:gd fmla="val 10417"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28"/>
          <p:cNvSpPr/>
          <p:nvPr/>
        </p:nvSpPr>
        <p:spPr>
          <a:xfrm>
            <a:off x="5074920" y="4187952"/>
            <a:ext cx="475488" cy="475488"/>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chart_white.png" id="1381" name="Google Shape;1381;p28"/>
          <p:cNvPicPr preferRelativeResize="0"/>
          <p:nvPr/>
        </p:nvPicPr>
        <p:blipFill rotWithShape="1">
          <a:blip r:embed="rId6">
            <a:alphaModFix/>
          </a:blip>
          <a:srcRect b="0" l="0" r="0" t="0"/>
          <a:stretch/>
        </p:blipFill>
        <p:spPr>
          <a:xfrm>
            <a:off x="5193792" y="4306824"/>
            <a:ext cx="237744" cy="237744"/>
          </a:xfrm>
          <a:prstGeom prst="rect">
            <a:avLst/>
          </a:prstGeom>
          <a:noFill/>
          <a:ln>
            <a:noFill/>
          </a:ln>
        </p:spPr>
      </p:pic>
      <p:sp>
        <p:nvSpPr>
          <p:cNvPr id="1382" name="Google Shape;1382;p28"/>
          <p:cNvSpPr/>
          <p:nvPr/>
        </p:nvSpPr>
        <p:spPr>
          <a:xfrm>
            <a:off x="5715000" y="4114800"/>
            <a:ext cx="5852160" cy="31089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400"/>
              <a:buFont typeface="Poppins"/>
              <a:buNone/>
            </a:pPr>
            <a:r>
              <a:rPr b="1" i="0" lang="en-US" sz="1400" u="none" cap="none" strike="noStrike">
                <a:solidFill>
                  <a:srgbClr val="2B2E2C"/>
                </a:solidFill>
                <a:latin typeface="Poppins"/>
                <a:ea typeface="Poppins"/>
                <a:cs typeface="Poppins"/>
                <a:sym typeface="Poppins"/>
              </a:rPr>
              <a:t>Phase 2 — Scale what works</a:t>
            </a:r>
            <a:endParaRPr b="0" i="0" sz="1400" u="none" cap="none" strike="noStrike">
              <a:solidFill>
                <a:schemeClr val="dk1"/>
              </a:solidFill>
              <a:latin typeface="Calibri"/>
              <a:ea typeface="Calibri"/>
              <a:cs typeface="Calibri"/>
              <a:sym typeface="Calibri"/>
            </a:endParaRPr>
          </a:p>
        </p:txBody>
      </p:sp>
      <p:sp>
        <p:nvSpPr>
          <p:cNvPr id="1383" name="Google Shape;1383;p28"/>
          <p:cNvSpPr/>
          <p:nvPr/>
        </p:nvSpPr>
        <p:spPr>
          <a:xfrm>
            <a:off x="5715000" y="4407408"/>
            <a:ext cx="5806440" cy="4206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1100"/>
              <a:buFont typeface="Calibri"/>
              <a:buNone/>
            </a:pPr>
            <a:r>
              <a:rPr b="0" i="0" lang="en-US" sz="1100" u="none" cap="none" strike="noStrike">
                <a:solidFill>
                  <a:srgbClr val="6E7873"/>
                </a:solidFill>
                <a:latin typeface="Calibri"/>
                <a:ea typeface="Calibri"/>
                <a:cs typeface="Calibri"/>
                <a:sym typeface="Calibri"/>
              </a:rPr>
              <a:t>As Search gains momentum we introduce Performance Max from Month 4 with incremental budget, expanding reach across Google's inventory.</a:t>
            </a:r>
            <a:endParaRPr b="0" i="0" sz="1100" u="none" cap="none" strike="noStrike">
              <a:solidFill>
                <a:schemeClr val="dk1"/>
              </a:solidFill>
              <a:latin typeface="Calibri"/>
              <a:ea typeface="Calibri"/>
              <a:cs typeface="Calibri"/>
              <a:sym typeface="Calibri"/>
            </a:endParaRPr>
          </a:p>
        </p:txBody>
      </p:sp>
      <p:sp>
        <p:nvSpPr>
          <p:cNvPr id="1384" name="Google Shape;1384;p28"/>
          <p:cNvSpPr/>
          <p:nvPr/>
        </p:nvSpPr>
        <p:spPr>
          <a:xfrm>
            <a:off x="4846320" y="4956048"/>
            <a:ext cx="6839712" cy="877824"/>
          </a:xfrm>
          <a:prstGeom prst="roundRect">
            <a:avLst>
              <a:gd fmla="val 10417"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28"/>
          <p:cNvSpPr/>
          <p:nvPr/>
        </p:nvSpPr>
        <p:spPr>
          <a:xfrm>
            <a:off x="5074920" y="5157216"/>
            <a:ext cx="475488" cy="475488"/>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liders_white.png" id="1386" name="Google Shape;1386;p28"/>
          <p:cNvPicPr preferRelativeResize="0"/>
          <p:nvPr/>
        </p:nvPicPr>
        <p:blipFill rotWithShape="1">
          <a:blip r:embed="rId7">
            <a:alphaModFix/>
          </a:blip>
          <a:srcRect b="0" l="0" r="0" t="0"/>
          <a:stretch/>
        </p:blipFill>
        <p:spPr>
          <a:xfrm>
            <a:off x="5193792" y="5276088"/>
            <a:ext cx="237744" cy="237744"/>
          </a:xfrm>
          <a:prstGeom prst="rect">
            <a:avLst/>
          </a:prstGeom>
          <a:noFill/>
          <a:ln>
            <a:noFill/>
          </a:ln>
        </p:spPr>
      </p:pic>
      <p:sp>
        <p:nvSpPr>
          <p:cNvPr id="1387" name="Google Shape;1387;p28"/>
          <p:cNvSpPr/>
          <p:nvPr/>
        </p:nvSpPr>
        <p:spPr>
          <a:xfrm>
            <a:off x="5715000" y="5084064"/>
            <a:ext cx="5852160" cy="31089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400"/>
              <a:buFont typeface="Poppins"/>
              <a:buNone/>
            </a:pPr>
            <a:r>
              <a:rPr b="1" i="0" lang="en-US" sz="1400" u="none" cap="none" strike="noStrike">
                <a:solidFill>
                  <a:srgbClr val="2B2E2C"/>
                </a:solidFill>
                <a:latin typeface="Poppins"/>
                <a:ea typeface="Poppins"/>
                <a:cs typeface="Poppins"/>
                <a:sym typeface="Poppins"/>
              </a:rPr>
              <a:t>Flexible reallocation</a:t>
            </a:r>
            <a:endParaRPr b="0" i="0" sz="1400" u="none" cap="none" strike="noStrike">
              <a:solidFill>
                <a:schemeClr val="dk1"/>
              </a:solidFill>
              <a:latin typeface="Calibri"/>
              <a:ea typeface="Calibri"/>
              <a:cs typeface="Calibri"/>
              <a:sym typeface="Calibri"/>
            </a:endParaRPr>
          </a:p>
        </p:txBody>
      </p:sp>
      <p:sp>
        <p:nvSpPr>
          <p:cNvPr id="1388" name="Google Shape;1388;p28"/>
          <p:cNvSpPr/>
          <p:nvPr/>
        </p:nvSpPr>
        <p:spPr>
          <a:xfrm>
            <a:off x="5715000" y="5376672"/>
            <a:ext cx="5806440" cy="42062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1100"/>
              <a:buFont typeface="Calibri"/>
              <a:buNone/>
            </a:pPr>
            <a:r>
              <a:rPr b="0" i="0" lang="en-US" sz="1100" u="none" cap="none" strike="noStrike">
                <a:solidFill>
                  <a:srgbClr val="6E7873"/>
                </a:solidFill>
                <a:latin typeface="Calibri"/>
                <a:ea typeface="Calibri"/>
                <a:cs typeface="Calibri"/>
                <a:sym typeface="Calibri"/>
              </a:rPr>
              <a:t>Budget can be shifted between Search, PMax and the two devices to chase the strongest cost per enquiry.</a:t>
            </a:r>
            <a:endParaRPr b="0" i="0" sz="1100" u="none" cap="none" strike="noStrike">
              <a:solidFill>
                <a:schemeClr val="dk1"/>
              </a:solidFill>
              <a:latin typeface="Calibri"/>
              <a:ea typeface="Calibri"/>
              <a:cs typeface="Calibri"/>
              <a:sym typeface="Calibri"/>
            </a:endParaRPr>
          </a:p>
        </p:txBody>
      </p:sp>
      <p:sp>
        <p:nvSpPr>
          <p:cNvPr id="1389" name="Google Shape;1389;p28"/>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390" name="Google Shape;1390;p28"/>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28</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5" name="Shape 1395"/>
        <p:cNvGrpSpPr/>
        <p:nvPr/>
      </p:nvGrpSpPr>
      <p:grpSpPr>
        <a:xfrm>
          <a:off x="0" y="0"/>
          <a:ext cx="0" cy="0"/>
          <a:chOff x="0" y="0"/>
          <a:chExt cx="0" cy="0"/>
        </a:xfrm>
      </p:grpSpPr>
      <p:pic>
        <p:nvPicPr>
          <p:cNvPr descr="unpacked/ppt/media/image11.png" id="1396" name="Google Shape;1396;p29"/>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397" name="Google Shape;1397;p29"/>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Setup</a:t>
            </a:r>
            <a:endParaRPr b="0" i="0" sz="1500" u="none" cap="none" strike="noStrike">
              <a:solidFill>
                <a:schemeClr val="dk1"/>
              </a:solidFill>
              <a:latin typeface="Calibri"/>
              <a:ea typeface="Calibri"/>
              <a:cs typeface="Calibri"/>
              <a:sym typeface="Calibri"/>
            </a:endParaRPr>
          </a:p>
        </p:txBody>
      </p:sp>
      <p:sp>
        <p:nvSpPr>
          <p:cNvPr id="1398" name="Google Shape;1398;p29"/>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IMPLEMENTATION</a:t>
            </a:r>
            <a:endParaRPr b="0" i="0" sz="1250" u="none" cap="none" strike="noStrike">
              <a:solidFill>
                <a:schemeClr val="dk1"/>
              </a:solidFill>
              <a:latin typeface="Calibri"/>
              <a:ea typeface="Calibri"/>
              <a:cs typeface="Calibri"/>
              <a:sym typeface="Calibri"/>
            </a:endParaRPr>
          </a:p>
        </p:txBody>
      </p:sp>
      <p:sp>
        <p:nvSpPr>
          <p:cNvPr id="1399" name="Google Shape;1399;p29"/>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Search Campaign Setup Checklist</a:t>
            </a:r>
            <a:endParaRPr b="0" i="0" sz="3300" u="none" cap="none" strike="noStrike">
              <a:solidFill>
                <a:schemeClr val="dk1"/>
              </a:solidFill>
              <a:latin typeface="Calibri"/>
              <a:ea typeface="Calibri"/>
              <a:cs typeface="Calibri"/>
              <a:sym typeface="Calibri"/>
            </a:endParaRPr>
          </a:p>
        </p:txBody>
      </p:sp>
      <p:sp>
        <p:nvSpPr>
          <p:cNvPr id="1400" name="Google Shape;1400;p29"/>
          <p:cNvSpPr/>
          <p:nvPr/>
        </p:nvSpPr>
        <p:spPr>
          <a:xfrm>
            <a:off x="502920" y="1975104"/>
            <a:ext cx="1097280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Campaigns:  OMD – Search – EmBody / EMSCULPT NEO   ·   OMD – Search – EmFace</a:t>
            </a:r>
            <a:endParaRPr b="0" i="0" sz="1500" u="none" cap="none" strike="noStrike">
              <a:solidFill>
                <a:schemeClr val="dk1"/>
              </a:solidFill>
              <a:latin typeface="Calibri"/>
              <a:ea typeface="Calibri"/>
              <a:cs typeface="Calibri"/>
              <a:sym typeface="Calibri"/>
            </a:endParaRPr>
          </a:p>
        </p:txBody>
      </p:sp>
      <p:sp>
        <p:nvSpPr>
          <p:cNvPr id="1401" name="Google Shape;1401;p29"/>
          <p:cNvSpPr/>
          <p:nvPr/>
        </p:nvSpPr>
        <p:spPr>
          <a:xfrm>
            <a:off x="502920" y="2514600"/>
            <a:ext cx="5440680" cy="1783080"/>
          </a:xfrm>
          <a:prstGeom prst="roundRect">
            <a:avLst>
              <a:gd fmla="val 5128"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29"/>
          <p:cNvSpPr/>
          <p:nvPr/>
        </p:nvSpPr>
        <p:spPr>
          <a:xfrm>
            <a:off x="777240" y="2752344"/>
            <a:ext cx="566928" cy="566928"/>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checklist_white.png" id="1403" name="Google Shape;1403;p29"/>
          <p:cNvPicPr preferRelativeResize="0"/>
          <p:nvPr/>
        </p:nvPicPr>
        <p:blipFill rotWithShape="1">
          <a:blip r:embed="rId4">
            <a:alphaModFix/>
          </a:blip>
          <a:srcRect b="0" l="0" r="0" t="0"/>
          <a:stretch/>
        </p:blipFill>
        <p:spPr>
          <a:xfrm>
            <a:off x="923544" y="2898648"/>
            <a:ext cx="274320" cy="274320"/>
          </a:xfrm>
          <a:prstGeom prst="rect">
            <a:avLst/>
          </a:prstGeom>
          <a:noFill/>
          <a:ln>
            <a:noFill/>
          </a:ln>
        </p:spPr>
      </p:pic>
      <p:sp>
        <p:nvSpPr>
          <p:cNvPr id="1404" name="Google Shape;1404;p29"/>
          <p:cNvSpPr/>
          <p:nvPr/>
        </p:nvSpPr>
        <p:spPr>
          <a:xfrm>
            <a:off x="1463040" y="2752344"/>
            <a:ext cx="434340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1 · New Campaign</a:t>
            </a:r>
            <a:endParaRPr b="0" i="0" sz="1500" u="none" cap="none" strike="noStrike">
              <a:solidFill>
                <a:schemeClr val="dk1"/>
              </a:solidFill>
              <a:latin typeface="Calibri"/>
              <a:ea typeface="Calibri"/>
              <a:cs typeface="Calibri"/>
              <a:sym typeface="Calibri"/>
            </a:endParaRPr>
          </a:p>
        </p:txBody>
      </p:sp>
      <p:sp>
        <p:nvSpPr>
          <p:cNvPr id="1405" name="Google Shape;1405;p29"/>
          <p:cNvSpPr/>
          <p:nvPr/>
        </p:nvSpPr>
        <p:spPr>
          <a:xfrm>
            <a:off x="813816" y="3355848"/>
            <a:ext cx="4837176" cy="86868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Goal: Leads</a:t>
            </a:r>
            <a:endParaRPr b="0" i="0" sz="1060" u="none" cap="none" strike="noStrike">
              <a:solidFill>
                <a:schemeClr val="dk1"/>
              </a:solidFill>
              <a:latin typeface="Calibri"/>
              <a:ea typeface="Calibri"/>
              <a:cs typeface="Calibri"/>
              <a:sym typeface="Calibri"/>
            </a:endParaRPr>
          </a:p>
          <a:p>
            <a:pPr indent="-152400" lvl="0" marL="152400" marR="0" rtl="0" algn="l">
              <a:lnSpc>
                <a:spcPct val="100000"/>
              </a:lnSpc>
              <a:spcBef>
                <a:spcPts val="25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Type: Search</a:t>
            </a:r>
            <a:endParaRPr b="0" i="0" sz="1060" u="none" cap="none" strike="noStrike">
              <a:solidFill>
                <a:schemeClr val="dk1"/>
              </a:solidFill>
              <a:latin typeface="Calibri"/>
              <a:ea typeface="Calibri"/>
              <a:cs typeface="Calibri"/>
              <a:sym typeface="Calibri"/>
            </a:endParaRPr>
          </a:p>
          <a:p>
            <a:pPr indent="-152400" lvl="0" marL="152400" marR="0" rtl="0" algn="l">
              <a:lnSpc>
                <a:spcPct val="100000"/>
              </a:lnSpc>
              <a:spcBef>
                <a:spcPts val="25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One campaign per device</a:t>
            </a:r>
            <a:endParaRPr b="0" i="0" sz="1060" u="none" cap="none" strike="noStrike">
              <a:solidFill>
                <a:schemeClr val="dk1"/>
              </a:solidFill>
              <a:latin typeface="Calibri"/>
              <a:ea typeface="Calibri"/>
              <a:cs typeface="Calibri"/>
              <a:sym typeface="Calibri"/>
            </a:endParaRPr>
          </a:p>
        </p:txBody>
      </p:sp>
      <p:sp>
        <p:nvSpPr>
          <p:cNvPr id="1406" name="Google Shape;1406;p29"/>
          <p:cNvSpPr/>
          <p:nvPr/>
        </p:nvSpPr>
        <p:spPr>
          <a:xfrm>
            <a:off x="6245350" y="2514600"/>
            <a:ext cx="5440800" cy="1885500"/>
          </a:xfrm>
          <a:prstGeom prst="roundRect">
            <a:avLst>
              <a:gd fmla="val 5128"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29"/>
          <p:cNvSpPr/>
          <p:nvPr/>
        </p:nvSpPr>
        <p:spPr>
          <a:xfrm>
            <a:off x="6519672" y="2752344"/>
            <a:ext cx="566928" cy="566928"/>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ear_white.png" id="1408" name="Google Shape;1408;p29"/>
          <p:cNvPicPr preferRelativeResize="0"/>
          <p:nvPr/>
        </p:nvPicPr>
        <p:blipFill rotWithShape="1">
          <a:blip r:embed="rId5">
            <a:alphaModFix/>
          </a:blip>
          <a:srcRect b="0" l="0" r="0" t="0"/>
          <a:stretch/>
        </p:blipFill>
        <p:spPr>
          <a:xfrm>
            <a:off x="6665976" y="2898648"/>
            <a:ext cx="274320" cy="274320"/>
          </a:xfrm>
          <a:prstGeom prst="rect">
            <a:avLst/>
          </a:prstGeom>
          <a:noFill/>
          <a:ln>
            <a:noFill/>
          </a:ln>
        </p:spPr>
      </p:pic>
      <p:sp>
        <p:nvSpPr>
          <p:cNvPr id="1409" name="Google Shape;1409;p29"/>
          <p:cNvSpPr/>
          <p:nvPr/>
        </p:nvSpPr>
        <p:spPr>
          <a:xfrm>
            <a:off x="7205472" y="2752344"/>
            <a:ext cx="434340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2 · Campaign Settings</a:t>
            </a:r>
            <a:endParaRPr b="0" i="0" sz="1500" u="none" cap="none" strike="noStrike">
              <a:solidFill>
                <a:schemeClr val="dk1"/>
              </a:solidFill>
              <a:latin typeface="Calibri"/>
              <a:ea typeface="Calibri"/>
              <a:cs typeface="Calibri"/>
              <a:sym typeface="Calibri"/>
            </a:endParaRPr>
          </a:p>
        </p:txBody>
      </p:sp>
      <p:sp>
        <p:nvSpPr>
          <p:cNvPr id="1410" name="Google Shape;1410;p29"/>
          <p:cNvSpPr/>
          <p:nvPr/>
        </p:nvSpPr>
        <p:spPr>
          <a:xfrm>
            <a:off x="6556248" y="3355848"/>
            <a:ext cx="4837176" cy="86868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Networks: uncheck Display &amp; Search partners</a:t>
            </a:r>
            <a:endParaRPr b="0" i="0" sz="1060" u="none" cap="none" strike="noStrike">
              <a:solidFill>
                <a:schemeClr val="dk1"/>
              </a:solidFill>
              <a:latin typeface="Calibri"/>
              <a:ea typeface="Calibri"/>
              <a:cs typeface="Calibri"/>
              <a:sym typeface="Calibri"/>
            </a:endParaRPr>
          </a:p>
          <a:p>
            <a:pPr indent="-152400" lvl="0" marL="152400" marR="0" rtl="0" algn="l">
              <a:lnSpc>
                <a:spcPct val="100000"/>
              </a:lnSpc>
              <a:spcBef>
                <a:spcPts val="25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Location: Central London + 5 mi</a:t>
            </a:r>
            <a:endParaRPr b="0" i="0" sz="1060" u="none" cap="none" strike="noStrike">
              <a:solidFill>
                <a:schemeClr val="dk1"/>
              </a:solidFill>
              <a:latin typeface="Calibri"/>
              <a:ea typeface="Calibri"/>
              <a:cs typeface="Calibri"/>
              <a:sym typeface="Calibri"/>
            </a:endParaRPr>
          </a:p>
          <a:p>
            <a:pPr indent="-152400" lvl="0" marL="152400" marR="0" rtl="0" algn="l">
              <a:lnSpc>
                <a:spcPct val="100000"/>
              </a:lnSpc>
              <a:spcBef>
                <a:spcPts val="25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Presence: people in / regularly in location</a:t>
            </a:r>
            <a:endParaRPr b="0" i="0" sz="1060" u="none" cap="none" strike="noStrike">
              <a:solidFill>
                <a:schemeClr val="dk1"/>
              </a:solidFill>
              <a:latin typeface="Calibri"/>
              <a:ea typeface="Calibri"/>
              <a:cs typeface="Calibri"/>
              <a:sym typeface="Calibri"/>
            </a:endParaRPr>
          </a:p>
          <a:p>
            <a:pPr indent="-152400" lvl="0" marL="152400" marR="0" rtl="0" algn="l">
              <a:lnSpc>
                <a:spcPct val="100000"/>
              </a:lnSpc>
              <a:spcBef>
                <a:spcPts val="25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Language: English · Budget: £40 and £20/day</a:t>
            </a:r>
            <a:endParaRPr b="0" i="0" sz="1060" u="none" cap="none" strike="noStrike">
              <a:solidFill>
                <a:schemeClr val="dk1"/>
              </a:solidFill>
              <a:latin typeface="Calibri"/>
              <a:ea typeface="Calibri"/>
              <a:cs typeface="Calibri"/>
              <a:sym typeface="Calibri"/>
            </a:endParaRPr>
          </a:p>
          <a:p>
            <a:pPr indent="-152400" lvl="0" marL="152400" marR="0" rtl="0" algn="l">
              <a:lnSpc>
                <a:spcPct val="100000"/>
              </a:lnSpc>
              <a:spcBef>
                <a:spcPts val="25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AI Max OFF · Bidding: Maximise Conversions</a:t>
            </a:r>
            <a:endParaRPr b="0" i="0" sz="1060" u="none" cap="none" strike="noStrike">
              <a:solidFill>
                <a:schemeClr val="dk1"/>
              </a:solidFill>
              <a:latin typeface="Calibri"/>
              <a:ea typeface="Calibri"/>
              <a:cs typeface="Calibri"/>
              <a:sym typeface="Calibri"/>
            </a:endParaRPr>
          </a:p>
        </p:txBody>
      </p:sp>
      <p:sp>
        <p:nvSpPr>
          <p:cNvPr id="1411" name="Google Shape;1411;p29"/>
          <p:cNvSpPr/>
          <p:nvPr/>
        </p:nvSpPr>
        <p:spPr>
          <a:xfrm>
            <a:off x="502920" y="4498848"/>
            <a:ext cx="5440680" cy="1783080"/>
          </a:xfrm>
          <a:prstGeom prst="roundRect">
            <a:avLst>
              <a:gd fmla="val 5128"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29"/>
          <p:cNvSpPr/>
          <p:nvPr/>
        </p:nvSpPr>
        <p:spPr>
          <a:xfrm>
            <a:off x="777240" y="4736592"/>
            <a:ext cx="566928" cy="566928"/>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key_white.png" id="1413" name="Google Shape;1413;p29"/>
          <p:cNvPicPr preferRelativeResize="0"/>
          <p:nvPr/>
        </p:nvPicPr>
        <p:blipFill rotWithShape="1">
          <a:blip r:embed="rId6">
            <a:alphaModFix/>
          </a:blip>
          <a:srcRect b="0" l="0" r="0" t="0"/>
          <a:stretch/>
        </p:blipFill>
        <p:spPr>
          <a:xfrm>
            <a:off x="923544" y="4882896"/>
            <a:ext cx="274320" cy="274320"/>
          </a:xfrm>
          <a:prstGeom prst="rect">
            <a:avLst/>
          </a:prstGeom>
          <a:noFill/>
          <a:ln>
            <a:noFill/>
          </a:ln>
        </p:spPr>
      </p:pic>
      <p:sp>
        <p:nvSpPr>
          <p:cNvPr id="1414" name="Google Shape;1414;p29"/>
          <p:cNvSpPr/>
          <p:nvPr/>
        </p:nvSpPr>
        <p:spPr>
          <a:xfrm>
            <a:off x="1463040" y="4736592"/>
            <a:ext cx="434340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3 · Ad Groups &amp; Keywords</a:t>
            </a:r>
            <a:endParaRPr b="0" i="0" sz="1500" u="none" cap="none" strike="noStrike">
              <a:solidFill>
                <a:schemeClr val="dk1"/>
              </a:solidFill>
              <a:latin typeface="Calibri"/>
              <a:ea typeface="Calibri"/>
              <a:cs typeface="Calibri"/>
              <a:sym typeface="Calibri"/>
            </a:endParaRPr>
          </a:p>
        </p:txBody>
      </p:sp>
      <p:sp>
        <p:nvSpPr>
          <p:cNvPr id="1415" name="Google Shape;1415;p29"/>
          <p:cNvSpPr/>
          <p:nvPr/>
        </p:nvSpPr>
        <p:spPr>
          <a:xfrm>
            <a:off x="813816" y="5340096"/>
            <a:ext cx="4837176" cy="86868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Match types: Phrase and Exact</a:t>
            </a:r>
            <a:endParaRPr b="0" i="0" sz="1060" u="none" cap="none" strike="noStrike">
              <a:solidFill>
                <a:schemeClr val="dk1"/>
              </a:solidFill>
              <a:latin typeface="Calibri"/>
              <a:ea typeface="Calibri"/>
              <a:cs typeface="Calibri"/>
              <a:sym typeface="Calibri"/>
            </a:endParaRPr>
          </a:p>
          <a:p>
            <a:pPr indent="-152400" lvl="0" marL="152400" marR="0" rtl="0" algn="l">
              <a:lnSpc>
                <a:spcPct val="100000"/>
              </a:lnSpc>
              <a:spcBef>
                <a:spcPts val="25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7 groups EmBody · 6 groups EmFace</a:t>
            </a:r>
            <a:endParaRPr b="0" i="0" sz="1060" u="none" cap="none" strike="noStrike">
              <a:solidFill>
                <a:schemeClr val="dk1"/>
              </a:solidFill>
              <a:latin typeface="Calibri"/>
              <a:ea typeface="Calibri"/>
              <a:cs typeface="Calibri"/>
              <a:sym typeface="Calibri"/>
            </a:endParaRPr>
          </a:p>
          <a:p>
            <a:pPr indent="-152400" lvl="0" marL="152400" marR="0" rtl="0" algn="l">
              <a:lnSpc>
                <a:spcPct val="100000"/>
              </a:lnSpc>
              <a:spcBef>
                <a:spcPts val="25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Apply per-campaign negative lists</a:t>
            </a:r>
            <a:endParaRPr b="0" i="0" sz="1060" u="none" cap="none" strike="noStrike">
              <a:solidFill>
                <a:schemeClr val="dk1"/>
              </a:solidFill>
              <a:latin typeface="Calibri"/>
              <a:ea typeface="Calibri"/>
              <a:cs typeface="Calibri"/>
              <a:sym typeface="Calibri"/>
            </a:endParaRPr>
          </a:p>
        </p:txBody>
      </p:sp>
      <p:sp>
        <p:nvSpPr>
          <p:cNvPr id="1416" name="Google Shape;1416;p29"/>
          <p:cNvSpPr/>
          <p:nvPr/>
        </p:nvSpPr>
        <p:spPr>
          <a:xfrm>
            <a:off x="6245352" y="4498848"/>
            <a:ext cx="5440680" cy="1783080"/>
          </a:xfrm>
          <a:prstGeom prst="roundRect">
            <a:avLst>
              <a:gd fmla="val 5128"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29"/>
          <p:cNvSpPr/>
          <p:nvPr/>
        </p:nvSpPr>
        <p:spPr>
          <a:xfrm>
            <a:off x="6519672" y="4736592"/>
            <a:ext cx="566928" cy="566928"/>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puzzle_white.png" id="1418" name="Google Shape;1418;p29"/>
          <p:cNvPicPr preferRelativeResize="0"/>
          <p:nvPr/>
        </p:nvPicPr>
        <p:blipFill rotWithShape="1">
          <a:blip r:embed="rId7">
            <a:alphaModFix/>
          </a:blip>
          <a:srcRect b="0" l="0" r="0" t="0"/>
          <a:stretch/>
        </p:blipFill>
        <p:spPr>
          <a:xfrm>
            <a:off x="6665976" y="4882896"/>
            <a:ext cx="274320" cy="274320"/>
          </a:xfrm>
          <a:prstGeom prst="rect">
            <a:avLst/>
          </a:prstGeom>
          <a:noFill/>
          <a:ln>
            <a:noFill/>
          </a:ln>
        </p:spPr>
      </p:pic>
      <p:sp>
        <p:nvSpPr>
          <p:cNvPr id="1419" name="Google Shape;1419;p29"/>
          <p:cNvSpPr/>
          <p:nvPr/>
        </p:nvSpPr>
        <p:spPr>
          <a:xfrm>
            <a:off x="7205472" y="4736592"/>
            <a:ext cx="434340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500"/>
              <a:buFont typeface="Poppins"/>
              <a:buNone/>
            </a:pPr>
            <a:r>
              <a:rPr b="1" i="0" lang="en-US" sz="1500" u="none" cap="none" strike="noStrike">
                <a:solidFill>
                  <a:srgbClr val="2B2E2C"/>
                </a:solidFill>
                <a:latin typeface="Poppins"/>
                <a:ea typeface="Poppins"/>
                <a:cs typeface="Poppins"/>
                <a:sym typeface="Poppins"/>
              </a:rPr>
              <a:t>4 · Ad Extensions &amp; Devices</a:t>
            </a:r>
            <a:endParaRPr b="0" i="0" sz="1500" u="none" cap="none" strike="noStrike">
              <a:solidFill>
                <a:schemeClr val="dk1"/>
              </a:solidFill>
              <a:latin typeface="Calibri"/>
              <a:ea typeface="Calibri"/>
              <a:cs typeface="Calibri"/>
              <a:sym typeface="Calibri"/>
            </a:endParaRPr>
          </a:p>
        </p:txBody>
      </p:sp>
      <p:sp>
        <p:nvSpPr>
          <p:cNvPr id="1420" name="Google Shape;1420;p29"/>
          <p:cNvSpPr/>
          <p:nvPr/>
        </p:nvSpPr>
        <p:spPr>
          <a:xfrm>
            <a:off x="6556248" y="5340096"/>
            <a:ext cx="4837176" cy="868680"/>
          </a:xfrm>
          <a:prstGeom prst="rect">
            <a:avLst/>
          </a:prstGeom>
          <a:noFill/>
          <a:ln>
            <a:noFill/>
          </a:ln>
        </p:spPr>
        <p:txBody>
          <a:bodyPr anchorCtr="0" anchor="t" bIns="45700" lIns="91425" spcFirstLastPara="1" rIns="91425" wrap="square" tIns="45700">
            <a:noAutofit/>
          </a:bodyPr>
          <a:lstStyle/>
          <a:p>
            <a:pPr indent="-152400" lvl="0" marL="152400" marR="0" rtl="0" algn="l">
              <a:lnSpc>
                <a:spcPct val="100000"/>
              </a:lnSpc>
              <a:spcBef>
                <a:spcPts val="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Sitelinks · Callouts · Structured snippets</a:t>
            </a:r>
            <a:endParaRPr b="0" i="0" sz="1060" u="none" cap="none" strike="noStrike">
              <a:solidFill>
                <a:schemeClr val="dk1"/>
              </a:solidFill>
              <a:latin typeface="Calibri"/>
              <a:ea typeface="Calibri"/>
              <a:cs typeface="Calibri"/>
              <a:sym typeface="Calibri"/>
            </a:endParaRPr>
          </a:p>
          <a:p>
            <a:pPr indent="-152400" lvl="0" marL="152400" marR="0" rtl="0" algn="l">
              <a:lnSpc>
                <a:spcPct val="100000"/>
              </a:lnSpc>
              <a:spcBef>
                <a:spcPts val="25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Call extension (020 7183 5892)</a:t>
            </a:r>
            <a:endParaRPr b="0" i="0" sz="1060" u="none" cap="none" strike="noStrike">
              <a:solidFill>
                <a:schemeClr val="dk1"/>
              </a:solidFill>
              <a:latin typeface="Calibri"/>
              <a:ea typeface="Calibri"/>
              <a:cs typeface="Calibri"/>
              <a:sym typeface="Calibri"/>
            </a:endParaRPr>
          </a:p>
          <a:p>
            <a:pPr indent="-152400" lvl="0" marL="152400" marR="0" rtl="0" algn="l">
              <a:lnSpc>
                <a:spcPct val="100000"/>
              </a:lnSpc>
              <a:spcBef>
                <a:spcPts val="25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Logo · Business name: London Real Skin</a:t>
            </a:r>
            <a:endParaRPr b="0" i="0" sz="1060" u="none" cap="none" strike="noStrike">
              <a:solidFill>
                <a:schemeClr val="dk1"/>
              </a:solidFill>
              <a:latin typeface="Calibri"/>
              <a:ea typeface="Calibri"/>
              <a:cs typeface="Calibri"/>
              <a:sym typeface="Calibri"/>
            </a:endParaRPr>
          </a:p>
          <a:p>
            <a:pPr indent="-152400" lvl="0" marL="152400" marR="0" rtl="0" algn="l">
              <a:lnSpc>
                <a:spcPct val="100000"/>
              </a:lnSpc>
              <a:spcBef>
                <a:spcPts val="250"/>
              </a:spcBef>
              <a:spcAft>
                <a:spcPts val="0"/>
              </a:spcAft>
              <a:buClr>
                <a:srgbClr val="2B2E2C"/>
              </a:buClr>
              <a:buSzPts val="1060"/>
              <a:buFont typeface="Calibri"/>
              <a:buChar char="✓"/>
            </a:pPr>
            <a:r>
              <a:rPr b="0" i="0" lang="en-US" sz="1060" u="none" cap="none" strike="noStrike">
                <a:solidFill>
                  <a:srgbClr val="2B2E2C"/>
                </a:solidFill>
                <a:latin typeface="Calibri"/>
                <a:ea typeface="Calibri"/>
                <a:cs typeface="Calibri"/>
                <a:sym typeface="Calibri"/>
              </a:rPr>
              <a:t>Target device: All — optimise once data lands</a:t>
            </a:r>
            <a:endParaRPr b="0" i="0" sz="1060" u="none" cap="none" strike="noStrike">
              <a:solidFill>
                <a:schemeClr val="dk1"/>
              </a:solidFill>
              <a:latin typeface="Calibri"/>
              <a:ea typeface="Calibri"/>
              <a:cs typeface="Calibri"/>
              <a:sym typeface="Calibri"/>
            </a:endParaRPr>
          </a:p>
        </p:txBody>
      </p:sp>
      <p:sp>
        <p:nvSpPr>
          <p:cNvPr id="1421" name="Google Shape;1421;p29"/>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422" name="Google Shape;1422;p29"/>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29</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7" name="Shape 1427"/>
        <p:cNvGrpSpPr/>
        <p:nvPr/>
      </p:nvGrpSpPr>
      <p:grpSpPr>
        <a:xfrm>
          <a:off x="0" y="0"/>
          <a:ext cx="0" cy="0"/>
          <a:chOff x="0" y="0"/>
          <a:chExt cx="0" cy="0"/>
        </a:xfrm>
      </p:grpSpPr>
      <p:pic>
        <p:nvPicPr>
          <p:cNvPr descr="unpacked/ppt/media/image11.png" id="1428" name="Google Shape;1428;p30"/>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429" name="Google Shape;1429;p30"/>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Extensions</a:t>
            </a:r>
            <a:endParaRPr b="0" i="0" sz="1500" u="none" cap="none" strike="noStrike">
              <a:solidFill>
                <a:schemeClr val="dk1"/>
              </a:solidFill>
              <a:latin typeface="Calibri"/>
              <a:ea typeface="Calibri"/>
              <a:cs typeface="Calibri"/>
              <a:sym typeface="Calibri"/>
            </a:endParaRPr>
          </a:p>
        </p:txBody>
      </p:sp>
      <p:sp>
        <p:nvSpPr>
          <p:cNvPr id="1430" name="Google Shape;1430;p30"/>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ASSETS &amp; SETUP</a:t>
            </a:r>
            <a:endParaRPr b="0" i="0" sz="1250" u="none" cap="none" strike="noStrike">
              <a:solidFill>
                <a:schemeClr val="dk1"/>
              </a:solidFill>
              <a:latin typeface="Calibri"/>
              <a:ea typeface="Calibri"/>
              <a:cs typeface="Calibri"/>
              <a:sym typeface="Calibri"/>
            </a:endParaRPr>
          </a:p>
        </p:txBody>
      </p:sp>
      <p:sp>
        <p:nvSpPr>
          <p:cNvPr id="1431" name="Google Shape;1431;p30"/>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Ad Extensions &amp; Devices</a:t>
            </a:r>
            <a:endParaRPr b="0" i="0" sz="3300" u="none" cap="none" strike="noStrike">
              <a:solidFill>
                <a:schemeClr val="dk1"/>
              </a:solidFill>
              <a:latin typeface="Calibri"/>
              <a:ea typeface="Calibri"/>
              <a:cs typeface="Calibri"/>
              <a:sym typeface="Calibri"/>
            </a:endParaRPr>
          </a:p>
        </p:txBody>
      </p:sp>
      <p:sp>
        <p:nvSpPr>
          <p:cNvPr id="1432" name="Google Shape;1432;p30"/>
          <p:cNvSpPr/>
          <p:nvPr/>
        </p:nvSpPr>
        <p:spPr>
          <a:xfrm>
            <a:off x="502920" y="1993392"/>
            <a:ext cx="1115568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Ad assets expand ads with extra links, info and calls to action — lifting CTR and Ad Rank at no extra cost. Add every relevant asset at campaign level, per device.</a:t>
            </a:r>
            <a:endParaRPr b="0" i="0" sz="1350" u="none" cap="none" strike="noStrike">
              <a:solidFill>
                <a:schemeClr val="dk1"/>
              </a:solidFill>
              <a:latin typeface="Calibri"/>
              <a:ea typeface="Calibri"/>
              <a:cs typeface="Calibri"/>
              <a:sym typeface="Calibri"/>
            </a:endParaRPr>
          </a:p>
        </p:txBody>
      </p:sp>
      <p:sp>
        <p:nvSpPr>
          <p:cNvPr id="1433" name="Google Shape;1433;p30"/>
          <p:cNvSpPr/>
          <p:nvPr/>
        </p:nvSpPr>
        <p:spPr>
          <a:xfrm>
            <a:off x="502920" y="2542032"/>
            <a:ext cx="3584448" cy="1700784"/>
          </a:xfrm>
          <a:prstGeom prst="roundRect">
            <a:avLst>
              <a:gd fmla="val 5376"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30"/>
          <p:cNvSpPr/>
          <p:nvPr/>
        </p:nvSpPr>
        <p:spPr>
          <a:xfrm>
            <a:off x="740664" y="2761488"/>
            <a:ext cx="512064" cy="512064"/>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link_white.png" id="1435" name="Google Shape;1435;p30"/>
          <p:cNvPicPr preferRelativeResize="0"/>
          <p:nvPr/>
        </p:nvPicPr>
        <p:blipFill rotWithShape="1">
          <a:blip r:embed="rId4">
            <a:alphaModFix/>
          </a:blip>
          <a:srcRect b="0" l="0" r="0" t="0"/>
          <a:stretch/>
        </p:blipFill>
        <p:spPr>
          <a:xfrm>
            <a:off x="868680" y="2889504"/>
            <a:ext cx="256032" cy="256032"/>
          </a:xfrm>
          <a:prstGeom prst="rect">
            <a:avLst/>
          </a:prstGeom>
          <a:noFill/>
          <a:ln>
            <a:noFill/>
          </a:ln>
        </p:spPr>
      </p:pic>
      <p:sp>
        <p:nvSpPr>
          <p:cNvPr id="1436" name="Google Shape;1436;p30"/>
          <p:cNvSpPr/>
          <p:nvPr/>
        </p:nvSpPr>
        <p:spPr>
          <a:xfrm>
            <a:off x="1344168" y="2761488"/>
            <a:ext cx="2670048" cy="5120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400"/>
              <a:buFont typeface="Poppins"/>
              <a:buNone/>
            </a:pPr>
            <a:r>
              <a:rPr b="1" i="0" lang="en-US" sz="1400" u="none" cap="none" strike="noStrike">
                <a:solidFill>
                  <a:srgbClr val="2B2E2C"/>
                </a:solidFill>
                <a:latin typeface="Poppins"/>
                <a:ea typeface="Poppins"/>
                <a:cs typeface="Poppins"/>
                <a:sym typeface="Poppins"/>
              </a:rPr>
              <a:t>Sitelinks</a:t>
            </a:r>
            <a:endParaRPr b="0" i="0" sz="1400" u="none" cap="none" strike="noStrike">
              <a:solidFill>
                <a:schemeClr val="dk1"/>
              </a:solidFill>
              <a:latin typeface="Calibri"/>
              <a:ea typeface="Calibri"/>
              <a:cs typeface="Calibri"/>
              <a:sym typeface="Calibri"/>
            </a:endParaRPr>
          </a:p>
        </p:txBody>
      </p:sp>
      <p:sp>
        <p:nvSpPr>
          <p:cNvPr id="1437" name="Google Shape;1437;p30"/>
          <p:cNvSpPr/>
          <p:nvPr/>
        </p:nvSpPr>
        <p:spPr>
          <a:xfrm>
            <a:off x="777240" y="3310128"/>
            <a:ext cx="3054096" cy="859536"/>
          </a:xfrm>
          <a:prstGeom prst="rect">
            <a:avLst/>
          </a:prstGeom>
          <a:noFill/>
          <a:ln>
            <a:noFill/>
          </a:ln>
        </p:spPr>
        <p:txBody>
          <a:bodyPr anchorCtr="0" anchor="t" bIns="45700" lIns="91425" spcFirstLastPara="1" rIns="91425" wrap="square" tIns="45700">
            <a:noAutofit/>
          </a:bodyPr>
          <a:lstStyle/>
          <a:p>
            <a:pPr indent="-127000" lvl="0" marL="127000" marR="0" rtl="0" algn="l">
              <a:lnSpc>
                <a:spcPct val="100000"/>
              </a:lnSpc>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EMSCULPT NEO · EmFace</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Prices &amp; Packages</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Monthly Payment Options</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About the Clinic</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Book a Free Consultation</a:t>
            </a:r>
            <a:endParaRPr b="0" i="0" sz="950" u="none" cap="none" strike="noStrike">
              <a:solidFill>
                <a:schemeClr val="dk1"/>
              </a:solidFill>
              <a:latin typeface="Calibri"/>
              <a:ea typeface="Calibri"/>
              <a:cs typeface="Calibri"/>
              <a:sym typeface="Calibri"/>
            </a:endParaRPr>
          </a:p>
        </p:txBody>
      </p:sp>
      <p:sp>
        <p:nvSpPr>
          <p:cNvPr id="1438" name="Google Shape;1438;p30"/>
          <p:cNvSpPr/>
          <p:nvPr/>
        </p:nvSpPr>
        <p:spPr>
          <a:xfrm>
            <a:off x="4224528" y="2542032"/>
            <a:ext cx="3584448" cy="1700784"/>
          </a:xfrm>
          <a:prstGeom prst="roundRect">
            <a:avLst>
              <a:gd fmla="val 5376"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30"/>
          <p:cNvSpPr/>
          <p:nvPr/>
        </p:nvSpPr>
        <p:spPr>
          <a:xfrm>
            <a:off x="4462272" y="2761488"/>
            <a:ext cx="512064" cy="512064"/>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bullhorn_white.png" id="1440" name="Google Shape;1440;p30"/>
          <p:cNvPicPr preferRelativeResize="0"/>
          <p:nvPr/>
        </p:nvPicPr>
        <p:blipFill rotWithShape="1">
          <a:blip r:embed="rId5">
            <a:alphaModFix/>
          </a:blip>
          <a:srcRect b="0" l="0" r="0" t="0"/>
          <a:stretch/>
        </p:blipFill>
        <p:spPr>
          <a:xfrm>
            <a:off x="4590288" y="2889504"/>
            <a:ext cx="256032" cy="256032"/>
          </a:xfrm>
          <a:prstGeom prst="rect">
            <a:avLst/>
          </a:prstGeom>
          <a:noFill/>
          <a:ln>
            <a:noFill/>
          </a:ln>
        </p:spPr>
      </p:pic>
      <p:sp>
        <p:nvSpPr>
          <p:cNvPr id="1441" name="Google Shape;1441;p30"/>
          <p:cNvSpPr/>
          <p:nvPr/>
        </p:nvSpPr>
        <p:spPr>
          <a:xfrm>
            <a:off x="5065776" y="2761488"/>
            <a:ext cx="2670048" cy="5120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400"/>
              <a:buFont typeface="Poppins"/>
              <a:buNone/>
            </a:pPr>
            <a:r>
              <a:rPr b="1" i="0" lang="en-US" sz="1400" u="none" cap="none" strike="noStrike">
                <a:solidFill>
                  <a:srgbClr val="2B2E2C"/>
                </a:solidFill>
                <a:latin typeface="Poppins"/>
                <a:ea typeface="Poppins"/>
                <a:cs typeface="Poppins"/>
                <a:sym typeface="Poppins"/>
              </a:rPr>
              <a:t>Callouts</a:t>
            </a:r>
            <a:endParaRPr b="0" i="0" sz="1400" u="none" cap="none" strike="noStrike">
              <a:solidFill>
                <a:schemeClr val="dk1"/>
              </a:solidFill>
              <a:latin typeface="Calibri"/>
              <a:ea typeface="Calibri"/>
              <a:cs typeface="Calibri"/>
              <a:sym typeface="Calibri"/>
            </a:endParaRPr>
          </a:p>
        </p:txBody>
      </p:sp>
      <p:sp>
        <p:nvSpPr>
          <p:cNvPr id="1442" name="Google Shape;1442;p30"/>
          <p:cNvSpPr/>
          <p:nvPr/>
        </p:nvSpPr>
        <p:spPr>
          <a:xfrm>
            <a:off x="4498848" y="3310128"/>
            <a:ext cx="3054096" cy="859536"/>
          </a:xfrm>
          <a:prstGeom prst="rect">
            <a:avLst/>
          </a:prstGeom>
          <a:noFill/>
          <a:ln>
            <a:noFill/>
          </a:ln>
        </p:spPr>
        <p:txBody>
          <a:bodyPr anchorCtr="0" anchor="t" bIns="45700" lIns="91425" spcFirstLastPara="1" rIns="91425" wrap="square" tIns="45700">
            <a:noAutofit/>
          </a:bodyPr>
          <a:lstStyle/>
          <a:p>
            <a:pPr indent="-127000" lvl="0" marL="127000" marR="0" rtl="0" algn="l">
              <a:lnSpc>
                <a:spcPct val="100000"/>
              </a:lnSpc>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Dermatology-led clinic</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CQC-regulated</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No surgery, no downtime</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30-minute sessions</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Monthly payment options</a:t>
            </a:r>
            <a:endParaRPr b="0" i="0" sz="950" u="none" cap="none" strike="noStrike">
              <a:solidFill>
                <a:schemeClr val="dk1"/>
              </a:solidFill>
              <a:latin typeface="Calibri"/>
              <a:ea typeface="Calibri"/>
              <a:cs typeface="Calibri"/>
              <a:sym typeface="Calibri"/>
            </a:endParaRPr>
          </a:p>
        </p:txBody>
      </p:sp>
      <p:sp>
        <p:nvSpPr>
          <p:cNvPr id="1443" name="Google Shape;1443;p30"/>
          <p:cNvSpPr/>
          <p:nvPr/>
        </p:nvSpPr>
        <p:spPr>
          <a:xfrm>
            <a:off x="7946136" y="2542032"/>
            <a:ext cx="3584448" cy="1700784"/>
          </a:xfrm>
          <a:prstGeom prst="roundRect">
            <a:avLst>
              <a:gd fmla="val 5376"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p30"/>
          <p:cNvSpPr/>
          <p:nvPr/>
        </p:nvSpPr>
        <p:spPr>
          <a:xfrm>
            <a:off x="8183880" y="2761488"/>
            <a:ext cx="512064" cy="512064"/>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phone_white.png" id="1445" name="Google Shape;1445;p30"/>
          <p:cNvPicPr preferRelativeResize="0"/>
          <p:nvPr/>
        </p:nvPicPr>
        <p:blipFill rotWithShape="1">
          <a:blip r:embed="rId6">
            <a:alphaModFix/>
          </a:blip>
          <a:srcRect b="0" l="0" r="0" t="0"/>
          <a:stretch/>
        </p:blipFill>
        <p:spPr>
          <a:xfrm>
            <a:off x="8311896" y="2889504"/>
            <a:ext cx="256032" cy="256032"/>
          </a:xfrm>
          <a:prstGeom prst="rect">
            <a:avLst/>
          </a:prstGeom>
          <a:noFill/>
          <a:ln>
            <a:noFill/>
          </a:ln>
        </p:spPr>
      </p:pic>
      <p:sp>
        <p:nvSpPr>
          <p:cNvPr id="1446" name="Google Shape;1446;p30"/>
          <p:cNvSpPr/>
          <p:nvPr/>
        </p:nvSpPr>
        <p:spPr>
          <a:xfrm>
            <a:off x="8787384" y="2761488"/>
            <a:ext cx="2670048" cy="5120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400"/>
              <a:buFont typeface="Poppins"/>
              <a:buNone/>
            </a:pPr>
            <a:r>
              <a:rPr b="1" i="0" lang="en-US" sz="1400" u="none" cap="none" strike="noStrike">
                <a:solidFill>
                  <a:srgbClr val="2B2E2C"/>
                </a:solidFill>
                <a:latin typeface="Poppins"/>
                <a:ea typeface="Poppins"/>
                <a:cs typeface="Poppins"/>
                <a:sym typeface="Poppins"/>
              </a:rPr>
              <a:t>Call Extension</a:t>
            </a:r>
            <a:endParaRPr b="0" i="0" sz="1400" u="none" cap="none" strike="noStrike">
              <a:solidFill>
                <a:schemeClr val="dk1"/>
              </a:solidFill>
              <a:latin typeface="Calibri"/>
              <a:ea typeface="Calibri"/>
              <a:cs typeface="Calibri"/>
              <a:sym typeface="Calibri"/>
            </a:endParaRPr>
          </a:p>
        </p:txBody>
      </p:sp>
      <p:sp>
        <p:nvSpPr>
          <p:cNvPr id="1447" name="Google Shape;1447;p30"/>
          <p:cNvSpPr/>
          <p:nvPr/>
        </p:nvSpPr>
        <p:spPr>
          <a:xfrm>
            <a:off x="8220456" y="3310128"/>
            <a:ext cx="3054096" cy="859536"/>
          </a:xfrm>
          <a:prstGeom prst="rect">
            <a:avLst/>
          </a:prstGeom>
          <a:noFill/>
          <a:ln>
            <a:noFill/>
          </a:ln>
        </p:spPr>
        <p:txBody>
          <a:bodyPr anchorCtr="0" anchor="t" bIns="45700" lIns="91425" spcFirstLastPara="1" rIns="91425" wrap="square" tIns="45700">
            <a:noAutofit/>
          </a:bodyPr>
          <a:lstStyle/>
          <a:p>
            <a:pPr indent="-127000" lvl="0" marL="127000" marR="0" rtl="0" algn="l">
              <a:lnSpc>
                <a:spcPct val="100000"/>
              </a:lnSpc>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Add 020 7183 5892</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Turn on call reporting</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Schedule to clinic hours</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Click-to-call on mobile</a:t>
            </a:r>
            <a:endParaRPr b="0" i="0" sz="950" u="none" cap="none" strike="noStrike">
              <a:solidFill>
                <a:schemeClr val="dk1"/>
              </a:solidFill>
              <a:latin typeface="Calibri"/>
              <a:ea typeface="Calibri"/>
              <a:cs typeface="Calibri"/>
              <a:sym typeface="Calibri"/>
            </a:endParaRPr>
          </a:p>
        </p:txBody>
      </p:sp>
      <p:sp>
        <p:nvSpPr>
          <p:cNvPr id="1448" name="Google Shape;1448;p30"/>
          <p:cNvSpPr/>
          <p:nvPr/>
        </p:nvSpPr>
        <p:spPr>
          <a:xfrm>
            <a:off x="502920" y="4370832"/>
            <a:ext cx="3584448" cy="1700784"/>
          </a:xfrm>
          <a:prstGeom prst="roundRect">
            <a:avLst>
              <a:gd fmla="val 5376"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30"/>
          <p:cNvSpPr/>
          <p:nvPr/>
        </p:nvSpPr>
        <p:spPr>
          <a:xfrm>
            <a:off x="740664" y="4590288"/>
            <a:ext cx="512064" cy="512064"/>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list_white.png" id="1450" name="Google Shape;1450;p30"/>
          <p:cNvPicPr preferRelativeResize="0"/>
          <p:nvPr/>
        </p:nvPicPr>
        <p:blipFill rotWithShape="1">
          <a:blip r:embed="rId7">
            <a:alphaModFix/>
          </a:blip>
          <a:srcRect b="0" l="0" r="0" t="0"/>
          <a:stretch/>
        </p:blipFill>
        <p:spPr>
          <a:xfrm>
            <a:off x="868680" y="4718304"/>
            <a:ext cx="256032" cy="256032"/>
          </a:xfrm>
          <a:prstGeom prst="rect">
            <a:avLst/>
          </a:prstGeom>
          <a:noFill/>
          <a:ln>
            <a:noFill/>
          </a:ln>
        </p:spPr>
      </p:pic>
      <p:sp>
        <p:nvSpPr>
          <p:cNvPr id="1451" name="Google Shape;1451;p30"/>
          <p:cNvSpPr/>
          <p:nvPr/>
        </p:nvSpPr>
        <p:spPr>
          <a:xfrm>
            <a:off x="1344168" y="4590288"/>
            <a:ext cx="2670048" cy="5120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400"/>
              <a:buFont typeface="Poppins"/>
              <a:buNone/>
            </a:pPr>
            <a:r>
              <a:rPr b="1" i="0" lang="en-US" sz="1400" u="none" cap="none" strike="noStrike">
                <a:solidFill>
                  <a:srgbClr val="2B2E2C"/>
                </a:solidFill>
                <a:latin typeface="Poppins"/>
                <a:ea typeface="Poppins"/>
                <a:cs typeface="Poppins"/>
                <a:sym typeface="Poppins"/>
              </a:rPr>
              <a:t>Structured Snippets</a:t>
            </a:r>
            <a:endParaRPr b="0" i="0" sz="1400" u="none" cap="none" strike="noStrike">
              <a:solidFill>
                <a:schemeClr val="dk1"/>
              </a:solidFill>
              <a:latin typeface="Calibri"/>
              <a:ea typeface="Calibri"/>
              <a:cs typeface="Calibri"/>
              <a:sym typeface="Calibri"/>
            </a:endParaRPr>
          </a:p>
        </p:txBody>
      </p:sp>
      <p:sp>
        <p:nvSpPr>
          <p:cNvPr id="1452" name="Google Shape;1452;p30"/>
          <p:cNvSpPr/>
          <p:nvPr/>
        </p:nvSpPr>
        <p:spPr>
          <a:xfrm>
            <a:off x="777240" y="5138928"/>
            <a:ext cx="3054096" cy="859536"/>
          </a:xfrm>
          <a:prstGeom prst="rect">
            <a:avLst/>
          </a:prstGeom>
          <a:noFill/>
          <a:ln>
            <a:noFill/>
          </a:ln>
        </p:spPr>
        <p:txBody>
          <a:bodyPr anchorCtr="0" anchor="t" bIns="45700" lIns="91425" spcFirstLastPara="1" rIns="91425" wrap="square" tIns="45700">
            <a:noAutofit/>
          </a:bodyPr>
          <a:lstStyle/>
          <a:p>
            <a:pPr indent="-127000" lvl="0" marL="127000" marR="0" rtl="0" algn="l">
              <a:lnSpc>
                <a:spcPct val="100000"/>
              </a:lnSpc>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Header: Services</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EMSCULPT NEO · EmFace</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Body contouring · Skin tightening</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Exion · RF treatments</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Free consultation</a:t>
            </a:r>
            <a:endParaRPr b="0" i="0" sz="950" u="none" cap="none" strike="noStrike">
              <a:solidFill>
                <a:schemeClr val="dk1"/>
              </a:solidFill>
              <a:latin typeface="Calibri"/>
              <a:ea typeface="Calibri"/>
              <a:cs typeface="Calibri"/>
              <a:sym typeface="Calibri"/>
            </a:endParaRPr>
          </a:p>
        </p:txBody>
      </p:sp>
      <p:sp>
        <p:nvSpPr>
          <p:cNvPr id="1453" name="Google Shape;1453;p30"/>
          <p:cNvSpPr/>
          <p:nvPr/>
        </p:nvSpPr>
        <p:spPr>
          <a:xfrm>
            <a:off x="4224528" y="4370832"/>
            <a:ext cx="3584448" cy="1700784"/>
          </a:xfrm>
          <a:prstGeom prst="roundRect">
            <a:avLst>
              <a:gd fmla="val 5376"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30"/>
          <p:cNvSpPr/>
          <p:nvPr/>
        </p:nvSpPr>
        <p:spPr>
          <a:xfrm>
            <a:off x="4462272" y="4590288"/>
            <a:ext cx="512064" cy="512064"/>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mappin_white.png" id="1455" name="Google Shape;1455;p30"/>
          <p:cNvPicPr preferRelativeResize="0"/>
          <p:nvPr/>
        </p:nvPicPr>
        <p:blipFill rotWithShape="1">
          <a:blip r:embed="rId8">
            <a:alphaModFix/>
          </a:blip>
          <a:srcRect b="0" l="0" r="0" t="0"/>
          <a:stretch/>
        </p:blipFill>
        <p:spPr>
          <a:xfrm>
            <a:off x="4590288" y="4718304"/>
            <a:ext cx="256032" cy="256032"/>
          </a:xfrm>
          <a:prstGeom prst="rect">
            <a:avLst/>
          </a:prstGeom>
          <a:noFill/>
          <a:ln>
            <a:noFill/>
          </a:ln>
        </p:spPr>
      </p:pic>
      <p:sp>
        <p:nvSpPr>
          <p:cNvPr id="1456" name="Google Shape;1456;p30"/>
          <p:cNvSpPr/>
          <p:nvPr/>
        </p:nvSpPr>
        <p:spPr>
          <a:xfrm>
            <a:off x="5065776" y="4590288"/>
            <a:ext cx="2670048" cy="5120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400"/>
              <a:buFont typeface="Poppins"/>
              <a:buNone/>
            </a:pPr>
            <a:r>
              <a:rPr b="1" i="0" lang="en-US" sz="1400" u="none" cap="none" strike="noStrike">
                <a:solidFill>
                  <a:srgbClr val="2B2E2C"/>
                </a:solidFill>
                <a:latin typeface="Poppins"/>
                <a:ea typeface="Poppins"/>
                <a:cs typeface="Poppins"/>
                <a:sym typeface="Poppins"/>
              </a:rPr>
              <a:t>Location &amp; Images</a:t>
            </a:r>
            <a:endParaRPr b="0" i="0" sz="1400" u="none" cap="none" strike="noStrike">
              <a:solidFill>
                <a:schemeClr val="dk1"/>
              </a:solidFill>
              <a:latin typeface="Calibri"/>
              <a:ea typeface="Calibri"/>
              <a:cs typeface="Calibri"/>
              <a:sym typeface="Calibri"/>
            </a:endParaRPr>
          </a:p>
        </p:txBody>
      </p:sp>
      <p:sp>
        <p:nvSpPr>
          <p:cNvPr id="1457" name="Google Shape;1457;p30"/>
          <p:cNvSpPr/>
          <p:nvPr/>
        </p:nvSpPr>
        <p:spPr>
          <a:xfrm>
            <a:off x="4498848" y="5138928"/>
            <a:ext cx="3054096" cy="859536"/>
          </a:xfrm>
          <a:prstGeom prst="rect">
            <a:avLst/>
          </a:prstGeom>
          <a:noFill/>
          <a:ln>
            <a:noFill/>
          </a:ln>
        </p:spPr>
        <p:txBody>
          <a:bodyPr anchorCtr="0" anchor="t" bIns="45700" lIns="91425" spcFirstLastPara="1" rIns="91425" wrap="square" tIns="45700">
            <a:noAutofit/>
          </a:bodyPr>
          <a:lstStyle/>
          <a:p>
            <a:pPr indent="-127000" lvl="0" marL="127000" marR="0" rtl="0" algn="l">
              <a:lnSpc>
                <a:spcPct val="100000"/>
              </a:lnSpc>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Link Google Business Profile</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233 High Holborn, WC1V 7DN</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Add clinic &amp; treatment images</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No before/after as primary (policy)</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Consider a lead-form asset</a:t>
            </a:r>
            <a:endParaRPr b="0" i="0" sz="950" u="none" cap="none" strike="noStrike">
              <a:solidFill>
                <a:schemeClr val="dk1"/>
              </a:solidFill>
              <a:latin typeface="Calibri"/>
              <a:ea typeface="Calibri"/>
              <a:cs typeface="Calibri"/>
              <a:sym typeface="Calibri"/>
            </a:endParaRPr>
          </a:p>
        </p:txBody>
      </p:sp>
      <p:sp>
        <p:nvSpPr>
          <p:cNvPr id="1458" name="Google Shape;1458;p30"/>
          <p:cNvSpPr/>
          <p:nvPr/>
        </p:nvSpPr>
        <p:spPr>
          <a:xfrm>
            <a:off x="7946136" y="4370832"/>
            <a:ext cx="3584448" cy="1700784"/>
          </a:xfrm>
          <a:prstGeom prst="roundRect">
            <a:avLst>
              <a:gd fmla="val 5376"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30"/>
          <p:cNvSpPr/>
          <p:nvPr/>
        </p:nvSpPr>
        <p:spPr>
          <a:xfrm>
            <a:off x="8183880" y="4590288"/>
            <a:ext cx="512064" cy="512064"/>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mile_white.png" id="1460" name="Google Shape;1460;p30"/>
          <p:cNvPicPr preferRelativeResize="0"/>
          <p:nvPr/>
        </p:nvPicPr>
        <p:blipFill rotWithShape="1">
          <a:blip r:embed="rId9">
            <a:alphaModFix/>
          </a:blip>
          <a:srcRect b="0" l="0" r="0" t="0"/>
          <a:stretch/>
        </p:blipFill>
        <p:spPr>
          <a:xfrm>
            <a:off x="8311896" y="4718304"/>
            <a:ext cx="256032" cy="256032"/>
          </a:xfrm>
          <a:prstGeom prst="rect">
            <a:avLst/>
          </a:prstGeom>
          <a:noFill/>
          <a:ln>
            <a:noFill/>
          </a:ln>
        </p:spPr>
      </p:pic>
      <p:sp>
        <p:nvSpPr>
          <p:cNvPr id="1461" name="Google Shape;1461;p30"/>
          <p:cNvSpPr/>
          <p:nvPr/>
        </p:nvSpPr>
        <p:spPr>
          <a:xfrm>
            <a:off x="8787384" y="4590288"/>
            <a:ext cx="2670048" cy="51206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400"/>
              <a:buFont typeface="Poppins"/>
              <a:buNone/>
            </a:pPr>
            <a:r>
              <a:rPr b="1" i="0" lang="en-US" sz="1400" u="none" cap="none" strike="noStrike">
                <a:solidFill>
                  <a:srgbClr val="2B2E2C"/>
                </a:solidFill>
                <a:latin typeface="Poppins"/>
                <a:ea typeface="Poppins"/>
                <a:cs typeface="Poppins"/>
                <a:sym typeface="Poppins"/>
              </a:rPr>
              <a:t>Devices &amp; Notes</a:t>
            </a:r>
            <a:endParaRPr b="0" i="0" sz="1400" u="none" cap="none" strike="noStrike">
              <a:solidFill>
                <a:schemeClr val="dk1"/>
              </a:solidFill>
              <a:latin typeface="Calibri"/>
              <a:ea typeface="Calibri"/>
              <a:cs typeface="Calibri"/>
              <a:sym typeface="Calibri"/>
            </a:endParaRPr>
          </a:p>
        </p:txBody>
      </p:sp>
      <p:sp>
        <p:nvSpPr>
          <p:cNvPr id="1462" name="Google Shape;1462;p30"/>
          <p:cNvSpPr/>
          <p:nvPr/>
        </p:nvSpPr>
        <p:spPr>
          <a:xfrm>
            <a:off x="8220456" y="5138928"/>
            <a:ext cx="3054096" cy="859536"/>
          </a:xfrm>
          <a:prstGeom prst="rect">
            <a:avLst/>
          </a:prstGeom>
          <a:noFill/>
          <a:ln>
            <a:noFill/>
          </a:ln>
        </p:spPr>
        <p:txBody>
          <a:bodyPr anchorCtr="0" anchor="t" bIns="45700" lIns="91425" spcFirstLastPara="1" rIns="91425" wrap="square" tIns="45700">
            <a:noAutofit/>
          </a:bodyPr>
          <a:lstStyle/>
          <a:p>
            <a:pPr indent="-127000" lvl="0" marL="127000" marR="0" rtl="0" algn="l">
              <a:lnSpc>
                <a:spcPct val="100000"/>
              </a:lnSpc>
              <a:spcBef>
                <a:spcPts val="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Start all devices; adjust with data</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Mobile: high call intent — fast LP</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Automated bidding sets device bids</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180"/>
              </a:spcBef>
              <a:spcAft>
                <a:spcPts val="0"/>
              </a:spcAft>
              <a:buClr>
                <a:srgbClr val="2B2E2C"/>
              </a:buClr>
              <a:buSzPts val="950"/>
              <a:buFont typeface="Calibri"/>
              <a:buChar char="•"/>
            </a:pPr>
            <a:r>
              <a:rPr b="0" i="0" lang="en-US" sz="950" u="none" cap="none" strike="noStrike">
                <a:solidFill>
                  <a:srgbClr val="2B2E2C"/>
                </a:solidFill>
                <a:latin typeface="Calibri"/>
                <a:ea typeface="Calibri"/>
                <a:cs typeface="Calibri"/>
                <a:sym typeface="Calibri"/>
              </a:rPr>
              <a:t>Assets are free — add all relevant</a:t>
            </a:r>
            <a:endParaRPr b="0" i="0" sz="950" u="none" cap="none" strike="noStrike">
              <a:solidFill>
                <a:schemeClr val="dk1"/>
              </a:solidFill>
              <a:latin typeface="Calibri"/>
              <a:ea typeface="Calibri"/>
              <a:cs typeface="Calibri"/>
              <a:sym typeface="Calibri"/>
            </a:endParaRPr>
          </a:p>
        </p:txBody>
      </p:sp>
      <p:sp>
        <p:nvSpPr>
          <p:cNvPr id="1463" name="Google Shape;1463;p30"/>
          <p:cNvSpPr/>
          <p:nvPr/>
        </p:nvSpPr>
        <p:spPr>
          <a:xfrm>
            <a:off x="502920" y="6163056"/>
            <a:ext cx="111556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050"/>
              <a:buFont typeface="Calibri"/>
              <a:buNone/>
            </a:pPr>
            <a:r>
              <a:rPr b="1" i="0" lang="en-US" sz="1050" u="none" cap="none" strike="noStrike">
                <a:solidFill>
                  <a:srgbClr val="16A879"/>
                </a:solidFill>
                <a:latin typeface="Calibri"/>
                <a:ea typeface="Calibri"/>
                <a:cs typeface="Calibri"/>
                <a:sym typeface="Calibri"/>
              </a:rPr>
              <a:t>Landing pages:  /treatments/emsculpt-neo-london/  ·  /treatments/body-contouring-with-skin-tightening-london/  ·  EmFace page required before launch (URL TBC)</a:t>
            </a:r>
            <a:endParaRPr b="0" i="0" sz="1050" u="none" cap="none" strike="noStrike">
              <a:solidFill>
                <a:schemeClr val="dk1"/>
              </a:solidFill>
              <a:latin typeface="Calibri"/>
              <a:ea typeface="Calibri"/>
              <a:cs typeface="Calibri"/>
              <a:sym typeface="Calibri"/>
            </a:endParaRPr>
          </a:p>
        </p:txBody>
      </p:sp>
      <p:sp>
        <p:nvSpPr>
          <p:cNvPr id="1464" name="Google Shape;1464;p30"/>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465" name="Google Shape;1465;p30"/>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30</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0" name="Shape 1470"/>
        <p:cNvGrpSpPr/>
        <p:nvPr/>
      </p:nvGrpSpPr>
      <p:grpSpPr>
        <a:xfrm>
          <a:off x="0" y="0"/>
          <a:ext cx="0" cy="0"/>
          <a:chOff x="0" y="0"/>
          <a:chExt cx="0" cy="0"/>
        </a:xfrm>
      </p:grpSpPr>
      <p:pic>
        <p:nvPicPr>
          <p:cNvPr descr="unpacked/ppt/media/image11.png" id="1471" name="Google Shape;1471;p31"/>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472" name="Google Shape;1472;p31"/>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Roadmap</a:t>
            </a:r>
            <a:endParaRPr b="0" i="0" sz="1500" u="none" cap="none" strike="noStrike">
              <a:solidFill>
                <a:schemeClr val="dk1"/>
              </a:solidFill>
              <a:latin typeface="Calibri"/>
              <a:ea typeface="Calibri"/>
              <a:cs typeface="Calibri"/>
              <a:sym typeface="Calibri"/>
            </a:endParaRPr>
          </a:p>
        </p:txBody>
      </p:sp>
      <p:sp>
        <p:nvSpPr>
          <p:cNvPr id="1473" name="Google Shape;1473;p31"/>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GROWTH PLAN</a:t>
            </a:r>
            <a:endParaRPr b="0" i="0" sz="1250" u="none" cap="none" strike="noStrike">
              <a:solidFill>
                <a:schemeClr val="dk1"/>
              </a:solidFill>
              <a:latin typeface="Calibri"/>
              <a:ea typeface="Calibri"/>
              <a:cs typeface="Calibri"/>
              <a:sym typeface="Calibri"/>
            </a:endParaRPr>
          </a:p>
        </p:txBody>
      </p:sp>
      <p:sp>
        <p:nvSpPr>
          <p:cNvPr id="1474" name="Google Shape;1474;p31"/>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6-Month Optimisation Roadmap</a:t>
            </a:r>
            <a:endParaRPr b="0" i="0" sz="3300" u="none" cap="none" strike="noStrike">
              <a:solidFill>
                <a:schemeClr val="dk1"/>
              </a:solidFill>
              <a:latin typeface="Calibri"/>
              <a:ea typeface="Calibri"/>
              <a:cs typeface="Calibri"/>
              <a:sym typeface="Calibri"/>
            </a:endParaRPr>
          </a:p>
        </p:txBody>
      </p:sp>
      <p:sp>
        <p:nvSpPr>
          <p:cNvPr id="1475" name="Google Shape;1475;p31"/>
          <p:cNvSpPr/>
          <p:nvPr/>
        </p:nvSpPr>
        <p:spPr>
          <a:xfrm>
            <a:off x="502920" y="1993392"/>
            <a:ext cx="1115568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A focused six-month engagement. Search launches first to gather data and build Quality Score; we then test landing pages, layer in Performance Max from Month 4, scale the winners and review — reallocating budget toward the lowest cost per enquiry throughout.</a:t>
            </a:r>
            <a:endParaRPr b="0" i="0" sz="1350" u="none" cap="none" strike="noStrike">
              <a:solidFill>
                <a:schemeClr val="dk1"/>
              </a:solidFill>
              <a:latin typeface="Calibri"/>
              <a:ea typeface="Calibri"/>
              <a:cs typeface="Calibri"/>
              <a:sym typeface="Calibri"/>
            </a:endParaRPr>
          </a:p>
        </p:txBody>
      </p:sp>
      <p:sp>
        <p:nvSpPr>
          <p:cNvPr id="1476" name="Google Shape;1476;p31"/>
          <p:cNvSpPr/>
          <p:nvPr/>
        </p:nvSpPr>
        <p:spPr>
          <a:xfrm>
            <a:off x="502920" y="2697480"/>
            <a:ext cx="1696212" cy="3246120"/>
          </a:xfrm>
          <a:prstGeom prst="roundRect">
            <a:avLst>
              <a:gd fmla="val 440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31"/>
          <p:cNvSpPr/>
          <p:nvPr/>
        </p:nvSpPr>
        <p:spPr>
          <a:xfrm>
            <a:off x="1049274" y="2990088"/>
            <a:ext cx="603504" cy="603504"/>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search_white.png" id="1478" name="Google Shape;1478;p31"/>
          <p:cNvPicPr preferRelativeResize="0"/>
          <p:nvPr/>
        </p:nvPicPr>
        <p:blipFill rotWithShape="1">
          <a:blip r:embed="rId4">
            <a:alphaModFix/>
          </a:blip>
          <a:srcRect b="0" l="0" r="0" t="0"/>
          <a:stretch/>
        </p:blipFill>
        <p:spPr>
          <a:xfrm>
            <a:off x="1204721" y="3145536"/>
            <a:ext cx="292608" cy="292608"/>
          </a:xfrm>
          <a:prstGeom prst="rect">
            <a:avLst/>
          </a:prstGeom>
          <a:noFill/>
          <a:ln>
            <a:noFill/>
          </a:ln>
        </p:spPr>
      </p:pic>
      <p:sp>
        <p:nvSpPr>
          <p:cNvPr id="1479" name="Google Shape;1479;p31"/>
          <p:cNvSpPr/>
          <p:nvPr/>
        </p:nvSpPr>
        <p:spPr>
          <a:xfrm>
            <a:off x="577642" y="3721608"/>
            <a:ext cx="1546766" cy="23774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6A879"/>
              </a:buClr>
              <a:buSzPts val="1050"/>
              <a:buFont typeface="Poppins"/>
              <a:buNone/>
            </a:pPr>
            <a:r>
              <a:rPr b="1" i="0" lang="en-US" sz="900" u="none" cap="none" strike="noStrike">
                <a:solidFill>
                  <a:srgbClr val="16A879"/>
                </a:solidFill>
                <a:latin typeface="Poppins"/>
                <a:ea typeface="Poppins"/>
                <a:cs typeface="Poppins"/>
                <a:sym typeface="Poppins"/>
              </a:rPr>
              <a:t>MONTH 1</a:t>
            </a:r>
            <a:endParaRPr b="0" i="0" sz="1050" u="none" cap="none" strike="noStrike">
              <a:solidFill>
                <a:schemeClr val="dk1"/>
              </a:solidFill>
              <a:latin typeface="Calibri"/>
              <a:ea typeface="Calibri"/>
              <a:cs typeface="Calibri"/>
              <a:sym typeface="Calibri"/>
            </a:endParaRPr>
          </a:p>
        </p:txBody>
      </p:sp>
      <p:sp>
        <p:nvSpPr>
          <p:cNvPr id="1480" name="Google Shape;1480;p31"/>
          <p:cNvSpPr/>
          <p:nvPr/>
        </p:nvSpPr>
        <p:spPr>
          <a:xfrm>
            <a:off x="562698" y="3941064"/>
            <a:ext cx="1576655" cy="548640"/>
          </a:xfrm>
          <a:prstGeom prst="rect">
            <a:avLst/>
          </a:prstGeom>
          <a:noFill/>
          <a:ln>
            <a:noFill/>
          </a:ln>
        </p:spPr>
        <p:txBody>
          <a:bodyPr anchorCtr="0" anchor="t" bIns="45700" lIns="91425" spcFirstLastPara="1" rIns="91425" wrap="square" tIns="45700">
            <a:noAutofit/>
          </a:bodyPr>
          <a:lstStyle/>
          <a:p>
            <a:pPr indent="0" lvl="0" marL="0" marR="0" rtl="0" algn="ctr">
              <a:lnSpc>
                <a:spcPct val="115384"/>
              </a:lnSpc>
              <a:spcBef>
                <a:spcPts val="0"/>
              </a:spcBef>
              <a:spcAft>
                <a:spcPts val="0"/>
              </a:spcAft>
              <a:buClr>
                <a:srgbClr val="2B2E2C"/>
              </a:buClr>
              <a:buSzPts val="1300"/>
              <a:buFont typeface="Poppins"/>
              <a:buNone/>
            </a:pPr>
            <a:r>
              <a:rPr b="1" i="0" lang="en-US" sz="1100" u="none" cap="none" strike="noStrike">
                <a:solidFill>
                  <a:srgbClr val="2B2E2C"/>
                </a:solidFill>
                <a:latin typeface="Poppins"/>
                <a:ea typeface="Poppins"/>
                <a:cs typeface="Poppins"/>
                <a:sym typeface="Poppins"/>
              </a:rPr>
              <a:t>Launch &amp; Track</a:t>
            </a:r>
            <a:endParaRPr b="0" i="0" sz="1300" u="none" cap="none" strike="noStrike">
              <a:solidFill>
                <a:schemeClr val="dk1"/>
              </a:solidFill>
              <a:latin typeface="Calibri"/>
              <a:ea typeface="Calibri"/>
              <a:cs typeface="Calibri"/>
              <a:sym typeface="Calibri"/>
            </a:endParaRPr>
          </a:p>
        </p:txBody>
      </p:sp>
      <p:cxnSp>
        <p:nvCxnSpPr>
          <p:cNvPr id="1481" name="Google Shape;1481;p31"/>
          <p:cNvCxnSpPr/>
          <p:nvPr/>
        </p:nvCxnSpPr>
        <p:spPr>
          <a:xfrm>
            <a:off x="727088" y="4507992"/>
            <a:ext cx="1247874" cy="0"/>
          </a:xfrm>
          <a:prstGeom prst="straightConnector1">
            <a:avLst/>
          </a:prstGeom>
          <a:noFill/>
          <a:ln cap="flat" cmpd="sng" w="12700">
            <a:solidFill>
              <a:srgbClr val="EBEEED"/>
            </a:solidFill>
            <a:prstDash val="solid"/>
            <a:round/>
            <a:headEnd len="sm" w="sm" type="none"/>
            <a:tailEnd len="sm" w="sm" type="none"/>
          </a:ln>
        </p:spPr>
      </p:cxnSp>
      <p:sp>
        <p:nvSpPr>
          <p:cNvPr id="1482" name="Google Shape;1482;p31"/>
          <p:cNvSpPr/>
          <p:nvPr/>
        </p:nvSpPr>
        <p:spPr>
          <a:xfrm>
            <a:off x="637421" y="4599432"/>
            <a:ext cx="1442153" cy="1234440"/>
          </a:xfrm>
          <a:prstGeom prst="rect">
            <a:avLst/>
          </a:prstGeom>
          <a:noFill/>
          <a:ln>
            <a:noFill/>
          </a:ln>
        </p:spPr>
        <p:txBody>
          <a:bodyPr anchorCtr="0" anchor="t" bIns="45700" lIns="91425" spcFirstLastPara="1" rIns="91425" wrap="square" tIns="45700">
            <a:noAutofit/>
          </a:bodyPr>
          <a:lstStyle/>
          <a:p>
            <a:pPr indent="-114300" lvl="0" marL="114300" marR="0" rtl="0" algn="l">
              <a:lnSpc>
                <a:spcPct val="100000"/>
              </a:lnSpc>
              <a:spcBef>
                <a:spcPts val="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Go live on Search (Phrase + Exact)</a:t>
            </a:r>
            <a:endParaRPr b="0" i="0" sz="900" u="none" cap="none" strike="noStrike">
              <a:solidFill>
                <a:schemeClr val="dk1"/>
              </a:solidFill>
              <a:latin typeface="Calibri"/>
              <a:ea typeface="Calibri"/>
              <a:cs typeface="Calibri"/>
              <a:sym typeface="Calibri"/>
            </a:endParaRPr>
          </a:p>
          <a:p>
            <a:pPr indent="-114300" lvl="0" marL="114300" marR="0" rtl="0" algn="l">
              <a:lnSpc>
                <a:spcPct val="100000"/>
              </a:lnSpc>
              <a:spcBef>
                <a:spcPts val="40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Install conversion &amp; call tracking</a:t>
            </a:r>
            <a:endParaRPr b="0" i="0" sz="900" u="none" cap="none" strike="noStrike">
              <a:solidFill>
                <a:schemeClr val="dk1"/>
              </a:solidFill>
              <a:latin typeface="Calibri"/>
              <a:ea typeface="Calibri"/>
              <a:cs typeface="Calibri"/>
              <a:sym typeface="Calibri"/>
            </a:endParaRPr>
          </a:p>
          <a:p>
            <a:pPr indent="-114300" lvl="0" marL="114300" marR="0" rtl="0" algn="l">
              <a:lnSpc>
                <a:spcPct val="100000"/>
              </a:lnSpc>
              <a:spcBef>
                <a:spcPts val="40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Set baseline cost per enquiry</a:t>
            </a:r>
            <a:endParaRPr b="0" i="0" sz="900" u="none" cap="none" strike="noStrike">
              <a:solidFill>
                <a:schemeClr val="dk1"/>
              </a:solidFill>
              <a:latin typeface="Calibri"/>
              <a:ea typeface="Calibri"/>
              <a:cs typeface="Calibri"/>
              <a:sym typeface="Calibri"/>
            </a:endParaRPr>
          </a:p>
        </p:txBody>
      </p:sp>
      <p:sp>
        <p:nvSpPr>
          <p:cNvPr id="1483" name="Google Shape;1483;p31"/>
          <p:cNvSpPr/>
          <p:nvPr/>
        </p:nvSpPr>
        <p:spPr>
          <a:xfrm>
            <a:off x="2400300" y="2697480"/>
            <a:ext cx="1696212" cy="3246120"/>
          </a:xfrm>
          <a:prstGeom prst="roundRect">
            <a:avLst>
              <a:gd fmla="val 440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4" name="Google Shape;1484;p31"/>
          <p:cNvSpPr/>
          <p:nvPr/>
        </p:nvSpPr>
        <p:spPr>
          <a:xfrm>
            <a:off x="2946653" y="2990088"/>
            <a:ext cx="603504" cy="603504"/>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ear_white.png" id="1485" name="Google Shape;1485;p31"/>
          <p:cNvPicPr preferRelativeResize="0"/>
          <p:nvPr/>
        </p:nvPicPr>
        <p:blipFill rotWithShape="1">
          <a:blip r:embed="rId5">
            <a:alphaModFix/>
          </a:blip>
          <a:srcRect b="0" l="0" r="0" t="0"/>
          <a:stretch/>
        </p:blipFill>
        <p:spPr>
          <a:xfrm>
            <a:off x="3102101" y="3145536"/>
            <a:ext cx="292608" cy="292608"/>
          </a:xfrm>
          <a:prstGeom prst="rect">
            <a:avLst/>
          </a:prstGeom>
          <a:noFill/>
          <a:ln>
            <a:noFill/>
          </a:ln>
        </p:spPr>
      </p:pic>
      <p:sp>
        <p:nvSpPr>
          <p:cNvPr id="1486" name="Google Shape;1486;p31"/>
          <p:cNvSpPr/>
          <p:nvPr/>
        </p:nvSpPr>
        <p:spPr>
          <a:xfrm>
            <a:off x="2475022" y="3721608"/>
            <a:ext cx="1546766" cy="23774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6A879"/>
              </a:buClr>
              <a:buSzPts val="1050"/>
              <a:buFont typeface="Poppins"/>
              <a:buNone/>
            </a:pPr>
            <a:r>
              <a:rPr b="1" i="0" lang="en-US" sz="900" u="none" cap="none" strike="noStrike">
                <a:solidFill>
                  <a:srgbClr val="16A879"/>
                </a:solidFill>
                <a:latin typeface="Poppins"/>
                <a:ea typeface="Poppins"/>
                <a:cs typeface="Poppins"/>
                <a:sym typeface="Poppins"/>
              </a:rPr>
              <a:t>MONTH 2</a:t>
            </a:r>
            <a:endParaRPr b="0" i="0" sz="1050" u="none" cap="none" strike="noStrike">
              <a:solidFill>
                <a:schemeClr val="dk1"/>
              </a:solidFill>
              <a:latin typeface="Calibri"/>
              <a:ea typeface="Calibri"/>
              <a:cs typeface="Calibri"/>
              <a:sym typeface="Calibri"/>
            </a:endParaRPr>
          </a:p>
        </p:txBody>
      </p:sp>
      <p:sp>
        <p:nvSpPr>
          <p:cNvPr id="1487" name="Google Shape;1487;p31"/>
          <p:cNvSpPr/>
          <p:nvPr/>
        </p:nvSpPr>
        <p:spPr>
          <a:xfrm>
            <a:off x="2460078" y="3941064"/>
            <a:ext cx="1576655" cy="548640"/>
          </a:xfrm>
          <a:prstGeom prst="rect">
            <a:avLst/>
          </a:prstGeom>
          <a:noFill/>
          <a:ln>
            <a:noFill/>
          </a:ln>
        </p:spPr>
        <p:txBody>
          <a:bodyPr anchorCtr="0" anchor="t" bIns="45700" lIns="91425" spcFirstLastPara="1" rIns="91425" wrap="square" tIns="45700">
            <a:noAutofit/>
          </a:bodyPr>
          <a:lstStyle/>
          <a:p>
            <a:pPr indent="0" lvl="0" marL="0" marR="0" rtl="0" algn="ctr">
              <a:lnSpc>
                <a:spcPct val="115384"/>
              </a:lnSpc>
              <a:spcBef>
                <a:spcPts val="0"/>
              </a:spcBef>
              <a:spcAft>
                <a:spcPts val="0"/>
              </a:spcAft>
              <a:buClr>
                <a:srgbClr val="2B2E2C"/>
              </a:buClr>
              <a:buSzPts val="1300"/>
              <a:buFont typeface="Poppins"/>
              <a:buNone/>
            </a:pPr>
            <a:r>
              <a:rPr b="1" i="0" lang="en-US" sz="1100" u="none" cap="none" strike="noStrike">
                <a:solidFill>
                  <a:srgbClr val="2B2E2C"/>
                </a:solidFill>
                <a:latin typeface="Poppins"/>
                <a:ea typeface="Poppins"/>
                <a:cs typeface="Poppins"/>
                <a:sym typeface="Poppins"/>
              </a:rPr>
              <a:t>Refine Search</a:t>
            </a:r>
            <a:endParaRPr b="0" i="0" sz="1300" u="none" cap="none" strike="noStrike">
              <a:solidFill>
                <a:schemeClr val="dk1"/>
              </a:solidFill>
              <a:latin typeface="Calibri"/>
              <a:ea typeface="Calibri"/>
              <a:cs typeface="Calibri"/>
              <a:sym typeface="Calibri"/>
            </a:endParaRPr>
          </a:p>
        </p:txBody>
      </p:sp>
      <p:cxnSp>
        <p:nvCxnSpPr>
          <p:cNvPr id="1488" name="Google Shape;1488;p31"/>
          <p:cNvCxnSpPr/>
          <p:nvPr/>
        </p:nvCxnSpPr>
        <p:spPr>
          <a:xfrm>
            <a:off x="2624468" y="4507992"/>
            <a:ext cx="1247874" cy="0"/>
          </a:xfrm>
          <a:prstGeom prst="straightConnector1">
            <a:avLst/>
          </a:prstGeom>
          <a:noFill/>
          <a:ln cap="flat" cmpd="sng" w="12700">
            <a:solidFill>
              <a:srgbClr val="EBEEED"/>
            </a:solidFill>
            <a:prstDash val="solid"/>
            <a:round/>
            <a:headEnd len="sm" w="sm" type="none"/>
            <a:tailEnd len="sm" w="sm" type="none"/>
          </a:ln>
        </p:spPr>
      </p:cxnSp>
      <p:sp>
        <p:nvSpPr>
          <p:cNvPr id="1489" name="Google Shape;1489;p31"/>
          <p:cNvSpPr/>
          <p:nvPr/>
        </p:nvSpPr>
        <p:spPr>
          <a:xfrm>
            <a:off x="2534801" y="4599432"/>
            <a:ext cx="1442153" cy="1234440"/>
          </a:xfrm>
          <a:prstGeom prst="rect">
            <a:avLst/>
          </a:prstGeom>
          <a:noFill/>
          <a:ln>
            <a:noFill/>
          </a:ln>
        </p:spPr>
        <p:txBody>
          <a:bodyPr anchorCtr="0" anchor="t" bIns="45700" lIns="91425" spcFirstLastPara="1" rIns="91425" wrap="square" tIns="45700">
            <a:noAutofit/>
          </a:bodyPr>
          <a:lstStyle/>
          <a:p>
            <a:pPr indent="-114300" lvl="0" marL="114300" marR="0" rtl="0" algn="l">
              <a:lnSpc>
                <a:spcPct val="100000"/>
              </a:lnSpc>
              <a:spcBef>
                <a:spcPts val="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Mine search terms; expand negatives</a:t>
            </a:r>
            <a:endParaRPr b="0" i="0" sz="900" u="none" cap="none" strike="noStrike">
              <a:solidFill>
                <a:schemeClr val="dk1"/>
              </a:solidFill>
              <a:latin typeface="Calibri"/>
              <a:ea typeface="Calibri"/>
              <a:cs typeface="Calibri"/>
              <a:sym typeface="Calibri"/>
            </a:endParaRPr>
          </a:p>
          <a:p>
            <a:pPr indent="-114300" lvl="0" marL="114300" marR="0" rtl="0" algn="l">
              <a:lnSpc>
                <a:spcPct val="100000"/>
              </a:lnSpc>
              <a:spcBef>
                <a:spcPts val="40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Tune bids, schedules &amp; radius</a:t>
            </a:r>
            <a:endParaRPr b="0" i="0" sz="900" u="none" cap="none" strike="noStrike">
              <a:solidFill>
                <a:schemeClr val="dk1"/>
              </a:solidFill>
              <a:latin typeface="Calibri"/>
              <a:ea typeface="Calibri"/>
              <a:cs typeface="Calibri"/>
              <a:sym typeface="Calibri"/>
            </a:endParaRPr>
          </a:p>
          <a:p>
            <a:pPr indent="-114300" lvl="0" marL="114300" marR="0" rtl="0" algn="l">
              <a:lnSpc>
                <a:spcPct val="100000"/>
              </a:lnSpc>
              <a:spcBef>
                <a:spcPts val="40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Build Quality Score to cut CPCs</a:t>
            </a:r>
            <a:endParaRPr b="0" i="0" sz="900" u="none" cap="none" strike="noStrike">
              <a:solidFill>
                <a:schemeClr val="dk1"/>
              </a:solidFill>
              <a:latin typeface="Calibri"/>
              <a:ea typeface="Calibri"/>
              <a:cs typeface="Calibri"/>
              <a:sym typeface="Calibri"/>
            </a:endParaRPr>
          </a:p>
        </p:txBody>
      </p:sp>
      <p:sp>
        <p:nvSpPr>
          <p:cNvPr id="1490" name="Google Shape;1490;p31"/>
          <p:cNvSpPr/>
          <p:nvPr/>
        </p:nvSpPr>
        <p:spPr>
          <a:xfrm>
            <a:off x="4297680" y="2697480"/>
            <a:ext cx="1696212" cy="3246120"/>
          </a:xfrm>
          <a:prstGeom prst="roundRect">
            <a:avLst>
              <a:gd fmla="val 4405" name="adj"/>
            </a:avLst>
          </a:prstGeom>
          <a:solidFill>
            <a:srgbClr val="3BE29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31"/>
          <p:cNvSpPr/>
          <p:nvPr/>
        </p:nvSpPr>
        <p:spPr>
          <a:xfrm>
            <a:off x="4844034" y="2990088"/>
            <a:ext cx="603504" cy="603504"/>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rocket_white.png" id="1492" name="Google Shape;1492;p31"/>
          <p:cNvPicPr preferRelativeResize="0"/>
          <p:nvPr/>
        </p:nvPicPr>
        <p:blipFill rotWithShape="1">
          <a:blip r:embed="rId6">
            <a:alphaModFix/>
          </a:blip>
          <a:srcRect b="0" l="0" r="0" t="0"/>
          <a:stretch/>
        </p:blipFill>
        <p:spPr>
          <a:xfrm>
            <a:off x="4999481" y="3145536"/>
            <a:ext cx="292608" cy="292608"/>
          </a:xfrm>
          <a:prstGeom prst="rect">
            <a:avLst/>
          </a:prstGeom>
          <a:noFill/>
          <a:ln>
            <a:noFill/>
          </a:ln>
        </p:spPr>
      </p:pic>
      <p:sp>
        <p:nvSpPr>
          <p:cNvPr id="1493" name="Google Shape;1493;p31"/>
          <p:cNvSpPr/>
          <p:nvPr/>
        </p:nvSpPr>
        <p:spPr>
          <a:xfrm>
            <a:off x="4372402" y="3721608"/>
            <a:ext cx="1546766" cy="23774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A2620"/>
              </a:buClr>
              <a:buSzPts val="1050"/>
              <a:buFont typeface="Poppins"/>
              <a:buNone/>
            </a:pPr>
            <a:r>
              <a:rPr b="1" i="0" lang="en-US" sz="900" u="none" cap="none" strike="noStrike">
                <a:solidFill>
                  <a:srgbClr val="1A2620"/>
                </a:solidFill>
                <a:latin typeface="Poppins"/>
                <a:ea typeface="Poppins"/>
                <a:cs typeface="Poppins"/>
                <a:sym typeface="Poppins"/>
              </a:rPr>
              <a:t>MONTH 3</a:t>
            </a:r>
            <a:endParaRPr b="0" i="0" sz="1050" u="none" cap="none" strike="noStrike">
              <a:solidFill>
                <a:schemeClr val="dk1"/>
              </a:solidFill>
              <a:latin typeface="Calibri"/>
              <a:ea typeface="Calibri"/>
              <a:cs typeface="Calibri"/>
              <a:sym typeface="Calibri"/>
            </a:endParaRPr>
          </a:p>
        </p:txBody>
      </p:sp>
      <p:sp>
        <p:nvSpPr>
          <p:cNvPr id="1494" name="Google Shape;1494;p31"/>
          <p:cNvSpPr/>
          <p:nvPr/>
        </p:nvSpPr>
        <p:spPr>
          <a:xfrm>
            <a:off x="4357458" y="3941064"/>
            <a:ext cx="1576655" cy="548640"/>
          </a:xfrm>
          <a:prstGeom prst="rect">
            <a:avLst/>
          </a:prstGeom>
          <a:noFill/>
          <a:ln>
            <a:noFill/>
          </a:ln>
        </p:spPr>
        <p:txBody>
          <a:bodyPr anchorCtr="0" anchor="t" bIns="45700" lIns="91425" spcFirstLastPara="1" rIns="91425" wrap="square" tIns="45700">
            <a:noAutofit/>
          </a:bodyPr>
          <a:lstStyle/>
          <a:p>
            <a:pPr indent="0" lvl="0" marL="0" marR="0" rtl="0" algn="ctr">
              <a:lnSpc>
                <a:spcPct val="115384"/>
              </a:lnSpc>
              <a:spcBef>
                <a:spcPts val="0"/>
              </a:spcBef>
              <a:spcAft>
                <a:spcPts val="0"/>
              </a:spcAft>
              <a:buClr>
                <a:srgbClr val="2B2E2C"/>
              </a:buClr>
              <a:buSzPts val="1300"/>
              <a:buFont typeface="Poppins"/>
              <a:buNone/>
            </a:pPr>
            <a:r>
              <a:rPr b="1" i="0" lang="en-US" sz="1100" u="none" cap="none" strike="noStrike">
                <a:solidFill>
                  <a:srgbClr val="2B2E2C"/>
                </a:solidFill>
                <a:latin typeface="Poppins"/>
                <a:ea typeface="Poppins"/>
                <a:cs typeface="Poppins"/>
                <a:sym typeface="Poppins"/>
              </a:rPr>
              <a:t>Test &amp; Optimise</a:t>
            </a:r>
            <a:endParaRPr b="0" i="0" sz="1300" u="none" cap="none" strike="noStrike">
              <a:solidFill>
                <a:schemeClr val="dk1"/>
              </a:solidFill>
              <a:latin typeface="Calibri"/>
              <a:ea typeface="Calibri"/>
              <a:cs typeface="Calibri"/>
              <a:sym typeface="Calibri"/>
            </a:endParaRPr>
          </a:p>
        </p:txBody>
      </p:sp>
      <p:cxnSp>
        <p:nvCxnSpPr>
          <p:cNvPr id="1495" name="Google Shape;1495;p31"/>
          <p:cNvCxnSpPr/>
          <p:nvPr/>
        </p:nvCxnSpPr>
        <p:spPr>
          <a:xfrm>
            <a:off x="4521848" y="4507992"/>
            <a:ext cx="1247874" cy="0"/>
          </a:xfrm>
          <a:prstGeom prst="straightConnector1">
            <a:avLst/>
          </a:prstGeom>
          <a:noFill/>
          <a:ln cap="flat" cmpd="sng" w="12700">
            <a:solidFill>
              <a:srgbClr val="1A2620"/>
            </a:solidFill>
            <a:prstDash val="solid"/>
            <a:round/>
            <a:headEnd len="sm" w="sm" type="none"/>
            <a:tailEnd len="sm" w="sm" type="none"/>
          </a:ln>
        </p:spPr>
      </p:cxnSp>
      <p:sp>
        <p:nvSpPr>
          <p:cNvPr id="1496" name="Google Shape;1496;p31"/>
          <p:cNvSpPr/>
          <p:nvPr/>
        </p:nvSpPr>
        <p:spPr>
          <a:xfrm>
            <a:off x="4432181" y="4599432"/>
            <a:ext cx="1442153" cy="1234440"/>
          </a:xfrm>
          <a:prstGeom prst="rect">
            <a:avLst/>
          </a:prstGeom>
          <a:noFill/>
          <a:ln>
            <a:noFill/>
          </a:ln>
        </p:spPr>
        <p:txBody>
          <a:bodyPr anchorCtr="0" anchor="t" bIns="45700" lIns="91425" spcFirstLastPara="1" rIns="91425" wrap="square" tIns="45700">
            <a:noAutofit/>
          </a:bodyPr>
          <a:lstStyle/>
          <a:p>
            <a:pPr indent="-114300" lvl="0" marL="114300" marR="0" rtl="0" algn="l">
              <a:lnSpc>
                <a:spcPct val="100000"/>
              </a:lnSpc>
              <a:spcBef>
                <a:spcPts val="0"/>
              </a:spcBef>
              <a:spcAft>
                <a:spcPts val="0"/>
              </a:spcAft>
              <a:buClr>
                <a:srgbClr val="1A2620"/>
              </a:buClr>
              <a:buSzPts val="900"/>
              <a:buFont typeface="Calibri"/>
              <a:buChar char="•"/>
            </a:pPr>
            <a:r>
              <a:rPr b="0" i="0" lang="en-US" sz="750" u="none" cap="none" strike="noStrike">
                <a:solidFill>
                  <a:srgbClr val="1A2620"/>
                </a:solidFill>
                <a:latin typeface="Calibri"/>
                <a:ea typeface="Calibri"/>
                <a:cs typeface="Calibri"/>
                <a:sym typeface="Calibri"/>
              </a:rPr>
              <a:t>A/B test landing pages &amp; CTAs</a:t>
            </a:r>
            <a:endParaRPr b="0" i="0" sz="900" u="none" cap="none" strike="noStrike">
              <a:solidFill>
                <a:schemeClr val="dk1"/>
              </a:solidFill>
              <a:latin typeface="Calibri"/>
              <a:ea typeface="Calibri"/>
              <a:cs typeface="Calibri"/>
              <a:sym typeface="Calibri"/>
            </a:endParaRPr>
          </a:p>
          <a:p>
            <a:pPr indent="-114300" lvl="0" marL="114300" marR="0" rtl="0" algn="l">
              <a:lnSpc>
                <a:spcPct val="100000"/>
              </a:lnSpc>
              <a:spcBef>
                <a:spcPts val="400"/>
              </a:spcBef>
              <a:spcAft>
                <a:spcPts val="0"/>
              </a:spcAft>
              <a:buClr>
                <a:srgbClr val="1A2620"/>
              </a:buClr>
              <a:buSzPts val="900"/>
              <a:buFont typeface="Calibri"/>
              <a:buChar char="•"/>
            </a:pPr>
            <a:r>
              <a:rPr b="0" i="0" lang="en-US" sz="750" u="none" cap="none" strike="noStrike">
                <a:solidFill>
                  <a:srgbClr val="1A2620"/>
                </a:solidFill>
                <a:latin typeface="Calibri"/>
                <a:ea typeface="Calibri"/>
                <a:cs typeface="Calibri"/>
                <a:sym typeface="Calibri"/>
              </a:rPr>
              <a:t>Rotate RSA headline assets</a:t>
            </a:r>
            <a:endParaRPr b="0" i="0" sz="900" u="none" cap="none" strike="noStrike">
              <a:solidFill>
                <a:schemeClr val="dk1"/>
              </a:solidFill>
              <a:latin typeface="Calibri"/>
              <a:ea typeface="Calibri"/>
              <a:cs typeface="Calibri"/>
              <a:sym typeface="Calibri"/>
            </a:endParaRPr>
          </a:p>
          <a:p>
            <a:pPr indent="-114300" lvl="0" marL="114300" marR="0" rtl="0" algn="l">
              <a:lnSpc>
                <a:spcPct val="100000"/>
              </a:lnSpc>
              <a:spcBef>
                <a:spcPts val="400"/>
              </a:spcBef>
              <a:spcAft>
                <a:spcPts val="0"/>
              </a:spcAft>
              <a:buClr>
                <a:srgbClr val="1A2620"/>
              </a:buClr>
              <a:buSzPts val="900"/>
              <a:buFont typeface="Calibri"/>
              <a:buChar char="•"/>
            </a:pPr>
            <a:r>
              <a:rPr b="0" i="0" lang="en-US" sz="750" u="none" cap="none" strike="noStrike">
                <a:solidFill>
                  <a:srgbClr val="1A2620"/>
                </a:solidFill>
                <a:latin typeface="Calibri"/>
                <a:ea typeface="Calibri"/>
                <a:cs typeface="Calibri"/>
                <a:sym typeface="Calibri"/>
              </a:rPr>
              <a:t>Review enquiry quality with clinic</a:t>
            </a:r>
            <a:endParaRPr b="0" i="0" sz="900" u="none" cap="none" strike="noStrike">
              <a:solidFill>
                <a:schemeClr val="dk1"/>
              </a:solidFill>
              <a:latin typeface="Calibri"/>
              <a:ea typeface="Calibri"/>
              <a:cs typeface="Calibri"/>
              <a:sym typeface="Calibri"/>
            </a:endParaRPr>
          </a:p>
        </p:txBody>
      </p:sp>
      <p:sp>
        <p:nvSpPr>
          <p:cNvPr id="1497" name="Google Shape;1497;p31"/>
          <p:cNvSpPr/>
          <p:nvPr/>
        </p:nvSpPr>
        <p:spPr>
          <a:xfrm>
            <a:off x="6195060" y="2697480"/>
            <a:ext cx="1696212" cy="3246120"/>
          </a:xfrm>
          <a:prstGeom prst="roundRect">
            <a:avLst>
              <a:gd fmla="val 440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p31"/>
          <p:cNvSpPr/>
          <p:nvPr/>
        </p:nvSpPr>
        <p:spPr>
          <a:xfrm>
            <a:off x="6741414" y="2990088"/>
            <a:ext cx="603504" cy="603504"/>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chart_white.png" id="1499" name="Google Shape;1499;p31"/>
          <p:cNvPicPr preferRelativeResize="0"/>
          <p:nvPr/>
        </p:nvPicPr>
        <p:blipFill rotWithShape="1">
          <a:blip r:embed="rId7">
            <a:alphaModFix/>
          </a:blip>
          <a:srcRect b="0" l="0" r="0" t="0"/>
          <a:stretch/>
        </p:blipFill>
        <p:spPr>
          <a:xfrm>
            <a:off x="6896862" y="3145536"/>
            <a:ext cx="292608" cy="292608"/>
          </a:xfrm>
          <a:prstGeom prst="rect">
            <a:avLst/>
          </a:prstGeom>
          <a:noFill/>
          <a:ln>
            <a:noFill/>
          </a:ln>
        </p:spPr>
      </p:pic>
      <p:sp>
        <p:nvSpPr>
          <p:cNvPr id="1500" name="Google Shape;1500;p31"/>
          <p:cNvSpPr/>
          <p:nvPr/>
        </p:nvSpPr>
        <p:spPr>
          <a:xfrm>
            <a:off x="6269782" y="3721608"/>
            <a:ext cx="1546766" cy="23774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6A879"/>
              </a:buClr>
              <a:buSzPts val="1050"/>
              <a:buFont typeface="Poppins"/>
              <a:buNone/>
            </a:pPr>
            <a:r>
              <a:rPr b="1" i="0" lang="en-US" sz="900" u="none" cap="none" strike="noStrike">
                <a:solidFill>
                  <a:srgbClr val="16A879"/>
                </a:solidFill>
                <a:latin typeface="Poppins"/>
                <a:ea typeface="Poppins"/>
                <a:cs typeface="Poppins"/>
                <a:sym typeface="Poppins"/>
              </a:rPr>
              <a:t>MONTH 4</a:t>
            </a:r>
            <a:endParaRPr b="0" i="0" sz="1050" u="none" cap="none" strike="noStrike">
              <a:solidFill>
                <a:schemeClr val="dk1"/>
              </a:solidFill>
              <a:latin typeface="Calibri"/>
              <a:ea typeface="Calibri"/>
              <a:cs typeface="Calibri"/>
              <a:sym typeface="Calibri"/>
            </a:endParaRPr>
          </a:p>
        </p:txBody>
      </p:sp>
      <p:sp>
        <p:nvSpPr>
          <p:cNvPr id="1501" name="Google Shape;1501;p31"/>
          <p:cNvSpPr/>
          <p:nvPr/>
        </p:nvSpPr>
        <p:spPr>
          <a:xfrm>
            <a:off x="6254838" y="3941064"/>
            <a:ext cx="1576655" cy="548640"/>
          </a:xfrm>
          <a:prstGeom prst="rect">
            <a:avLst/>
          </a:prstGeom>
          <a:noFill/>
          <a:ln>
            <a:noFill/>
          </a:ln>
        </p:spPr>
        <p:txBody>
          <a:bodyPr anchorCtr="0" anchor="t" bIns="45700" lIns="91425" spcFirstLastPara="1" rIns="91425" wrap="square" tIns="45700">
            <a:noAutofit/>
          </a:bodyPr>
          <a:lstStyle/>
          <a:p>
            <a:pPr indent="0" lvl="0" marL="0" marR="0" rtl="0" algn="ctr">
              <a:lnSpc>
                <a:spcPct val="115384"/>
              </a:lnSpc>
              <a:spcBef>
                <a:spcPts val="0"/>
              </a:spcBef>
              <a:spcAft>
                <a:spcPts val="0"/>
              </a:spcAft>
              <a:buClr>
                <a:srgbClr val="2B2E2C"/>
              </a:buClr>
              <a:buSzPts val="1300"/>
              <a:buFont typeface="Poppins"/>
              <a:buNone/>
            </a:pPr>
            <a:r>
              <a:rPr b="1" i="0" lang="en-US" sz="1100" u="none" cap="none" strike="noStrike">
                <a:solidFill>
                  <a:srgbClr val="2B2E2C"/>
                </a:solidFill>
                <a:latin typeface="Poppins"/>
                <a:ea typeface="Poppins"/>
                <a:cs typeface="Poppins"/>
                <a:sym typeface="Poppins"/>
              </a:rPr>
              <a:t>Launch PMax</a:t>
            </a:r>
            <a:endParaRPr b="0" i="0" sz="1300" u="none" cap="none" strike="noStrike">
              <a:solidFill>
                <a:schemeClr val="dk1"/>
              </a:solidFill>
              <a:latin typeface="Calibri"/>
              <a:ea typeface="Calibri"/>
              <a:cs typeface="Calibri"/>
              <a:sym typeface="Calibri"/>
            </a:endParaRPr>
          </a:p>
        </p:txBody>
      </p:sp>
      <p:cxnSp>
        <p:nvCxnSpPr>
          <p:cNvPr id="1502" name="Google Shape;1502;p31"/>
          <p:cNvCxnSpPr/>
          <p:nvPr/>
        </p:nvCxnSpPr>
        <p:spPr>
          <a:xfrm>
            <a:off x="6419228" y="4507992"/>
            <a:ext cx="1247874" cy="0"/>
          </a:xfrm>
          <a:prstGeom prst="straightConnector1">
            <a:avLst/>
          </a:prstGeom>
          <a:noFill/>
          <a:ln cap="flat" cmpd="sng" w="12700">
            <a:solidFill>
              <a:srgbClr val="EBEEED"/>
            </a:solidFill>
            <a:prstDash val="solid"/>
            <a:round/>
            <a:headEnd len="sm" w="sm" type="none"/>
            <a:tailEnd len="sm" w="sm" type="none"/>
          </a:ln>
        </p:spPr>
      </p:cxnSp>
      <p:sp>
        <p:nvSpPr>
          <p:cNvPr id="1503" name="Google Shape;1503;p31"/>
          <p:cNvSpPr/>
          <p:nvPr/>
        </p:nvSpPr>
        <p:spPr>
          <a:xfrm>
            <a:off x="6329561" y="4599432"/>
            <a:ext cx="1442153" cy="1234440"/>
          </a:xfrm>
          <a:prstGeom prst="rect">
            <a:avLst/>
          </a:prstGeom>
          <a:noFill/>
          <a:ln>
            <a:noFill/>
          </a:ln>
        </p:spPr>
        <p:txBody>
          <a:bodyPr anchorCtr="0" anchor="t" bIns="45700" lIns="91425" spcFirstLastPara="1" rIns="91425" wrap="square" tIns="45700">
            <a:noAutofit/>
          </a:bodyPr>
          <a:lstStyle/>
          <a:p>
            <a:pPr indent="-114300" lvl="0" marL="114300" marR="0" rtl="0" algn="l">
              <a:lnSpc>
                <a:spcPct val="100000"/>
              </a:lnSpc>
              <a:spcBef>
                <a:spcPts val="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Add PMax + four asset groups</a:t>
            </a:r>
            <a:endParaRPr b="0" i="0" sz="900" u="none" cap="none" strike="noStrike">
              <a:solidFill>
                <a:schemeClr val="dk1"/>
              </a:solidFill>
              <a:latin typeface="Calibri"/>
              <a:ea typeface="Calibri"/>
              <a:cs typeface="Calibri"/>
              <a:sym typeface="Calibri"/>
            </a:endParaRPr>
          </a:p>
          <a:p>
            <a:pPr indent="-114300" lvl="0" marL="114300" marR="0" rtl="0" algn="l">
              <a:lnSpc>
                <a:spcPct val="100000"/>
              </a:lnSpc>
              <a:spcBef>
                <a:spcPts val="40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Feed Search conversion data in</a:t>
            </a:r>
            <a:endParaRPr b="0" i="0" sz="900" u="none" cap="none" strike="noStrike">
              <a:solidFill>
                <a:schemeClr val="dk1"/>
              </a:solidFill>
              <a:latin typeface="Calibri"/>
              <a:ea typeface="Calibri"/>
              <a:cs typeface="Calibri"/>
              <a:sym typeface="Calibri"/>
            </a:endParaRPr>
          </a:p>
          <a:p>
            <a:pPr indent="-114300" lvl="0" marL="114300" marR="0" rtl="0" algn="l">
              <a:lnSpc>
                <a:spcPct val="100000"/>
              </a:lnSpc>
              <a:spcBef>
                <a:spcPts val="40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Google audience signals only</a:t>
            </a:r>
            <a:endParaRPr b="0" i="0" sz="900" u="none" cap="none" strike="noStrike">
              <a:solidFill>
                <a:schemeClr val="dk1"/>
              </a:solidFill>
              <a:latin typeface="Calibri"/>
              <a:ea typeface="Calibri"/>
              <a:cs typeface="Calibri"/>
              <a:sym typeface="Calibri"/>
            </a:endParaRPr>
          </a:p>
        </p:txBody>
      </p:sp>
      <p:sp>
        <p:nvSpPr>
          <p:cNvPr id="1504" name="Google Shape;1504;p31"/>
          <p:cNvSpPr/>
          <p:nvPr/>
        </p:nvSpPr>
        <p:spPr>
          <a:xfrm>
            <a:off x="8092440" y="2697480"/>
            <a:ext cx="1696212" cy="3246120"/>
          </a:xfrm>
          <a:prstGeom prst="roundRect">
            <a:avLst>
              <a:gd fmla="val 440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p31"/>
          <p:cNvSpPr/>
          <p:nvPr/>
        </p:nvSpPr>
        <p:spPr>
          <a:xfrm>
            <a:off x="8638794" y="2990088"/>
            <a:ext cx="603504" cy="603504"/>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award_white.png" id="1506" name="Google Shape;1506;p31"/>
          <p:cNvPicPr preferRelativeResize="0"/>
          <p:nvPr/>
        </p:nvPicPr>
        <p:blipFill rotWithShape="1">
          <a:blip r:embed="rId8">
            <a:alphaModFix/>
          </a:blip>
          <a:srcRect b="0" l="0" r="0" t="0"/>
          <a:stretch/>
        </p:blipFill>
        <p:spPr>
          <a:xfrm>
            <a:off x="8794242" y="3145536"/>
            <a:ext cx="292608" cy="292608"/>
          </a:xfrm>
          <a:prstGeom prst="rect">
            <a:avLst/>
          </a:prstGeom>
          <a:noFill/>
          <a:ln>
            <a:noFill/>
          </a:ln>
        </p:spPr>
      </p:pic>
      <p:sp>
        <p:nvSpPr>
          <p:cNvPr id="1507" name="Google Shape;1507;p31"/>
          <p:cNvSpPr/>
          <p:nvPr/>
        </p:nvSpPr>
        <p:spPr>
          <a:xfrm>
            <a:off x="8167162" y="3721608"/>
            <a:ext cx="1546766" cy="23774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6A879"/>
              </a:buClr>
              <a:buSzPts val="1050"/>
              <a:buFont typeface="Poppins"/>
              <a:buNone/>
            </a:pPr>
            <a:r>
              <a:rPr b="1" i="0" lang="en-US" sz="900" u="none" cap="none" strike="noStrike">
                <a:solidFill>
                  <a:srgbClr val="16A879"/>
                </a:solidFill>
                <a:latin typeface="Poppins"/>
                <a:ea typeface="Poppins"/>
                <a:cs typeface="Poppins"/>
                <a:sym typeface="Poppins"/>
              </a:rPr>
              <a:t>MONTH 5</a:t>
            </a:r>
            <a:endParaRPr b="0" i="0" sz="1050" u="none" cap="none" strike="noStrike">
              <a:solidFill>
                <a:schemeClr val="dk1"/>
              </a:solidFill>
              <a:latin typeface="Calibri"/>
              <a:ea typeface="Calibri"/>
              <a:cs typeface="Calibri"/>
              <a:sym typeface="Calibri"/>
            </a:endParaRPr>
          </a:p>
        </p:txBody>
      </p:sp>
      <p:sp>
        <p:nvSpPr>
          <p:cNvPr id="1508" name="Google Shape;1508;p31"/>
          <p:cNvSpPr/>
          <p:nvPr/>
        </p:nvSpPr>
        <p:spPr>
          <a:xfrm>
            <a:off x="8152218" y="3941064"/>
            <a:ext cx="1576655" cy="548640"/>
          </a:xfrm>
          <a:prstGeom prst="rect">
            <a:avLst/>
          </a:prstGeom>
          <a:noFill/>
          <a:ln>
            <a:noFill/>
          </a:ln>
        </p:spPr>
        <p:txBody>
          <a:bodyPr anchorCtr="0" anchor="t" bIns="45700" lIns="91425" spcFirstLastPara="1" rIns="91425" wrap="square" tIns="45700">
            <a:noAutofit/>
          </a:bodyPr>
          <a:lstStyle/>
          <a:p>
            <a:pPr indent="0" lvl="0" marL="0" marR="0" rtl="0" algn="ctr">
              <a:lnSpc>
                <a:spcPct val="115384"/>
              </a:lnSpc>
              <a:spcBef>
                <a:spcPts val="0"/>
              </a:spcBef>
              <a:spcAft>
                <a:spcPts val="0"/>
              </a:spcAft>
              <a:buClr>
                <a:srgbClr val="2B2E2C"/>
              </a:buClr>
              <a:buSzPts val="1300"/>
              <a:buFont typeface="Poppins"/>
              <a:buNone/>
            </a:pPr>
            <a:r>
              <a:rPr b="1" i="0" lang="en-US" sz="1100" u="none" cap="none" strike="noStrike">
                <a:solidFill>
                  <a:srgbClr val="2B2E2C"/>
                </a:solidFill>
                <a:latin typeface="Poppins"/>
                <a:ea typeface="Poppins"/>
                <a:cs typeface="Poppins"/>
                <a:sym typeface="Poppins"/>
              </a:rPr>
              <a:t>Scale What Works</a:t>
            </a:r>
            <a:endParaRPr b="0" i="0" sz="1300" u="none" cap="none" strike="noStrike">
              <a:solidFill>
                <a:schemeClr val="dk1"/>
              </a:solidFill>
              <a:latin typeface="Calibri"/>
              <a:ea typeface="Calibri"/>
              <a:cs typeface="Calibri"/>
              <a:sym typeface="Calibri"/>
            </a:endParaRPr>
          </a:p>
        </p:txBody>
      </p:sp>
      <p:cxnSp>
        <p:nvCxnSpPr>
          <p:cNvPr id="1509" name="Google Shape;1509;p31"/>
          <p:cNvCxnSpPr/>
          <p:nvPr/>
        </p:nvCxnSpPr>
        <p:spPr>
          <a:xfrm>
            <a:off x="8316608" y="4507992"/>
            <a:ext cx="1247874" cy="0"/>
          </a:xfrm>
          <a:prstGeom prst="straightConnector1">
            <a:avLst/>
          </a:prstGeom>
          <a:noFill/>
          <a:ln cap="flat" cmpd="sng" w="12700">
            <a:solidFill>
              <a:srgbClr val="EBEEED"/>
            </a:solidFill>
            <a:prstDash val="solid"/>
            <a:round/>
            <a:headEnd len="sm" w="sm" type="none"/>
            <a:tailEnd len="sm" w="sm" type="none"/>
          </a:ln>
        </p:spPr>
      </p:cxnSp>
      <p:sp>
        <p:nvSpPr>
          <p:cNvPr id="1510" name="Google Shape;1510;p31"/>
          <p:cNvSpPr/>
          <p:nvPr/>
        </p:nvSpPr>
        <p:spPr>
          <a:xfrm>
            <a:off x="8226941" y="4599432"/>
            <a:ext cx="1442153" cy="1234440"/>
          </a:xfrm>
          <a:prstGeom prst="rect">
            <a:avLst/>
          </a:prstGeom>
          <a:noFill/>
          <a:ln>
            <a:noFill/>
          </a:ln>
        </p:spPr>
        <p:txBody>
          <a:bodyPr anchorCtr="0" anchor="t" bIns="45700" lIns="91425" spcFirstLastPara="1" rIns="91425" wrap="square" tIns="45700">
            <a:noAutofit/>
          </a:bodyPr>
          <a:lstStyle/>
          <a:p>
            <a:pPr indent="-114300" lvl="0" marL="114300" marR="0" rtl="0" algn="l">
              <a:lnSpc>
                <a:spcPct val="100000"/>
              </a:lnSpc>
              <a:spcBef>
                <a:spcPts val="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Add winning keywords &amp; ad groups</a:t>
            </a:r>
            <a:endParaRPr b="0" i="0" sz="900" u="none" cap="none" strike="noStrike">
              <a:solidFill>
                <a:schemeClr val="dk1"/>
              </a:solidFill>
              <a:latin typeface="Calibri"/>
              <a:ea typeface="Calibri"/>
              <a:cs typeface="Calibri"/>
              <a:sym typeface="Calibri"/>
            </a:endParaRPr>
          </a:p>
          <a:p>
            <a:pPr indent="-114300" lvl="0" marL="114300" marR="0" rtl="0" algn="l">
              <a:lnSpc>
                <a:spcPct val="100000"/>
              </a:lnSpc>
              <a:spcBef>
                <a:spcPts val="40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Shift budget to best cost per enquiry</a:t>
            </a:r>
            <a:endParaRPr b="0" i="0" sz="900" u="none" cap="none" strike="noStrike">
              <a:solidFill>
                <a:schemeClr val="dk1"/>
              </a:solidFill>
              <a:latin typeface="Calibri"/>
              <a:ea typeface="Calibri"/>
              <a:cs typeface="Calibri"/>
              <a:sym typeface="Calibri"/>
            </a:endParaRPr>
          </a:p>
          <a:p>
            <a:pPr indent="-114300" lvl="0" marL="114300" marR="0" rtl="0" algn="l">
              <a:lnSpc>
                <a:spcPct val="100000"/>
              </a:lnSpc>
              <a:spcBef>
                <a:spcPts val="40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Expand strongest treatment areas</a:t>
            </a:r>
            <a:endParaRPr b="0" i="0" sz="900" u="none" cap="none" strike="noStrike">
              <a:solidFill>
                <a:schemeClr val="dk1"/>
              </a:solidFill>
              <a:latin typeface="Calibri"/>
              <a:ea typeface="Calibri"/>
              <a:cs typeface="Calibri"/>
              <a:sym typeface="Calibri"/>
            </a:endParaRPr>
          </a:p>
        </p:txBody>
      </p:sp>
      <p:sp>
        <p:nvSpPr>
          <p:cNvPr id="1511" name="Google Shape;1511;p31"/>
          <p:cNvSpPr/>
          <p:nvPr/>
        </p:nvSpPr>
        <p:spPr>
          <a:xfrm>
            <a:off x="9989820" y="2697480"/>
            <a:ext cx="1696212" cy="3246120"/>
          </a:xfrm>
          <a:prstGeom prst="roundRect">
            <a:avLst>
              <a:gd fmla="val 4405" name="adj"/>
            </a:avLst>
          </a:prstGeom>
          <a:solidFill>
            <a:srgbClr val="FFFFFF"/>
          </a:solidFill>
          <a:ln cap="flat" cmpd="sng" w="12700">
            <a:solidFill>
              <a:srgbClr val="EBEEED"/>
            </a:solidFill>
            <a:prstDash val="solid"/>
            <a:round/>
            <a:headEnd len="sm" w="sm" type="none"/>
            <a:tailEnd len="sm" w="sm" type="none"/>
          </a:ln>
          <a:effectLst>
            <a:outerShdw blurRad="88900" rotWithShape="0" algn="bl" dir="5400000" dist="38100">
              <a:srgbClr val="1A262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2" name="Google Shape;1512;p31"/>
          <p:cNvSpPr/>
          <p:nvPr/>
        </p:nvSpPr>
        <p:spPr>
          <a:xfrm>
            <a:off x="10536174" y="2990088"/>
            <a:ext cx="603504" cy="603504"/>
          </a:xfrm>
          <a:prstGeom prst="ellipse">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award_white.png" id="1513" name="Google Shape;1513;p31"/>
          <p:cNvPicPr preferRelativeResize="0"/>
          <p:nvPr/>
        </p:nvPicPr>
        <p:blipFill rotWithShape="1">
          <a:blip r:embed="rId8">
            <a:alphaModFix/>
          </a:blip>
          <a:srcRect b="0" l="0" r="0" t="0"/>
          <a:stretch/>
        </p:blipFill>
        <p:spPr>
          <a:xfrm>
            <a:off x="10691622" y="3145536"/>
            <a:ext cx="292608" cy="292608"/>
          </a:xfrm>
          <a:prstGeom prst="rect">
            <a:avLst/>
          </a:prstGeom>
          <a:noFill/>
          <a:ln>
            <a:noFill/>
          </a:ln>
        </p:spPr>
      </p:pic>
      <p:sp>
        <p:nvSpPr>
          <p:cNvPr id="1514" name="Google Shape;1514;p31"/>
          <p:cNvSpPr/>
          <p:nvPr/>
        </p:nvSpPr>
        <p:spPr>
          <a:xfrm>
            <a:off x="10064542" y="3721608"/>
            <a:ext cx="1546766" cy="23774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6A879"/>
              </a:buClr>
              <a:buSzPts val="1050"/>
              <a:buFont typeface="Poppins"/>
              <a:buNone/>
            </a:pPr>
            <a:r>
              <a:rPr b="1" i="0" lang="en-US" sz="900" u="none" cap="none" strike="noStrike">
                <a:solidFill>
                  <a:srgbClr val="16A879"/>
                </a:solidFill>
                <a:latin typeface="Poppins"/>
                <a:ea typeface="Poppins"/>
                <a:cs typeface="Poppins"/>
                <a:sym typeface="Poppins"/>
              </a:rPr>
              <a:t>MONTH 6</a:t>
            </a:r>
            <a:endParaRPr b="0" i="0" sz="1050" u="none" cap="none" strike="noStrike">
              <a:solidFill>
                <a:schemeClr val="dk1"/>
              </a:solidFill>
              <a:latin typeface="Calibri"/>
              <a:ea typeface="Calibri"/>
              <a:cs typeface="Calibri"/>
              <a:sym typeface="Calibri"/>
            </a:endParaRPr>
          </a:p>
        </p:txBody>
      </p:sp>
      <p:sp>
        <p:nvSpPr>
          <p:cNvPr id="1515" name="Google Shape;1515;p31"/>
          <p:cNvSpPr/>
          <p:nvPr/>
        </p:nvSpPr>
        <p:spPr>
          <a:xfrm>
            <a:off x="10049598" y="3941064"/>
            <a:ext cx="1576655" cy="548640"/>
          </a:xfrm>
          <a:prstGeom prst="rect">
            <a:avLst/>
          </a:prstGeom>
          <a:noFill/>
          <a:ln>
            <a:noFill/>
          </a:ln>
        </p:spPr>
        <p:txBody>
          <a:bodyPr anchorCtr="0" anchor="t" bIns="45700" lIns="91425" spcFirstLastPara="1" rIns="91425" wrap="square" tIns="45700">
            <a:noAutofit/>
          </a:bodyPr>
          <a:lstStyle/>
          <a:p>
            <a:pPr indent="0" lvl="0" marL="0" marR="0" rtl="0" algn="ctr">
              <a:lnSpc>
                <a:spcPct val="115384"/>
              </a:lnSpc>
              <a:spcBef>
                <a:spcPts val="0"/>
              </a:spcBef>
              <a:spcAft>
                <a:spcPts val="0"/>
              </a:spcAft>
              <a:buClr>
                <a:srgbClr val="2B2E2C"/>
              </a:buClr>
              <a:buSzPts val="1300"/>
              <a:buFont typeface="Poppins"/>
              <a:buNone/>
            </a:pPr>
            <a:r>
              <a:rPr b="1" i="0" lang="en-US" sz="1100" u="none" cap="none" strike="noStrike">
                <a:solidFill>
                  <a:srgbClr val="2B2E2C"/>
                </a:solidFill>
                <a:latin typeface="Poppins"/>
                <a:ea typeface="Poppins"/>
                <a:cs typeface="Poppins"/>
                <a:sym typeface="Poppins"/>
              </a:rPr>
              <a:t>Review &amp; Plan Ahead</a:t>
            </a:r>
            <a:endParaRPr b="0" i="0" sz="1300" u="none" cap="none" strike="noStrike">
              <a:solidFill>
                <a:schemeClr val="dk1"/>
              </a:solidFill>
              <a:latin typeface="Calibri"/>
              <a:ea typeface="Calibri"/>
              <a:cs typeface="Calibri"/>
              <a:sym typeface="Calibri"/>
            </a:endParaRPr>
          </a:p>
        </p:txBody>
      </p:sp>
      <p:cxnSp>
        <p:nvCxnSpPr>
          <p:cNvPr id="1516" name="Google Shape;1516;p31"/>
          <p:cNvCxnSpPr/>
          <p:nvPr/>
        </p:nvCxnSpPr>
        <p:spPr>
          <a:xfrm>
            <a:off x="10213988" y="4507992"/>
            <a:ext cx="1247874" cy="0"/>
          </a:xfrm>
          <a:prstGeom prst="straightConnector1">
            <a:avLst/>
          </a:prstGeom>
          <a:noFill/>
          <a:ln cap="flat" cmpd="sng" w="12700">
            <a:solidFill>
              <a:srgbClr val="EBEEED"/>
            </a:solidFill>
            <a:prstDash val="solid"/>
            <a:round/>
            <a:headEnd len="sm" w="sm" type="none"/>
            <a:tailEnd len="sm" w="sm" type="none"/>
          </a:ln>
        </p:spPr>
      </p:cxnSp>
      <p:sp>
        <p:nvSpPr>
          <p:cNvPr id="1517" name="Google Shape;1517;p31"/>
          <p:cNvSpPr/>
          <p:nvPr/>
        </p:nvSpPr>
        <p:spPr>
          <a:xfrm>
            <a:off x="10124321" y="4599432"/>
            <a:ext cx="1442153" cy="1234440"/>
          </a:xfrm>
          <a:prstGeom prst="rect">
            <a:avLst/>
          </a:prstGeom>
          <a:noFill/>
          <a:ln>
            <a:noFill/>
          </a:ln>
        </p:spPr>
        <p:txBody>
          <a:bodyPr anchorCtr="0" anchor="t" bIns="45700" lIns="91425" spcFirstLastPara="1" rIns="91425" wrap="square" tIns="45700">
            <a:noAutofit/>
          </a:bodyPr>
          <a:lstStyle/>
          <a:p>
            <a:pPr indent="-114300" lvl="0" marL="114300" marR="0" rtl="0" algn="l">
              <a:lnSpc>
                <a:spcPct val="100000"/>
              </a:lnSpc>
              <a:spcBef>
                <a:spcPts val="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Full ROI &amp; cost-per-enquiry review</a:t>
            </a:r>
            <a:endParaRPr b="0" i="0" sz="900" u="none" cap="none" strike="noStrike">
              <a:solidFill>
                <a:schemeClr val="dk1"/>
              </a:solidFill>
              <a:latin typeface="Calibri"/>
              <a:ea typeface="Calibri"/>
              <a:cs typeface="Calibri"/>
              <a:sym typeface="Calibri"/>
            </a:endParaRPr>
          </a:p>
          <a:p>
            <a:pPr indent="-114300" lvl="0" marL="114300" marR="0" rtl="0" algn="l">
              <a:lnSpc>
                <a:spcPct val="100000"/>
              </a:lnSpc>
              <a:spcBef>
                <a:spcPts val="40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Scale winners, cut waste</a:t>
            </a:r>
            <a:endParaRPr b="0" i="0" sz="900" u="none" cap="none" strike="noStrike">
              <a:solidFill>
                <a:schemeClr val="dk1"/>
              </a:solidFill>
              <a:latin typeface="Calibri"/>
              <a:ea typeface="Calibri"/>
              <a:cs typeface="Calibri"/>
              <a:sym typeface="Calibri"/>
            </a:endParaRPr>
          </a:p>
          <a:p>
            <a:pPr indent="-114300" lvl="0" marL="114300" marR="0" rtl="0" algn="l">
              <a:lnSpc>
                <a:spcPct val="100000"/>
              </a:lnSpc>
              <a:spcBef>
                <a:spcPts val="400"/>
              </a:spcBef>
              <a:spcAft>
                <a:spcPts val="0"/>
              </a:spcAft>
              <a:buClr>
                <a:srgbClr val="2B2E2C"/>
              </a:buClr>
              <a:buSzPts val="900"/>
              <a:buFont typeface="Calibri"/>
              <a:buChar char="•"/>
            </a:pPr>
            <a:r>
              <a:rPr b="0" i="0" lang="en-US" sz="750" u="none" cap="none" strike="noStrike">
                <a:solidFill>
                  <a:srgbClr val="2B2E2C"/>
                </a:solidFill>
                <a:latin typeface="Calibri"/>
                <a:ea typeface="Calibri"/>
                <a:cs typeface="Calibri"/>
                <a:sym typeface="Calibri"/>
              </a:rPr>
              <a:t>Agree next-phase growth plan</a:t>
            </a:r>
            <a:endParaRPr b="0" i="0" sz="900" u="none" cap="none" strike="noStrike">
              <a:solidFill>
                <a:schemeClr val="dk1"/>
              </a:solidFill>
              <a:latin typeface="Calibri"/>
              <a:ea typeface="Calibri"/>
              <a:cs typeface="Calibri"/>
              <a:sym typeface="Calibri"/>
            </a:endParaRPr>
          </a:p>
        </p:txBody>
      </p:sp>
      <p:sp>
        <p:nvSpPr>
          <p:cNvPr id="1518" name="Google Shape;1518;p31"/>
          <p:cNvSpPr/>
          <p:nvPr/>
        </p:nvSpPr>
        <p:spPr>
          <a:xfrm>
            <a:off x="502920" y="6437376"/>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900"/>
              <a:buFont typeface="Calibri"/>
              <a:buNone/>
            </a:pPr>
            <a:r>
              <a:rPr b="0" i="0" lang="en-US" sz="900" u="none" cap="none" strike="noStrike">
                <a:solidFill>
                  <a:srgbClr val="6E7873"/>
                </a:solidFill>
                <a:latin typeface="Calibri"/>
                <a:ea typeface="Calibri"/>
                <a:cs typeface="Calibri"/>
                <a:sym typeface="Calibri"/>
              </a:rPr>
              <a:t>London Real Skin   ·   Google Ads Proposal</a:t>
            </a:r>
            <a:endParaRPr b="0" i="0" sz="900" u="none" cap="none" strike="noStrike">
              <a:solidFill>
                <a:schemeClr val="dk1"/>
              </a:solidFill>
              <a:latin typeface="Calibri"/>
              <a:ea typeface="Calibri"/>
              <a:cs typeface="Calibri"/>
              <a:sym typeface="Calibri"/>
            </a:endParaRPr>
          </a:p>
        </p:txBody>
      </p:sp>
      <p:sp>
        <p:nvSpPr>
          <p:cNvPr id="1519" name="Google Shape;1519;p31"/>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100"/>
              <a:buFont typeface="Poppins"/>
              <a:buNone/>
            </a:pPr>
            <a:r>
              <a:rPr b="1" i="0" lang="en-US" sz="1100" u="none" cap="none" strike="noStrike">
                <a:solidFill>
                  <a:srgbClr val="16A879"/>
                </a:solidFill>
                <a:latin typeface="Poppins"/>
                <a:ea typeface="Poppins"/>
                <a:cs typeface="Poppins"/>
                <a:sym typeface="Poppins"/>
              </a:rPr>
              <a:t>31</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4" name="Shape 1524"/>
        <p:cNvGrpSpPr/>
        <p:nvPr/>
      </p:nvGrpSpPr>
      <p:grpSpPr>
        <a:xfrm>
          <a:off x="0" y="0"/>
          <a:ext cx="0" cy="0"/>
          <a:chOff x="0" y="0"/>
          <a:chExt cx="0" cy="0"/>
        </a:xfrm>
      </p:grpSpPr>
      <p:pic>
        <p:nvPicPr>
          <p:cNvPr descr="unpacked/ppt/media/image11.png" id="1525" name="Google Shape;1525;p32"/>
          <p:cNvPicPr preferRelativeResize="0"/>
          <p:nvPr/>
        </p:nvPicPr>
        <p:blipFill rotWithShape="1">
          <a:blip r:embed="rId3">
            <a:alphaModFix/>
          </a:blip>
          <a:srcRect b="0" l="0" r="0" t="0"/>
          <a:stretch/>
        </p:blipFill>
        <p:spPr>
          <a:xfrm>
            <a:off x="502920" y="384048"/>
            <a:ext cx="1335024" cy="384048"/>
          </a:xfrm>
          <a:prstGeom prst="rect">
            <a:avLst/>
          </a:prstGeom>
          <a:noFill/>
          <a:ln>
            <a:noFill/>
          </a:ln>
        </p:spPr>
      </p:pic>
      <p:sp>
        <p:nvSpPr>
          <p:cNvPr id="1526" name="Google Shape;1526;p32"/>
          <p:cNvSpPr/>
          <p:nvPr/>
        </p:nvSpPr>
        <p:spPr>
          <a:xfrm>
            <a:off x="8503920" y="384048"/>
            <a:ext cx="3154680" cy="36576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6A879"/>
              </a:buClr>
              <a:buSzPts val="1500"/>
              <a:buFont typeface="Poppins"/>
              <a:buNone/>
            </a:pPr>
            <a:r>
              <a:rPr b="1" i="0" lang="en-US" sz="1500" u="none" cap="none" strike="noStrike">
                <a:solidFill>
                  <a:srgbClr val="16A879"/>
                </a:solidFill>
                <a:latin typeface="Poppins"/>
                <a:ea typeface="Poppins"/>
                <a:cs typeface="Poppins"/>
                <a:sym typeface="Poppins"/>
              </a:rPr>
              <a:t>Forecast</a:t>
            </a:r>
            <a:endParaRPr b="0" i="0" sz="1500" u="none" cap="none" strike="noStrike">
              <a:solidFill>
                <a:schemeClr val="dk1"/>
              </a:solidFill>
              <a:latin typeface="Calibri"/>
              <a:ea typeface="Calibri"/>
              <a:cs typeface="Calibri"/>
              <a:sym typeface="Calibri"/>
            </a:endParaRPr>
          </a:p>
        </p:txBody>
      </p:sp>
      <p:sp>
        <p:nvSpPr>
          <p:cNvPr id="1527" name="Google Shape;1527;p32"/>
          <p:cNvSpPr/>
          <p:nvPr/>
        </p:nvSpPr>
        <p:spPr>
          <a:xfrm>
            <a:off x="502920" y="1024128"/>
            <a:ext cx="100584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6A879"/>
              </a:buClr>
              <a:buSzPts val="1250"/>
              <a:buFont typeface="Poppins"/>
              <a:buNone/>
            </a:pPr>
            <a:r>
              <a:rPr b="1" i="0" lang="en-US" sz="1250" u="none" cap="none" strike="noStrike">
                <a:solidFill>
                  <a:srgbClr val="16A879"/>
                </a:solidFill>
                <a:latin typeface="Poppins"/>
                <a:ea typeface="Poppins"/>
                <a:cs typeface="Poppins"/>
                <a:sym typeface="Poppins"/>
              </a:rPr>
              <a:t>FORECAST</a:t>
            </a:r>
            <a:endParaRPr b="0" i="0" sz="1250" u="none" cap="none" strike="noStrike">
              <a:solidFill>
                <a:schemeClr val="dk1"/>
              </a:solidFill>
              <a:latin typeface="Calibri"/>
              <a:ea typeface="Calibri"/>
              <a:cs typeface="Calibri"/>
              <a:sym typeface="Calibri"/>
            </a:endParaRPr>
          </a:p>
        </p:txBody>
      </p:sp>
      <p:sp>
        <p:nvSpPr>
          <p:cNvPr id="1528" name="Google Shape;1528;p32"/>
          <p:cNvSpPr/>
          <p:nvPr/>
        </p:nvSpPr>
        <p:spPr>
          <a:xfrm>
            <a:off x="457200" y="1280160"/>
            <a:ext cx="11247120"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3300"/>
              <a:buFont typeface="Poppins"/>
              <a:buNone/>
            </a:pPr>
            <a:r>
              <a:rPr b="1" i="0" lang="en-US" sz="3300" u="none" cap="none" strike="noStrike">
                <a:solidFill>
                  <a:srgbClr val="2B2E2C"/>
                </a:solidFill>
                <a:latin typeface="Poppins"/>
                <a:ea typeface="Poppins"/>
                <a:cs typeface="Poppins"/>
                <a:sym typeface="Poppins"/>
              </a:rPr>
              <a:t>Expected Clicks, Enquiries &amp; Cost</a:t>
            </a:r>
            <a:endParaRPr b="0" i="0" sz="3300" u="none" cap="none" strike="noStrike">
              <a:solidFill>
                <a:schemeClr val="dk1"/>
              </a:solidFill>
              <a:latin typeface="Calibri"/>
              <a:ea typeface="Calibri"/>
              <a:cs typeface="Calibri"/>
              <a:sym typeface="Calibri"/>
            </a:endParaRPr>
          </a:p>
        </p:txBody>
      </p:sp>
      <p:sp>
        <p:nvSpPr>
          <p:cNvPr id="1529" name="Google Shape;1529;p32"/>
          <p:cNvSpPr/>
          <p:nvPr/>
        </p:nvSpPr>
        <p:spPr>
          <a:xfrm>
            <a:off x="502920" y="1993392"/>
            <a:ext cx="1115568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E7873"/>
              </a:buClr>
              <a:buSzPts val="1350"/>
              <a:buFont typeface="Calibri"/>
              <a:buNone/>
            </a:pPr>
            <a:r>
              <a:rPr b="0" i="0" lang="en-US" sz="1350" u="none" cap="none" strike="noStrike">
                <a:solidFill>
                  <a:srgbClr val="6E7873"/>
                </a:solidFill>
                <a:latin typeface="Calibri"/>
                <a:ea typeface="Calibri"/>
                <a:cs typeface="Calibri"/>
                <a:sym typeface="Calibri"/>
              </a:rPr>
              <a:t>Per-campaign projection — EmBody at £40/day (≈ £1,216/month) and EmFace at £20/day (≈ £608/month). Figures are illustrative; Central London volume means spend and clicks will ramp over the first weeks.</a:t>
            </a:r>
            <a:endParaRPr b="0" i="0" sz="1350" u="none" cap="none" strike="noStrike">
              <a:solidFill>
                <a:schemeClr val="dk1"/>
              </a:solidFill>
              <a:latin typeface="Calibri"/>
              <a:ea typeface="Calibri"/>
              <a:cs typeface="Calibri"/>
              <a:sym typeface="Calibri"/>
            </a:endParaRPr>
          </a:p>
        </p:txBody>
      </p:sp>
      <p:sp>
        <p:nvSpPr>
          <p:cNvPr id="1530" name="Google Shape;1530;p32"/>
          <p:cNvSpPr/>
          <p:nvPr/>
        </p:nvSpPr>
        <p:spPr>
          <a:xfrm>
            <a:off x="502920" y="2542032"/>
            <a:ext cx="5440680" cy="457200"/>
          </a:xfrm>
          <a:prstGeom prst="rect">
            <a:avLst/>
          </a:prstGeom>
          <a:solidFill>
            <a:srgbClr val="1A262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p32"/>
          <p:cNvSpPr/>
          <p:nvPr/>
        </p:nvSpPr>
        <p:spPr>
          <a:xfrm>
            <a:off x="667512" y="2542032"/>
            <a:ext cx="516636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400"/>
              <a:buFont typeface="Poppins"/>
              <a:buNone/>
            </a:pPr>
            <a:r>
              <a:rPr b="1" i="0" lang="en-US" sz="1400" u="none" cap="none" strike="noStrike">
                <a:solidFill>
                  <a:srgbClr val="FFFFFF"/>
                </a:solidFill>
                <a:latin typeface="Poppins"/>
                <a:ea typeface="Poppins"/>
                <a:cs typeface="Poppins"/>
                <a:sym typeface="Poppins"/>
              </a:rPr>
              <a:t>EmBody / EMSCULPT NEO · £40/day</a:t>
            </a:r>
            <a:endParaRPr b="0" i="0" sz="1400" u="none" cap="none" strike="noStrike">
              <a:solidFill>
                <a:schemeClr val="dk1"/>
              </a:solidFill>
              <a:latin typeface="Calibri"/>
              <a:ea typeface="Calibri"/>
              <a:cs typeface="Calibri"/>
              <a:sym typeface="Calibri"/>
            </a:endParaRPr>
          </a:p>
        </p:txBody>
      </p:sp>
      <p:graphicFrame>
        <p:nvGraphicFramePr>
          <p:cNvPr id="1532" name="Google Shape;1532;p32"/>
          <p:cNvGraphicFramePr/>
          <p:nvPr/>
        </p:nvGraphicFramePr>
        <p:xfrm>
          <a:off x="502920" y="3035808"/>
          <a:ext cx="3000000" cy="3000000"/>
        </p:xfrm>
        <a:graphic>
          <a:graphicData uri="http://schemas.openxmlformats.org/drawingml/2006/table">
            <a:tbl>
              <a:tblPr>
                <a:noFill/>
                <a:tableStyleId>{410B05DD-16F8-4F00-A4F7-33E39A4E558B}</a:tableStyleId>
              </a:tblPr>
              <a:tblGrid>
                <a:gridCol w="2103125"/>
                <a:gridCol w="1079000"/>
                <a:gridCol w="1207000"/>
                <a:gridCol w="1051550"/>
              </a:tblGrid>
              <a:tr h="365750">
                <a:tc>
                  <a:txBody>
                    <a:bodyPr/>
                    <a:lstStyle/>
                    <a:p>
                      <a:pPr indent="0" lvl="0" marL="0" marR="0" rtl="0" algn="l">
                        <a:lnSpc>
                          <a:spcPct val="100000"/>
                        </a:lnSpc>
                        <a:spcBef>
                          <a:spcPts val="0"/>
                        </a:spcBef>
                        <a:spcAft>
                          <a:spcPts val="0"/>
                        </a:spcAft>
                        <a:buClr>
                          <a:srgbClr val="FFFFFF"/>
                        </a:buClr>
                        <a:buSzPts val="1050"/>
                        <a:buFont typeface="Poppins"/>
                        <a:buNone/>
                      </a:pPr>
                      <a:r>
                        <a:rPr b="1" lang="en-US" sz="1050" u="none" cap="none" strike="noStrike">
                          <a:solidFill>
                            <a:srgbClr val="FFFFFF"/>
                          </a:solidFill>
                          <a:latin typeface="Poppins"/>
                          <a:ea typeface="Poppins"/>
                          <a:cs typeface="Poppins"/>
                          <a:sym typeface="Poppins"/>
                        </a:rPr>
                        <a:t>Metric</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ctr">
                        <a:lnSpc>
                          <a:spcPct val="100000"/>
                        </a:lnSpc>
                        <a:spcBef>
                          <a:spcPts val="0"/>
                        </a:spcBef>
                        <a:spcAft>
                          <a:spcPts val="0"/>
                        </a:spcAft>
                        <a:buClr>
                          <a:srgbClr val="FFFFFF"/>
                        </a:buClr>
                        <a:buSzPts val="1050"/>
                        <a:buFont typeface="Poppins"/>
                        <a:buNone/>
                      </a:pPr>
                      <a:r>
                        <a:rPr b="1" lang="en-US" sz="1050" u="none" cap="none" strike="noStrike">
                          <a:solidFill>
                            <a:srgbClr val="FFFFFF"/>
                          </a:solidFill>
                          <a:latin typeface="Poppins"/>
                          <a:ea typeface="Poppins"/>
                          <a:cs typeface="Poppins"/>
                          <a:sym typeface="Poppins"/>
                        </a:rPr>
                        <a:t>Cons.</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ctr">
                        <a:lnSpc>
                          <a:spcPct val="100000"/>
                        </a:lnSpc>
                        <a:spcBef>
                          <a:spcPts val="0"/>
                        </a:spcBef>
                        <a:spcAft>
                          <a:spcPts val="0"/>
                        </a:spcAft>
                        <a:buClr>
                          <a:srgbClr val="FFFFFF"/>
                        </a:buClr>
                        <a:buSzPts val="1050"/>
                        <a:buFont typeface="Poppins"/>
                        <a:buNone/>
                      </a:pPr>
                      <a:r>
                        <a:rPr b="1" lang="en-US" sz="1050" u="none" cap="none" strike="noStrike">
                          <a:solidFill>
                            <a:srgbClr val="FFFFFF"/>
                          </a:solidFill>
                          <a:latin typeface="Poppins"/>
                          <a:ea typeface="Poppins"/>
                          <a:cs typeface="Poppins"/>
                          <a:sym typeface="Poppins"/>
                        </a:rPr>
                        <a:t>Expected</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ctr">
                        <a:lnSpc>
                          <a:spcPct val="100000"/>
                        </a:lnSpc>
                        <a:spcBef>
                          <a:spcPts val="0"/>
                        </a:spcBef>
                        <a:spcAft>
                          <a:spcPts val="0"/>
                        </a:spcAft>
                        <a:buClr>
                          <a:srgbClr val="FFFFFF"/>
                        </a:buClr>
                        <a:buSzPts val="1050"/>
                        <a:buFont typeface="Poppins"/>
                        <a:buNone/>
                      </a:pPr>
                      <a:r>
                        <a:rPr b="1" lang="en-US" sz="1050" u="none" cap="none" strike="noStrike">
                          <a:solidFill>
                            <a:srgbClr val="FFFFFF"/>
                          </a:solidFill>
                          <a:latin typeface="Poppins"/>
                          <a:ea typeface="Poppins"/>
                          <a:cs typeface="Poppins"/>
                          <a:sym typeface="Poppins"/>
                        </a:rPr>
                        <a:t>Opt.</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r>
              <a:tr h="365750">
                <a:tc>
                  <a:txBody>
                    <a:bodyPr/>
                    <a:lstStyle/>
                    <a:p>
                      <a:pPr indent="0" lvl="0" marL="0" marR="0" rtl="0" algn="l">
                        <a:lnSpc>
                          <a:spcPct val="100000"/>
                        </a:lnSpc>
                        <a:spcBef>
                          <a:spcPts val="0"/>
                        </a:spcBef>
                        <a:spcAft>
                          <a:spcPts val="0"/>
                        </a:spcAft>
                        <a:buClr>
                          <a:srgbClr val="2B2E2C"/>
                        </a:buClr>
                        <a:buSzPts val="1050"/>
                        <a:buFont typeface="Poppins"/>
                        <a:buNone/>
                      </a:pPr>
                      <a:r>
                        <a:rPr b="1" lang="en-US" sz="1050" u="none" cap="none" strike="noStrike">
                          <a:solidFill>
                            <a:srgbClr val="2B2E2C"/>
                          </a:solidFill>
                          <a:latin typeface="Poppins"/>
                          <a:ea typeface="Poppins"/>
                          <a:cs typeface="Poppins"/>
                          <a:sym typeface="Poppins"/>
                        </a:rPr>
                        <a:t>Avg. CPC (GBP)</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£3.20</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6A879"/>
                        </a:buClr>
                        <a:buSzPts val="1050"/>
                        <a:buFont typeface="Calibri"/>
                        <a:buNone/>
                      </a:pPr>
                      <a:r>
                        <a:rPr b="1" lang="en-US" sz="1050" u="none" cap="none" strike="noStrike">
                          <a:solidFill>
                            <a:srgbClr val="16A879"/>
                          </a:solidFill>
                          <a:latin typeface="Calibri"/>
                          <a:ea typeface="Calibri"/>
                          <a:cs typeface="Calibri"/>
                          <a:sym typeface="Calibri"/>
                        </a:rPr>
                        <a:t>£2.70</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£2.20</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2B2E2C"/>
                        </a:buClr>
                        <a:buSzPts val="1050"/>
                        <a:buFont typeface="Poppins"/>
                        <a:buNone/>
                      </a:pPr>
                      <a:r>
                        <a:rPr b="1" lang="en-US" sz="1050" u="none" cap="none" strike="noStrike">
                          <a:solidFill>
                            <a:srgbClr val="2B2E2C"/>
                          </a:solidFill>
                          <a:latin typeface="Poppins"/>
                          <a:ea typeface="Poppins"/>
                          <a:cs typeface="Poppins"/>
                          <a:sym typeface="Poppins"/>
                        </a:rPr>
                        <a:t>Monthly clicks</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~380</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16A879"/>
                        </a:buClr>
                        <a:buSzPts val="1050"/>
                        <a:buFont typeface="Calibri"/>
                        <a:buNone/>
                      </a:pPr>
                      <a:r>
                        <a:rPr b="1" lang="en-US" sz="1050" u="none" cap="none" strike="noStrike">
                          <a:solidFill>
                            <a:srgbClr val="16A879"/>
                          </a:solidFill>
                          <a:latin typeface="Calibri"/>
                          <a:ea typeface="Calibri"/>
                          <a:cs typeface="Calibri"/>
                          <a:sym typeface="Calibri"/>
                        </a:rPr>
                        <a:t>~450</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D5F0E6"/>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~553</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r>
              <a:tr h="365750">
                <a:tc>
                  <a:txBody>
                    <a:bodyPr/>
                    <a:lstStyle/>
                    <a:p>
                      <a:pPr indent="0" lvl="0" marL="0" marR="0" rtl="0" algn="l">
                        <a:lnSpc>
                          <a:spcPct val="100000"/>
                        </a:lnSpc>
                        <a:spcBef>
                          <a:spcPts val="0"/>
                        </a:spcBef>
                        <a:spcAft>
                          <a:spcPts val="0"/>
                        </a:spcAft>
                        <a:buClr>
                          <a:srgbClr val="2B2E2C"/>
                        </a:buClr>
                        <a:buSzPts val="1050"/>
                        <a:buFont typeface="Poppins"/>
                        <a:buNone/>
                      </a:pPr>
                      <a:r>
                        <a:rPr b="1" lang="en-US" sz="1050" u="none" cap="none" strike="noStrike">
                          <a:solidFill>
                            <a:srgbClr val="2B2E2C"/>
                          </a:solidFill>
                          <a:latin typeface="Poppins"/>
                          <a:ea typeface="Poppins"/>
                          <a:cs typeface="Poppins"/>
                          <a:sym typeface="Poppins"/>
                        </a:rPr>
                        <a:t>Click → enquiry</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3%</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6A879"/>
                        </a:buClr>
                        <a:buSzPts val="1050"/>
                        <a:buFont typeface="Calibri"/>
                        <a:buNone/>
                      </a:pPr>
                      <a:r>
                        <a:rPr b="1" lang="en-US" sz="1050" u="none" cap="none" strike="noStrike">
                          <a:solidFill>
                            <a:srgbClr val="16A879"/>
                          </a:solidFill>
                          <a:latin typeface="Calibri"/>
                          <a:ea typeface="Calibri"/>
                          <a:cs typeface="Calibri"/>
                          <a:sym typeface="Calibri"/>
                        </a:rPr>
                        <a:t>4%</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5%</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2B2E2C"/>
                        </a:buClr>
                        <a:buSzPts val="1050"/>
                        <a:buFont typeface="Poppins"/>
                        <a:buNone/>
                      </a:pPr>
                      <a:r>
                        <a:rPr b="1" lang="en-US" sz="1050" u="none" cap="none" strike="noStrike">
                          <a:solidFill>
                            <a:srgbClr val="2B2E2C"/>
                          </a:solidFill>
                          <a:latin typeface="Poppins"/>
                          <a:ea typeface="Poppins"/>
                          <a:cs typeface="Poppins"/>
                          <a:sym typeface="Poppins"/>
                        </a:rPr>
                        <a:t>Monthly enquiries</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~11</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16A879"/>
                        </a:buClr>
                        <a:buSzPts val="1050"/>
                        <a:buFont typeface="Calibri"/>
                        <a:buNone/>
                      </a:pPr>
                      <a:r>
                        <a:rPr b="1" lang="en-US" sz="1050" u="none" cap="none" strike="noStrike">
                          <a:solidFill>
                            <a:srgbClr val="16A879"/>
                          </a:solidFill>
                          <a:latin typeface="Calibri"/>
                          <a:ea typeface="Calibri"/>
                          <a:cs typeface="Calibri"/>
                          <a:sym typeface="Calibri"/>
                        </a:rPr>
                        <a:t>~18</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D5F0E6"/>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~28</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r>
              <a:tr h="365750">
                <a:tc>
                  <a:txBody>
                    <a:bodyPr/>
                    <a:lstStyle/>
                    <a:p>
                      <a:pPr indent="0" lvl="0" marL="0" marR="0" rtl="0" algn="l">
                        <a:lnSpc>
                          <a:spcPct val="100000"/>
                        </a:lnSpc>
                        <a:spcBef>
                          <a:spcPts val="0"/>
                        </a:spcBef>
                        <a:spcAft>
                          <a:spcPts val="0"/>
                        </a:spcAft>
                        <a:buClr>
                          <a:srgbClr val="2B2E2C"/>
                        </a:buClr>
                        <a:buSzPts val="1050"/>
                        <a:buFont typeface="Poppins"/>
                        <a:buNone/>
                      </a:pPr>
                      <a:r>
                        <a:rPr b="1" lang="en-US" sz="1050" u="none" cap="none" strike="noStrike">
                          <a:solidFill>
                            <a:srgbClr val="2B2E2C"/>
                          </a:solidFill>
                          <a:latin typeface="Poppins"/>
                          <a:ea typeface="Poppins"/>
                          <a:cs typeface="Poppins"/>
                          <a:sym typeface="Poppins"/>
                        </a:rPr>
                        <a:t>Cost per enquiry</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£111</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6A879"/>
                        </a:buClr>
                        <a:buSzPts val="1050"/>
                        <a:buFont typeface="Calibri"/>
                        <a:buNone/>
                      </a:pPr>
                      <a:r>
                        <a:rPr b="1" lang="en-US" sz="1050" u="none" cap="none" strike="noStrike">
                          <a:solidFill>
                            <a:srgbClr val="16A879"/>
                          </a:solidFill>
                          <a:latin typeface="Calibri"/>
                          <a:ea typeface="Calibri"/>
                          <a:cs typeface="Calibri"/>
                          <a:sym typeface="Calibri"/>
                        </a:rPr>
                        <a:t>£68</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£43</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r>
            </a:tbl>
          </a:graphicData>
        </a:graphic>
      </p:graphicFrame>
      <p:sp>
        <p:nvSpPr>
          <p:cNvPr id="1533" name="Google Shape;1533;p32"/>
          <p:cNvSpPr/>
          <p:nvPr/>
        </p:nvSpPr>
        <p:spPr>
          <a:xfrm>
            <a:off x="6245352" y="2542032"/>
            <a:ext cx="5440680" cy="457200"/>
          </a:xfrm>
          <a:prstGeom prst="rect">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4" name="Google Shape;1534;p32"/>
          <p:cNvSpPr/>
          <p:nvPr/>
        </p:nvSpPr>
        <p:spPr>
          <a:xfrm>
            <a:off x="6409944" y="2542032"/>
            <a:ext cx="516636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2620"/>
              </a:buClr>
              <a:buSzPts val="1400"/>
              <a:buFont typeface="Poppins"/>
              <a:buNone/>
            </a:pPr>
            <a:r>
              <a:rPr b="1" i="0" lang="en-US" sz="1400" u="none" cap="none" strike="noStrike">
                <a:solidFill>
                  <a:srgbClr val="1A2620"/>
                </a:solidFill>
                <a:latin typeface="Poppins"/>
                <a:ea typeface="Poppins"/>
                <a:cs typeface="Poppins"/>
                <a:sym typeface="Poppins"/>
              </a:rPr>
              <a:t>EmFace · £20/day</a:t>
            </a:r>
            <a:endParaRPr b="0" i="0" sz="1400" u="none" cap="none" strike="noStrike">
              <a:solidFill>
                <a:schemeClr val="dk1"/>
              </a:solidFill>
              <a:latin typeface="Calibri"/>
              <a:ea typeface="Calibri"/>
              <a:cs typeface="Calibri"/>
              <a:sym typeface="Calibri"/>
            </a:endParaRPr>
          </a:p>
        </p:txBody>
      </p:sp>
      <p:graphicFrame>
        <p:nvGraphicFramePr>
          <p:cNvPr id="1535" name="Google Shape;1535;p32"/>
          <p:cNvGraphicFramePr/>
          <p:nvPr/>
        </p:nvGraphicFramePr>
        <p:xfrm>
          <a:off x="6245352" y="3035808"/>
          <a:ext cx="3000000" cy="3000000"/>
        </p:xfrm>
        <a:graphic>
          <a:graphicData uri="http://schemas.openxmlformats.org/drawingml/2006/table">
            <a:tbl>
              <a:tblPr>
                <a:noFill/>
                <a:tableStyleId>{410B05DD-16F8-4F00-A4F7-33E39A4E558B}</a:tableStyleId>
              </a:tblPr>
              <a:tblGrid>
                <a:gridCol w="2103125"/>
                <a:gridCol w="1079000"/>
                <a:gridCol w="1207000"/>
                <a:gridCol w="1051550"/>
              </a:tblGrid>
              <a:tr h="365750">
                <a:tc>
                  <a:txBody>
                    <a:bodyPr/>
                    <a:lstStyle/>
                    <a:p>
                      <a:pPr indent="0" lvl="0" marL="0" marR="0" rtl="0" algn="l">
                        <a:lnSpc>
                          <a:spcPct val="100000"/>
                        </a:lnSpc>
                        <a:spcBef>
                          <a:spcPts val="0"/>
                        </a:spcBef>
                        <a:spcAft>
                          <a:spcPts val="0"/>
                        </a:spcAft>
                        <a:buClr>
                          <a:srgbClr val="FFFFFF"/>
                        </a:buClr>
                        <a:buSzPts val="1050"/>
                        <a:buFont typeface="Poppins"/>
                        <a:buNone/>
                      </a:pPr>
                      <a:r>
                        <a:rPr b="1" lang="en-US" sz="1050" u="none" cap="none" strike="noStrike">
                          <a:solidFill>
                            <a:srgbClr val="FFFFFF"/>
                          </a:solidFill>
                          <a:latin typeface="Poppins"/>
                          <a:ea typeface="Poppins"/>
                          <a:cs typeface="Poppins"/>
                          <a:sym typeface="Poppins"/>
                        </a:rPr>
                        <a:t>Metric</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ctr">
                        <a:lnSpc>
                          <a:spcPct val="100000"/>
                        </a:lnSpc>
                        <a:spcBef>
                          <a:spcPts val="0"/>
                        </a:spcBef>
                        <a:spcAft>
                          <a:spcPts val="0"/>
                        </a:spcAft>
                        <a:buClr>
                          <a:srgbClr val="FFFFFF"/>
                        </a:buClr>
                        <a:buSzPts val="1050"/>
                        <a:buFont typeface="Poppins"/>
                        <a:buNone/>
                      </a:pPr>
                      <a:r>
                        <a:rPr b="1" lang="en-US" sz="1050" u="none" cap="none" strike="noStrike">
                          <a:solidFill>
                            <a:srgbClr val="FFFFFF"/>
                          </a:solidFill>
                          <a:latin typeface="Poppins"/>
                          <a:ea typeface="Poppins"/>
                          <a:cs typeface="Poppins"/>
                          <a:sym typeface="Poppins"/>
                        </a:rPr>
                        <a:t>Cons.</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ctr">
                        <a:lnSpc>
                          <a:spcPct val="100000"/>
                        </a:lnSpc>
                        <a:spcBef>
                          <a:spcPts val="0"/>
                        </a:spcBef>
                        <a:spcAft>
                          <a:spcPts val="0"/>
                        </a:spcAft>
                        <a:buClr>
                          <a:srgbClr val="FFFFFF"/>
                        </a:buClr>
                        <a:buSzPts val="1050"/>
                        <a:buFont typeface="Poppins"/>
                        <a:buNone/>
                      </a:pPr>
                      <a:r>
                        <a:rPr b="1" lang="en-US" sz="1050" u="none" cap="none" strike="noStrike">
                          <a:solidFill>
                            <a:srgbClr val="FFFFFF"/>
                          </a:solidFill>
                          <a:latin typeface="Poppins"/>
                          <a:ea typeface="Poppins"/>
                          <a:cs typeface="Poppins"/>
                          <a:sym typeface="Poppins"/>
                        </a:rPr>
                        <a:t>Expected</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c>
                  <a:txBody>
                    <a:bodyPr/>
                    <a:lstStyle/>
                    <a:p>
                      <a:pPr indent="0" lvl="0" marL="0" marR="0" rtl="0" algn="ctr">
                        <a:lnSpc>
                          <a:spcPct val="100000"/>
                        </a:lnSpc>
                        <a:spcBef>
                          <a:spcPts val="0"/>
                        </a:spcBef>
                        <a:spcAft>
                          <a:spcPts val="0"/>
                        </a:spcAft>
                        <a:buClr>
                          <a:srgbClr val="FFFFFF"/>
                        </a:buClr>
                        <a:buSzPts val="1050"/>
                        <a:buFont typeface="Poppins"/>
                        <a:buNone/>
                      </a:pPr>
                      <a:r>
                        <a:rPr b="1" lang="en-US" sz="1050" u="none" cap="none" strike="noStrike">
                          <a:solidFill>
                            <a:srgbClr val="FFFFFF"/>
                          </a:solidFill>
                          <a:latin typeface="Poppins"/>
                          <a:ea typeface="Poppins"/>
                          <a:cs typeface="Poppins"/>
                          <a:sym typeface="Poppins"/>
                        </a:rPr>
                        <a:t>Opt.</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1A2620"/>
                    </a:solidFill>
                  </a:tcPr>
                </a:tc>
              </a:tr>
              <a:tr h="365750">
                <a:tc>
                  <a:txBody>
                    <a:bodyPr/>
                    <a:lstStyle/>
                    <a:p>
                      <a:pPr indent="0" lvl="0" marL="0" marR="0" rtl="0" algn="l">
                        <a:lnSpc>
                          <a:spcPct val="100000"/>
                        </a:lnSpc>
                        <a:spcBef>
                          <a:spcPts val="0"/>
                        </a:spcBef>
                        <a:spcAft>
                          <a:spcPts val="0"/>
                        </a:spcAft>
                        <a:buClr>
                          <a:srgbClr val="2B2E2C"/>
                        </a:buClr>
                        <a:buSzPts val="1050"/>
                        <a:buFont typeface="Poppins"/>
                        <a:buNone/>
                      </a:pPr>
                      <a:r>
                        <a:rPr b="1" lang="en-US" sz="1050" u="none" cap="none" strike="noStrike">
                          <a:solidFill>
                            <a:srgbClr val="2B2E2C"/>
                          </a:solidFill>
                          <a:latin typeface="Poppins"/>
                          <a:ea typeface="Poppins"/>
                          <a:cs typeface="Poppins"/>
                          <a:sym typeface="Poppins"/>
                        </a:rPr>
                        <a:t>Avg. CPC (GBP)</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£3.00</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6A879"/>
                        </a:buClr>
                        <a:buSzPts val="1050"/>
                        <a:buFont typeface="Calibri"/>
                        <a:buNone/>
                      </a:pPr>
                      <a:r>
                        <a:rPr b="1" lang="en-US" sz="1050" u="none" cap="none" strike="noStrike">
                          <a:solidFill>
                            <a:srgbClr val="16A879"/>
                          </a:solidFill>
                          <a:latin typeface="Calibri"/>
                          <a:ea typeface="Calibri"/>
                          <a:cs typeface="Calibri"/>
                          <a:sym typeface="Calibri"/>
                        </a:rPr>
                        <a:t>£2.50</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£2.00</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2B2E2C"/>
                        </a:buClr>
                        <a:buSzPts val="1050"/>
                        <a:buFont typeface="Poppins"/>
                        <a:buNone/>
                      </a:pPr>
                      <a:r>
                        <a:rPr b="1" lang="en-US" sz="1050" u="none" cap="none" strike="noStrike">
                          <a:solidFill>
                            <a:srgbClr val="2B2E2C"/>
                          </a:solidFill>
                          <a:latin typeface="Poppins"/>
                          <a:ea typeface="Poppins"/>
                          <a:cs typeface="Poppins"/>
                          <a:sym typeface="Poppins"/>
                        </a:rPr>
                        <a:t>Monthly clicks</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~203</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16A879"/>
                        </a:buClr>
                        <a:buSzPts val="1050"/>
                        <a:buFont typeface="Calibri"/>
                        <a:buNone/>
                      </a:pPr>
                      <a:r>
                        <a:rPr b="1" lang="en-US" sz="1050" u="none" cap="none" strike="noStrike">
                          <a:solidFill>
                            <a:srgbClr val="16A879"/>
                          </a:solidFill>
                          <a:latin typeface="Calibri"/>
                          <a:ea typeface="Calibri"/>
                          <a:cs typeface="Calibri"/>
                          <a:sym typeface="Calibri"/>
                        </a:rPr>
                        <a:t>~243</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D5F0E6"/>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~304</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r>
              <a:tr h="365750">
                <a:tc>
                  <a:txBody>
                    <a:bodyPr/>
                    <a:lstStyle/>
                    <a:p>
                      <a:pPr indent="0" lvl="0" marL="0" marR="0" rtl="0" algn="l">
                        <a:lnSpc>
                          <a:spcPct val="100000"/>
                        </a:lnSpc>
                        <a:spcBef>
                          <a:spcPts val="0"/>
                        </a:spcBef>
                        <a:spcAft>
                          <a:spcPts val="0"/>
                        </a:spcAft>
                        <a:buClr>
                          <a:srgbClr val="2B2E2C"/>
                        </a:buClr>
                        <a:buSzPts val="1050"/>
                        <a:buFont typeface="Poppins"/>
                        <a:buNone/>
                      </a:pPr>
                      <a:r>
                        <a:rPr b="1" lang="en-US" sz="1050" u="none" cap="none" strike="noStrike">
                          <a:solidFill>
                            <a:srgbClr val="2B2E2C"/>
                          </a:solidFill>
                          <a:latin typeface="Poppins"/>
                          <a:ea typeface="Poppins"/>
                          <a:cs typeface="Poppins"/>
                          <a:sym typeface="Poppins"/>
                        </a:rPr>
                        <a:t>Click → enquiry</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3%</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6A879"/>
                        </a:buClr>
                        <a:buSzPts val="1050"/>
                        <a:buFont typeface="Calibri"/>
                        <a:buNone/>
                      </a:pPr>
                      <a:r>
                        <a:rPr b="1" lang="en-US" sz="1050" u="none" cap="none" strike="noStrike">
                          <a:solidFill>
                            <a:srgbClr val="16A879"/>
                          </a:solidFill>
                          <a:latin typeface="Calibri"/>
                          <a:ea typeface="Calibri"/>
                          <a:cs typeface="Calibri"/>
                          <a:sym typeface="Calibri"/>
                        </a:rPr>
                        <a:t>4%</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5%</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2B2E2C"/>
                        </a:buClr>
                        <a:buSzPts val="1050"/>
                        <a:buFont typeface="Poppins"/>
                        <a:buNone/>
                      </a:pPr>
                      <a:r>
                        <a:rPr b="1" lang="en-US" sz="1050" u="none" cap="none" strike="noStrike">
                          <a:solidFill>
                            <a:srgbClr val="2B2E2C"/>
                          </a:solidFill>
                          <a:latin typeface="Poppins"/>
                          <a:ea typeface="Poppins"/>
                          <a:cs typeface="Poppins"/>
                          <a:sym typeface="Poppins"/>
                        </a:rPr>
                        <a:t>Monthly enquiries</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~6</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16A879"/>
                        </a:buClr>
                        <a:buSzPts val="1050"/>
                        <a:buFont typeface="Calibri"/>
                        <a:buNone/>
                      </a:pPr>
                      <a:r>
                        <a:rPr b="1" lang="en-US" sz="1050" u="none" cap="none" strike="noStrike">
                          <a:solidFill>
                            <a:srgbClr val="16A879"/>
                          </a:solidFill>
                          <a:latin typeface="Calibri"/>
                          <a:ea typeface="Calibri"/>
                          <a:cs typeface="Calibri"/>
                          <a:sym typeface="Calibri"/>
                        </a:rPr>
                        <a:t>~10</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D5F0E6"/>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~15</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r>
              <a:tr h="365750">
                <a:tc>
                  <a:txBody>
                    <a:bodyPr/>
                    <a:lstStyle/>
                    <a:p>
                      <a:pPr indent="0" lvl="0" marL="0" marR="0" rtl="0" algn="l">
                        <a:lnSpc>
                          <a:spcPct val="100000"/>
                        </a:lnSpc>
                        <a:spcBef>
                          <a:spcPts val="0"/>
                        </a:spcBef>
                        <a:spcAft>
                          <a:spcPts val="0"/>
                        </a:spcAft>
                        <a:buClr>
                          <a:srgbClr val="2B2E2C"/>
                        </a:buClr>
                        <a:buSzPts val="1050"/>
                        <a:buFont typeface="Poppins"/>
                        <a:buNone/>
                      </a:pPr>
                      <a:r>
                        <a:rPr b="1" lang="en-US" sz="1050" u="none" cap="none" strike="noStrike">
                          <a:solidFill>
                            <a:srgbClr val="2B2E2C"/>
                          </a:solidFill>
                          <a:latin typeface="Poppins"/>
                          <a:ea typeface="Poppins"/>
                          <a:cs typeface="Poppins"/>
                          <a:sym typeface="Poppins"/>
                        </a:rPr>
                        <a:t>Cost per enquiry</a:t>
                      </a:r>
                      <a:endParaRPr sz="1050" u="none" cap="none" strike="noStrike">
                        <a:latin typeface="Poppins"/>
                        <a:ea typeface="Poppins"/>
                        <a:cs typeface="Poppins"/>
                        <a:sym typeface="Poppins"/>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£101</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16A879"/>
                        </a:buClr>
                        <a:buSzPts val="1050"/>
                        <a:buFont typeface="Calibri"/>
                        <a:buNone/>
                      </a:pPr>
                      <a:r>
                        <a:rPr b="1" lang="en-US" sz="1050" u="none" cap="none" strike="noStrike">
                          <a:solidFill>
                            <a:srgbClr val="16A879"/>
                          </a:solidFill>
                          <a:latin typeface="Calibri"/>
                          <a:ea typeface="Calibri"/>
                          <a:cs typeface="Calibri"/>
                          <a:sym typeface="Calibri"/>
                        </a:rPr>
                        <a:t>£61</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E2F5EF"/>
                    </a:solidFill>
                  </a:tcPr>
                </a:tc>
                <a:tc>
                  <a:txBody>
                    <a:bodyPr/>
                    <a:lstStyle/>
                    <a:p>
                      <a:pPr indent="0" lvl="0" marL="0" marR="0" rtl="0" algn="ctr">
                        <a:lnSpc>
                          <a:spcPct val="100000"/>
                        </a:lnSpc>
                        <a:spcBef>
                          <a:spcPts val="0"/>
                        </a:spcBef>
                        <a:spcAft>
                          <a:spcPts val="0"/>
                        </a:spcAft>
                        <a:buClr>
                          <a:srgbClr val="2B2E2C"/>
                        </a:buClr>
                        <a:buSzPts val="1050"/>
                        <a:buFont typeface="Calibri"/>
                        <a:buNone/>
                      </a:pPr>
                      <a:r>
                        <a:rPr lang="en-US" sz="1050" u="none" cap="none" strike="noStrike">
                          <a:solidFill>
                            <a:srgbClr val="2B2E2C"/>
                          </a:solidFill>
                          <a:latin typeface="Calibri"/>
                          <a:ea typeface="Calibri"/>
                          <a:cs typeface="Calibri"/>
                          <a:sym typeface="Calibri"/>
                        </a:rPr>
                        <a:t>£41</a:t>
                      </a:r>
                      <a:endParaRPr sz="1050" u="none" cap="none" strike="noStrike">
                        <a:latin typeface="Calibri"/>
                        <a:ea typeface="Calibri"/>
                        <a:cs typeface="Calibri"/>
                        <a:sym typeface="Calibri"/>
                      </a:endParaRPr>
                    </a:p>
                  </a:txBody>
                  <a:tcPr marT="45725" marB="45725" marR="91450" marL="91450" anchor="ctr">
                    <a:lnL cap="flat" cmpd="sng" w="12700">
                      <a:solidFill>
                        <a:srgbClr val="EBEEED"/>
                      </a:solidFill>
                      <a:prstDash val="solid"/>
                      <a:round/>
                      <a:headEnd len="sm" w="sm" type="none"/>
                      <a:tailEnd len="sm" w="sm" type="none"/>
                    </a:lnL>
                    <a:lnR cap="flat" cmpd="sng" w="12700">
                      <a:solidFill>
                        <a:srgbClr val="EBEEED"/>
                      </a:solidFill>
                      <a:prstDash val="solid"/>
                      <a:round/>
                      <a:headEnd len="sm" w="sm" type="none"/>
                      <a:tailEnd len="sm" w="sm" type="none"/>
                    </a:lnR>
                    <a:lnT cap="flat" cmpd="sng" w="12700">
                      <a:solidFill>
                        <a:srgbClr val="EBEEED"/>
                      </a:solidFill>
                      <a:prstDash val="solid"/>
                      <a:round/>
                      <a:headEnd len="sm" w="sm" type="none"/>
                      <a:tailEnd len="sm" w="sm" type="none"/>
                    </a:lnT>
                    <a:lnB cap="flat" cmpd="sng" w="12700">
                      <a:solidFill>
                        <a:srgbClr val="EBEEED"/>
                      </a:solidFill>
                      <a:prstDash val="solid"/>
                      <a:round/>
                      <a:headEnd len="sm" w="sm" type="none"/>
                      <a:tailEnd len="sm" w="sm" type="none"/>
                    </a:lnB>
                    <a:solidFill>
                      <a:srgbClr val="FFFFFF"/>
                    </a:solidFill>
                  </a:tcPr>
                </a:tc>
              </a:tr>
            </a:tbl>
          </a:graphicData>
        </a:graphic>
      </p:graphicFrame>
      <p:sp>
        <p:nvSpPr>
          <p:cNvPr id="1536" name="Google Shape;1536;p32"/>
          <p:cNvSpPr/>
          <p:nvPr/>
        </p:nvSpPr>
        <p:spPr>
          <a:xfrm>
            <a:off x="502920" y="5321808"/>
            <a:ext cx="544068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00"/>
              <a:buFont typeface="Poppins"/>
              <a:buNone/>
            </a:pPr>
            <a:r>
              <a:rPr b="1" i="0" lang="en-US" sz="1000" u="none" cap="none" strike="noStrike">
                <a:solidFill>
                  <a:srgbClr val="2B2E2C"/>
                </a:solidFill>
                <a:latin typeface="Poppins"/>
                <a:ea typeface="Poppins"/>
                <a:cs typeface="Poppins"/>
                <a:sym typeface="Poppins"/>
              </a:rPr>
              <a:t>Projected monthly enquiries</a:t>
            </a:r>
            <a:endParaRPr b="0" i="0" sz="1000" u="none" cap="none" strike="noStrike">
              <a:solidFill>
                <a:schemeClr val="dk1"/>
              </a:solidFill>
              <a:latin typeface="Calibri"/>
              <a:ea typeface="Calibri"/>
              <a:cs typeface="Calibri"/>
              <a:sym typeface="Calibri"/>
            </a:endParaRPr>
          </a:p>
        </p:txBody>
      </p:sp>
      <p:sp>
        <p:nvSpPr>
          <p:cNvPr id="1537" name="Google Shape;1537;p32"/>
          <p:cNvSpPr/>
          <p:nvPr/>
        </p:nvSpPr>
        <p:spPr>
          <a:xfrm>
            <a:off x="6245352" y="5321808"/>
            <a:ext cx="544068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B2E2C"/>
              </a:buClr>
              <a:buSzPts val="1000"/>
              <a:buFont typeface="Poppins"/>
              <a:buNone/>
            </a:pPr>
            <a:r>
              <a:rPr b="1" i="0" lang="en-US" sz="1000" u="none" cap="none" strike="noStrike">
                <a:solidFill>
                  <a:srgbClr val="2B2E2C"/>
                </a:solidFill>
                <a:latin typeface="Poppins"/>
                <a:ea typeface="Poppins"/>
                <a:cs typeface="Poppins"/>
                <a:sym typeface="Poppins"/>
              </a:rPr>
              <a:t>Projected monthly enquiries</a:t>
            </a:r>
            <a:endParaRPr b="0" i="0" sz="1000" u="none" cap="none" strike="noStrike">
              <a:solidFill>
                <a:schemeClr val="dk1"/>
              </a:solidFill>
              <a:latin typeface="Calibri"/>
              <a:ea typeface="Calibri"/>
              <a:cs typeface="Calibri"/>
              <a:sym typeface="Calibri"/>
            </a:endParaRPr>
          </a:p>
        </p:txBody>
      </p:sp>
      <p:graphicFrame>
        <p:nvGraphicFramePr>
          <p:cNvPr id="1538" name="Google Shape;1538;p32"/>
          <p:cNvGraphicFramePr/>
          <p:nvPr/>
        </p:nvGraphicFramePr>
        <p:xfrm>
          <a:off x="457200" y="5522976"/>
          <a:ext cx="5486400" cy="786384"/>
        </p:xfrm>
        <a:graphic>
          <a:graphicData uri="http://schemas.openxmlformats.org/drawingml/2006/chart">
            <c:chart r:id="rId4"/>
          </a:graphicData>
        </a:graphic>
      </p:graphicFrame>
      <p:graphicFrame>
        <p:nvGraphicFramePr>
          <p:cNvPr id="1539" name="Google Shape;1539;p32"/>
          <p:cNvGraphicFramePr/>
          <p:nvPr/>
        </p:nvGraphicFramePr>
        <p:xfrm>
          <a:off x="6199632" y="5522976"/>
          <a:ext cx="5486400" cy="786384"/>
        </p:xfrm>
        <a:graphic>
          <a:graphicData uri="http://schemas.openxmlformats.org/drawingml/2006/chart">
            <c:chart r:id="rId5"/>
          </a:graphicData>
        </a:graphic>
      </p:graphicFrame>
      <p:sp>
        <p:nvSpPr>
          <p:cNvPr id="1540" name="Google Shape;1540;p32"/>
          <p:cNvSpPr/>
          <p:nvPr/>
        </p:nvSpPr>
        <p:spPr>
          <a:xfrm>
            <a:off x="502920" y="6355080"/>
            <a:ext cx="11183112" cy="384048"/>
          </a:xfrm>
          <a:prstGeom prst="roundRect">
            <a:avLst>
              <a:gd fmla="val 19048" name="adj"/>
            </a:avLst>
          </a:prstGeom>
          <a:solidFill>
            <a:srgbClr val="1A2620"/>
          </a:solidFill>
          <a:ln cap="flat" cmpd="sng" w="12700">
            <a:solidFill>
              <a:srgbClr val="EBEEE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p32"/>
          <p:cNvSpPr/>
          <p:nvPr/>
        </p:nvSpPr>
        <p:spPr>
          <a:xfrm>
            <a:off x="731520" y="6355080"/>
            <a:ext cx="10424160" cy="38404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BE29F"/>
              </a:buClr>
              <a:buSzPts val="939"/>
              <a:buFont typeface="Calibri"/>
              <a:buNone/>
            </a:pPr>
            <a:r>
              <a:rPr b="1" i="0" lang="en-US" sz="940" u="none" cap="none" strike="noStrike">
                <a:solidFill>
                  <a:srgbClr val="3BE29F"/>
                </a:solidFill>
                <a:latin typeface="Calibri"/>
                <a:ea typeface="Calibri"/>
                <a:cs typeface="Calibri"/>
                <a:sym typeface="Calibri"/>
              </a:rPr>
              <a:t>Why the maths works:  a four-session EMSCULPT NEO course is £1,400–£4,000. Converting even a handful of the ~28 combined monthly enquiries returns several times the £1,824 monthly spend. Focus is enquiry quality, not clicks.</a:t>
            </a:r>
            <a:endParaRPr b="0" i="0" sz="940" u="none" cap="none" strike="noStrike">
              <a:solidFill>
                <a:schemeClr val="dk1"/>
              </a:solidFill>
              <a:latin typeface="Calibri"/>
              <a:ea typeface="Calibri"/>
              <a:cs typeface="Calibri"/>
              <a:sym typeface="Calibri"/>
            </a:endParaRPr>
          </a:p>
        </p:txBody>
      </p:sp>
      <p:sp>
        <p:nvSpPr>
          <p:cNvPr id="1542" name="Google Shape;1542;p32"/>
          <p:cNvSpPr/>
          <p:nvPr/>
        </p:nvSpPr>
        <p:spPr>
          <a:xfrm>
            <a:off x="11155680" y="6400800"/>
            <a:ext cx="548640" cy="320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3BE29F"/>
              </a:buClr>
              <a:buSzPts val="1100"/>
              <a:buFont typeface="Poppins"/>
              <a:buNone/>
            </a:pPr>
            <a:r>
              <a:rPr b="1" i="0" lang="en-US" sz="1100" u="none" cap="none" strike="noStrike">
                <a:solidFill>
                  <a:srgbClr val="3BE29F"/>
                </a:solidFill>
                <a:latin typeface="Poppins"/>
                <a:ea typeface="Poppins"/>
                <a:cs typeface="Poppins"/>
                <a:sym typeface="Poppins"/>
              </a:rPr>
              <a:t>32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2620"/>
        </a:solidFill>
      </p:bgPr>
    </p:bg>
    <p:spTree>
      <p:nvGrpSpPr>
        <p:cNvPr id="1547" name="Shape 1547"/>
        <p:cNvGrpSpPr/>
        <p:nvPr/>
      </p:nvGrpSpPr>
      <p:grpSpPr>
        <a:xfrm>
          <a:off x="0" y="0"/>
          <a:ext cx="0" cy="0"/>
          <a:chOff x="0" y="0"/>
          <a:chExt cx="0" cy="0"/>
        </a:xfrm>
      </p:grpSpPr>
      <p:sp>
        <p:nvSpPr>
          <p:cNvPr id="1548" name="Google Shape;1548;p33"/>
          <p:cNvSpPr/>
          <p:nvPr/>
        </p:nvSpPr>
        <p:spPr>
          <a:xfrm>
            <a:off x="-2011680" y="2743200"/>
            <a:ext cx="6858000" cy="6858000"/>
          </a:xfrm>
          <a:prstGeom prst="ellipse">
            <a:avLst/>
          </a:prstGeom>
          <a:solidFill>
            <a:srgbClr val="16A879">
              <a:alpha val="1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33"/>
          <p:cNvSpPr/>
          <p:nvPr/>
        </p:nvSpPr>
        <p:spPr>
          <a:xfrm>
            <a:off x="9601200" y="-1828800"/>
            <a:ext cx="5029200" cy="5029200"/>
          </a:xfrm>
          <a:prstGeom prst="ellipse">
            <a:avLst/>
          </a:prstGeom>
          <a:solidFill>
            <a:srgbClr val="16A879">
              <a:alpha val="1411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ogo_white.png" id="1550" name="Google Shape;1550;p33"/>
          <p:cNvPicPr preferRelativeResize="0"/>
          <p:nvPr/>
        </p:nvPicPr>
        <p:blipFill rotWithShape="1">
          <a:blip r:embed="rId3">
            <a:alphaModFix/>
          </a:blip>
          <a:srcRect b="0" l="0" r="0" t="0"/>
          <a:stretch/>
        </p:blipFill>
        <p:spPr>
          <a:xfrm>
            <a:off x="566928" y="566928"/>
            <a:ext cx="1755648" cy="502920"/>
          </a:xfrm>
          <a:prstGeom prst="rect">
            <a:avLst/>
          </a:prstGeom>
          <a:noFill/>
          <a:ln>
            <a:noFill/>
          </a:ln>
        </p:spPr>
      </p:pic>
      <p:sp>
        <p:nvSpPr>
          <p:cNvPr id="1551" name="Google Shape;1551;p33"/>
          <p:cNvSpPr/>
          <p:nvPr/>
        </p:nvSpPr>
        <p:spPr>
          <a:xfrm>
            <a:off x="566928" y="2148840"/>
            <a:ext cx="822960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BE29F"/>
              </a:buClr>
              <a:buSzPts val="1500"/>
              <a:buFont typeface="Poppins"/>
              <a:buNone/>
            </a:pPr>
            <a:r>
              <a:rPr b="1" i="0" lang="en-US" sz="1500" u="none" cap="none" strike="noStrike">
                <a:solidFill>
                  <a:srgbClr val="3BE29F"/>
                </a:solidFill>
                <a:latin typeface="Poppins"/>
                <a:ea typeface="Poppins"/>
                <a:cs typeface="Poppins"/>
                <a:sym typeface="Poppins"/>
              </a:rPr>
              <a:t>READY TO LAUNCH</a:t>
            </a:r>
            <a:endParaRPr b="0" i="0" sz="1500" u="none" cap="none" strike="noStrike">
              <a:solidFill>
                <a:schemeClr val="dk1"/>
              </a:solidFill>
              <a:latin typeface="Calibri"/>
              <a:ea typeface="Calibri"/>
              <a:cs typeface="Calibri"/>
              <a:sym typeface="Calibri"/>
            </a:endParaRPr>
          </a:p>
        </p:txBody>
      </p:sp>
      <p:sp>
        <p:nvSpPr>
          <p:cNvPr id="1552" name="Google Shape;1552;p33"/>
          <p:cNvSpPr/>
          <p:nvPr/>
        </p:nvSpPr>
        <p:spPr>
          <a:xfrm>
            <a:off x="548640" y="2560320"/>
            <a:ext cx="100584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600"/>
              <a:buFont typeface="Poppins"/>
              <a:buNone/>
            </a:pPr>
            <a:r>
              <a:rPr b="1" i="0" lang="en-US" sz="4600" u="none" cap="none" strike="noStrike">
                <a:solidFill>
                  <a:srgbClr val="FFFFFF"/>
                </a:solidFill>
                <a:latin typeface="Poppins"/>
                <a:ea typeface="Poppins"/>
                <a:cs typeface="Poppins"/>
                <a:sym typeface="Poppins"/>
              </a:rPr>
              <a:t>Let's fill the consultation diary.</a:t>
            </a:r>
            <a:endParaRPr b="0" i="0" sz="4600" u="none" cap="none" strike="noStrike">
              <a:solidFill>
                <a:schemeClr val="dk1"/>
              </a:solidFill>
              <a:latin typeface="Calibri"/>
              <a:ea typeface="Calibri"/>
              <a:cs typeface="Calibri"/>
              <a:sym typeface="Calibri"/>
            </a:endParaRPr>
          </a:p>
        </p:txBody>
      </p:sp>
      <p:sp>
        <p:nvSpPr>
          <p:cNvPr id="1553" name="Google Shape;1553;p33"/>
          <p:cNvSpPr/>
          <p:nvPr/>
        </p:nvSpPr>
        <p:spPr>
          <a:xfrm>
            <a:off x="566928" y="3611880"/>
            <a:ext cx="8595360" cy="822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9D2CE"/>
              </a:buClr>
              <a:buSzPts val="1500"/>
              <a:buFont typeface="Calibri"/>
              <a:buNone/>
            </a:pPr>
            <a:r>
              <a:rPr b="0" i="0" lang="en-US" sz="1500" u="none" cap="none" strike="noStrike">
                <a:solidFill>
                  <a:srgbClr val="C9D2CE"/>
                </a:solidFill>
                <a:latin typeface="Calibri"/>
                <a:ea typeface="Calibri"/>
                <a:cs typeface="Calibri"/>
                <a:sym typeface="Calibri"/>
              </a:rPr>
              <a:t>On approval we build both campaigns to the checklist above, install conversion and call tracking, and report on enquiries, cost per enquiry and consultations booked — per device.</a:t>
            </a:r>
            <a:endParaRPr b="0" i="0" sz="1500" u="none" cap="none" strike="noStrike">
              <a:solidFill>
                <a:schemeClr val="dk1"/>
              </a:solidFill>
              <a:latin typeface="Calibri"/>
              <a:ea typeface="Calibri"/>
              <a:cs typeface="Calibri"/>
              <a:sym typeface="Calibri"/>
            </a:endParaRPr>
          </a:p>
        </p:txBody>
      </p:sp>
      <p:sp>
        <p:nvSpPr>
          <p:cNvPr id="1554" name="Google Shape;1554;p33"/>
          <p:cNvSpPr/>
          <p:nvPr/>
        </p:nvSpPr>
        <p:spPr>
          <a:xfrm>
            <a:off x="566928" y="4572000"/>
            <a:ext cx="457200" cy="45720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globe_dark.png" id="1555" name="Google Shape;1555;p33"/>
          <p:cNvPicPr preferRelativeResize="0"/>
          <p:nvPr/>
        </p:nvPicPr>
        <p:blipFill rotWithShape="1">
          <a:blip r:embed="rId4">
            <a:alphaModFix/>
          </a:blip>
          <a:srcRect b="0" l="0" r="0" t="0"/>
          <a:stretch/>
        </p:blipFill>
        <p:spPr>
          <a:xfrm>
            <a:off x="676656" y="4681728"/>
            <a:ext cx="237744" cy="237744"/>
          </a:xfrm>
          <a:prstGeom prst="rect">
            <a:avLst/>
          </a:prstGeom>
          <a:noFill/>
          <a:ln>
            <a:noFill/>
          </a:ln>
        </p:spPr>
      </p:pic>
      <p:sp>
        <p:nvSpPr>
          <p:cNvPr id="1556" name="Google Shape;1556;p33"/>
          <p:cNvSpPr/>
          <p:nvPr/>
        </p:nvSpPr>
        <p:spPr>
          <a:xfrm>
            <a:off x="1188720" y="4572000"/>
            <a:ext cx="73152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Poppins"/>
              <a:buNone/>
            </a:pPr>
            <a:r>
              <a:rPr b="1" i="0" lang="en-US" sz="1600" u="none" cap="none" strike="noStrike">
                <a:solidFill>
                  <a:srgbClr val="FFFFFF"/>
                </a:solidFill>
                <a:latin typeface="Poppins"/>
                <a:ea typeface="Poppins"/>
                <a:cs typeface="Poppins"/>
                <a:sym typeface="Poppins"/>
              </a:rPr>
              <a:t>onlinemarketingfordoctors.com</a:t>
            </a:r>
            <a:endParaRPr b="0" i="0" sz="1600" u="none" cap="none" strike="noStrike">
              <a:solidFill>
                <a:schemeClr val="dk1"/>
              </a:solidFill>
              <a:latin typeface="Calibri"/>
              <a:ea typeface="Calibri"/>
              <a:cs typeface="Calibri"/>
              <a:sym typeface="Calibri"/>
            </a:endParaRPr>
          </a:p>
        </p:txBody>
      </p:sp>
      <p:sp>
        <p:nvSpPr>
          <p:cNvPr id="1557" name="Google Shape;1557;p33"/>
          <p:cNvSpPr/>
          <p:nvPr/>
        </p:nvSpPr>
        <p:spPr>
          <a:xfrm>
            <a:off x="566928" y="5175504"/>
            <a:ext cx="457200" cy="45720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phone_dark.png" id="1558" name="Google Shape;1558;p33"/>
          <p:cNvPicPr preferRelativeResize="0"/>
          <p:nvPr/>
        </p:nvPicPr>
        <p:blipFill rotWithShape="1">
          <a:blip r:embed="rId5">
            <a:alphaModFix/>
          </a:blip>
          <a:srcRect b="0" l="0" r="0" t="0"/>
          <a:stretch/>
        </p:blipFill>
        <p:spPr>
          <a:xfrm>
            <a:off x="676656" y="5285232"/>
            <a:ext cx="237744" cy="237744"/>
          </a:xfrm>
          <a:prstGeom prst="rect">
            <a:avLst/>
          </a:prstGeom>
          <a:noFill/>
          <a:ln>
            <a:noFill/>
          </a:ln>
        </p:spPr>
      </p:pic>
      <p:sp>
        <p:nvSpPr>
          <p:cNvPr id="1559" name="Google Shape;1559;p33"/>
          <p:cNvSpPr/>
          <p:nvPr/>
        </p:nvSpPr>
        <p:spPr>
          <a:xfrm>
            <a:off x="1188720" y="5175504"/>
            <a:ext cx="73152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Poppins"/>
              <a:buNone/>
            </a:pPr>
            <a:r>
              <a:rPr b="1" i="0" lang="en-US" sz="1600" u="none" cap="none" strike="noStrike">
                <a:solidFill>
                  <a:srgbClr val="FFFFFF"/>
                </a:solidFill>
                <a:latin typeface="Poppins"/>
                <a:ea typeface="Poppins"/>
                <a:cs typeface="Poppins"/>
                <a:sym typeface="Poppins"/>
              </a:rPr>
              <a:t>+44 20 4572 2823</a:t>
            </a:r>
            <a:endParaRPr b="0" i="0" sz="1600" u="none" cap="none" strike="noStrike">
              <a:solidFill>
                <a:schemeClr val="dk1"/>
              </a:solidFill>
              <a:latin typeface="Calibri"/>
              <a:ea typeface="Calibri"/>
              <a:cs typeface="Calibri"/>
              <a:sym typeface="Calibri"/>
            </a:endParaRPr>
          </a:p>
        </p:txBody>
      </p:sp>
      <p:sp>
        <p:nvSpPr>
          <p:cNvPr id="1560" name="Google Shape;1560;p33"/>
          <p:cNvSpPr/>
          <p:nvPr/>
        </p:nvSpPr>
        <p:spPr>
          <a:xfrm>
            <a:off x="566928" y="5779008"/>
            <a:ext cx="457200" cy="457200"/>
          </a:xfrm>
          <a:prstGeom prst="ellipse">
            <a:avLst/>
          </a:prstGeom>
          <a:solidFill>
            <a:srgbClr val="16A87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cons/mappin_dark.png" id="1561" name="Google Shape;1561;p33"/>
          <p:cNvPicPr preferRelativeResize="0"/>
          <p:nvPr/>
        </p:nvPicPr>
        <p:blipFill rotWithShape="1">
          <a:blip r:embed="rId6">
            <a:alphaModFix/>
          </a:blip>
          <a:srcRect b="0" l="0" r="0" t="0"/>
          <a:stretch/>
        </p:blipFill>
        <p:spPr>
          <a:xfrm>
            <a:off x="676656" y="5888736"/>
            <a:ext cx="237744" cy="237744"/>
          </a:xfrm>
          <a:prstGeom prst="rect">
            <a:avLst/>
          </a:prstGeom>
          <a:noFill/>
          <a:ln>
            <a:noFill/>
          </a:ln>
        </p:spPr>
      </p:pic>
      <p:sp>
        <p:nvSpPr>
          <p:cNvPr id="1562" name="Google Shape;1562;p33"/>
          <p:cNvSpPr/>
          <p:nvPr/>
        </p:nvSpPr>
        <p:spPr>
          <a:xfrm>
            <a:off x="1188720" y="5779008"/>
            <a:ext cx="73152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600"/>
              <a:buFont typeface="Poppins"/>
              <a:buNone/>
            </a:pPr>
            <a:r>
              <a:rPr b="1" i="0" lang="en-US" sz="1600" u="none" cap="none" strike="noStrike">
                <a:solidFill>
                  <a:srgbClr val="FFFFFF"/>
                </a:solidFill>
                <a:latin typeface="Poppins"/>
                <a:ea typeface="Poppins"/>
                <a:cs typeface="Poppins"/>
                <a:sym typeface="Poppins"/>
              </a:rPr>
              <a:t>19 Portland Pl, London W1B 1PX</a:t>
            </a:r>
            <a:endParaRPr b="0" i="0" sz="1600" u="none" cap="none" strike="noStrike">
              <a:solidFill>
                <a:schemeClr val="dk1"/>
              </a:solidFill>
              <a:latin typeface="Calibri"/>
              <a:ea typeface="Calibri"/>
              <a:cs typeface="Calibri"/>
              <a:sym typeface="Calibri"/>
            </a:endParaRPr>
          </a:p>
        </p:txBody>
      </p:sp>
      <p:sp>
        <p:nvSpPr>
          <p:cNvPr id="1563" name="Google Shape;1563;p33"/>
          <p:cNvSpPr/>
          <p:nvPr/>
        </p:nvSpPr>
        <p:spPr>
          <a:xfrm>
            <a:off x="566928" y="6437376"/>
            <a:ext cx="10972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E7873"/>
              </a:buClr>
              <a:buSzPts val="1000"/>
              <a:buFont typeface="Calibri"/>
              <a:buNone/>
            </a:pPr>
            <a:r>
              <a:rPr b="0" i="0" lang="en-US" sz="1000" u="none" cap="none" strike="noStrike">
                <a:solidFill>
                  <a:srgbClr val="6E7873"/>
                </a:solidFill>
                <a:latin typeface="Calibri"/>
                <a:ea typeface="Calibri"/>
                <a:cs typeface="Calibri"/>
                <a:sym typeface="Calibri"/>
              </a:rPr>
              <a:t>Online Marketing for Doctors  ·  Prepared for Dr Ariel Haus · London Real Skin  ·  October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2026-07-03T06:54:08Z</dcterms:created>
  <dc:creator>Online Marketing for Doctors</dc:creator>
</cp:coreProperties>
</file>